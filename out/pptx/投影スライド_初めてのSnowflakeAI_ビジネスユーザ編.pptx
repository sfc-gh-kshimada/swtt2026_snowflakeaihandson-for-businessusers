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34"/>
    <p:sldId id="257" r:id="rId35"/>
    <p:sldId id="258" r:id="rId36"/>
    <p:sldId id="259" r:id="rId37"/>
    <p:sldId id="260" r:id="rId38"/>
    <p:sldId id="261" r:id="rId39"/>
    <p:sldId id="262" r:id="rId40"/>
    <p:sldId id="263" r:id="rId41"/>
    <p:sldId id="264" r:id="rId42"/>
    <p:sldId id="265" r:id="rId43"/>
    <p:sldId id="266" r:id="rId44"/>
    <p:sldId id="267" r:id="rId45"/>
    <p:sldId id="268" r:id="rId46"/>
    <p:sldId id="269" r:id="rId47"/>
    <p:sldId id="270" r:id="rId48"/>
    <p:sldId id="271" r:id="rId49"/>
    <p:sldId id="272" r:id="rId50"/>
    <p:sldId id="273" r:id="rId51"/>
    <p:sldId id="274" r:id="rId52"/>
    <p:sldId id="275" r:id="rId53"/>
    <p:sldId id="276" r:id="rId54"/>
    <p:sldId id="277" r:id="rId55"/>
    <p:sldId id="278" r:id="rId56"/>
    <p:sldId id="279" r:id="rId57"/>
    <p:sldId id="280" r:id="rId58"/>
  </p:sldIdLst>
  <p:sldSz cy="5143500" cx="9144000"/>
  <p:notesSz cx="6858000" cy="9144000"/>
  <p:embeddedFontLst>
    <p:embeddedFont>
      <p:font typeface="Roboto"/>
      <p:regular r:id="rId79"/>
      <p:bold r:id="rId80"/>
      <p:italic r:id="rId81"/>
      <p:boldItalic r:id="rId82"/>
    </p:embeddedFont>
    <p:embeddedFont>
      <p:font typeface="Lobster"/>
      <p:regular r:id="rId83"/>
    </p:embeddedFont>
    <p:embeddedFont>
      <p:font typeface="Amatic SC"/>
      <p:regular r:id="rId84"/>
      <p:bold r:id="rId85"/>
    </p:embeddedFont>
    <p:embeddedFont>
      <p:font typeface="Lato"/>
      <p:regular r:id="rId86"/>
      <p:bold r:id="rId87"/>
      <p:italic r:id="rId88"/>
      <p:boldItalic r:id="rId89"/>
    </p:embeddedFont>
    <p:embeddedFont>
      <p:font typeface="Montserrat"/>
      <p:regular r:id="rId90"/>
      <p:bold r:id="rId91"/>
      <p:italic r:id="rId92"/>
      <p:boldItalic r:id="rId93"/>
    </p:embeddedFont>
    <p:embeddedFont>
      <p:font typeface="EB Garamond SemiBold"/>
      <p:regular r:id="rId94"/>
      <p:bold r:id="rId95"/>
      <p:italic r:id="rId96"/>
      <p:boldItalic r:id="rId97"/>
    </p:embeddedFont>
    <p:embeddedFont>
      <p:font typeface="Gothic A1"/>
      <p:regular r:id="rId98"/>
      <p:bold r:id="rId99"/>
    </p:embeddedFont>
    <p:embeddedFont>
      <p:font typeface="Roboto Light"/>
      <p:regular r:id="rId100"/>
      <p:bold r:id="rId101"/>
      <p:italic r:id="rId102"/>
      <p:boldItalic r:id="rId103"/>
    </p:embeddedFont>
    <p:embeddedFont>
      <p:font typeface="Arial Black"/>
      <p:regular r:id="rId104"/>
    </p:embeddedFont>
    <p:embeddedFont>
      <p:font typeface="Montserrat ExtraBold"/>
      <p:bold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5B1F1F-04CD-4792-9149-FA450B54D7FE}">
  <a:tblStyle styleId="{7B5B1F1F-04CD-4792-9149-FA450B54D7FE}" styleName="Table_0">
    <a:wholeTbl>
      <a:tcTxStyle b="off" i="off">
        <a:font>
          <a:latin typeface="Arial"/>
          <a:ea typeface="Arial"/>
          <a:cs typeface="Arial"/>
        </a:font>
        <a:srgbClr val="262626"/>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F2FB"/>
          </a:solidFill>
        </a:fill>
      </a:tcStyle>
    </a:wholeTbl>
    <a:band1H>
      <a:tcTxStyle/>
      <a:tcStyle>
        <a:fill>
          <a:solidFill>
            <a:srgbClr val="CBE5F6"/>
          </a:solidFill>
        </a:fill>
      </a:tcStyle>
    </a:band1H>
    <a:band2H>
      <a:tcTxStyle/>
    </a:band2H>
    <a:band1V>
      <a:tcTxStyle/>
      <a:tcStyle>
        <a:fill>
          <a:solidFill>
            <a:srgbClr val="CBE5F6"/>
          </a:solidFill>
        </a:fill>
      </a:tcStyle>
    </a:band1V>
    <a:band2V>
      <a:tcTxStyle/>
    </a:band2V>
    <a:lastCol>
      <a:tcTxStyle b="on" i="off">
        <a:font>
          <a:latin typeface="Arial"/>
          <a:ea typeface="Arial"/>
          <a:cs typeface="Arial"/>
        </a:font>
        <a:srgbClr val="FFFFFF"/>
      </a:tcTxStyle>
      <a:tcStyle>
        <a:fill>
          <a:solidFill>
            <a:srgbClr val="29B5E8"/>
          </a:solidFill>
        </a:fill>
      </a:tcStyle>
    </a:lastCol>
    <a:firstCol>
      <a:tcTxStyle b="on" i="off">
        <a:font>
          <a:latin typeface="Arial"/>
          <a:ea typeface="Arial"/>
          <a:cs typeface="Arial"/>
        </a:font>
        <a:srgbClr val="FFFFFF"/>
      </a:tcTxStyle>
      <a:tcStyle>
        <a:fill>
          <a:solidFill>
            <a:srgbClr val="29B5E8"/>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29B5E8"/>
          </a:solidFill>
        </a:fill>
      </a:tcStyle>
    </a:lastRow>
    <a:seCell>
      <a:tcTxStyle/>
    </a:seCell>
    <a:swCell>
      <a:tcTxStyle/>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29B5E8"/>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34" Type="http://schemas.openxmlformats.org/officeDocument/2006/relationships/slide" Target="slides/slide1.xml"/><Relationship Id="rId35" Type="http://schemas.openxmlformats.org/officeDocument/2006/relationships/slide" Target="slides/slide2.xml"/><Relationship Id="rId36" Type="http://schemas.openxmlformats.org/officeDocument/2006/relationships/slide" Target="slides/slide3.xml"/><Relationship Id="rId37" Type="http://schemas.openxmlformats.org/officeDocument/2006/relationships/slide" Target="slides/slide4.xml"/><Relationship Id="rId38" Type="http://schemas.openxmlformats.org/officeDocument/2006/relationships/slide" Target="slides/slide5.xml"/><Relationship Id="rId39" Type="http://schemas.openxmlformats.org/officeDocument/2006/relationships/slide" Target="slides/slide6.xml"/><Relationship Id="rId40" Type="http://schemas.openxmlformats.org/officeDocument/2006/relationships/slide" Target="slides/slide7.xml"/><Relationship Id="rId41" Type="http://schemas.openxmlformats.org/officeDocument/2006/relationships/slide" Target="slides/slide8.xml"/><Relationship Id="rId42" Type="http://schemas.openxmlformats.org/officeDocument/2006/relationships/slide" Target="slides/slide9.xml"/><Relationship Id="rId43" Type="http://schemas.openxmlformats.org/officeDocument/2006/relationships/slide" Target="slides/slide10.xml"/><Relationship Id="rId44" Type="http://schemas.openxmlformats.org/officeDocument/2006/relationships/slide" Target="slides/slide11.xml"/><Relationship Id="rId45" Type="http://schemas.openxmlformats.org/officeDocument/2006/relationships/slide" Target="slides/slide12.xml"/><Relationship Id="rId46" Type="http://schemas.openxmlformats.org/officeDocument/2006/relationships/slide" Target="slides/slide13.xml"/><Relationship Id="rId47" Type="http://schemas.openxmlformats.org/officeDocument/2006/relationships/slide" Target="slides/slide14.xml"/><Relationship Id="rId48" Type="http://schemas.openxmlformats.org/officeDocument/2006/relationships/slide" Target="slides/slide15.xml"/><Relationship Id="rId49" Type="http://schemas.openxmlformats.org/officeDocument/2006/relationships/slide" Target="slides/slide16.xml"/><Relationship Id="rId50" Type="http://schemas.openxmlformats.org/officeDocument/2006/relationships/slide" Target="slides/slide17.xml"/><Relationship Id="rId51" Type="http://schemas.openxmlformats.org/officeDocument/2006/relationships/slide" Target="slides/slide18.xml"/><Relationship Id="rId52" Type="http://schemas.openxmlformats.org/officeDocument/2006/relationships/slide" Target="slides/slide19.xml"/><Relationship Id="rId53" Type="http://schemas.openxmlformats.org/officeDocument/2006/relationships/slide" Target="slides/slide20.xml"/><Relationship Id="rId54" Type="http://schemas.openxmlformats.org/officeDocument/2006/relationships/slide" Target="slides/slide21.xml"/><Relationship Id="rId55" Type="http://schemas.openxmlformats.org/officeDocument/2006/relationships/slide" Target="slides/slide22.xml"/><Relationship Id="rId56" Type="http://schemas.openxmlformats.org/officeDocument/2006/relationships/slide" Target="slides/slide23.xml"/><Relationship Id="rId57" Type="http://schemas.openxmlformats.org/officeDocument/2006/relationships/slide" Target="slides/slide24.xml"/><Relationship Id="rId58" Type="http://schemas.openxmlformats.org/officeDocument/2006/relationships/slide" Target="slides/slide25.xml"/><Relationship Id="rId79" Type="http://schemas.openxmlformats.org/officeDocument/2006/relationships/font" Target="fonts/Roboto-regular.fntdata"/><Relationship Id="rId80" Type="http://schemas.openxmlformats.org/officeDocument/2006/relationships/font" Target="fonts/Roboto-bold.fntdata"/><Relationship Id="rId81" Type="http://schemas.openxmlformats.org/officeDocument/2006/relationships/font" Target="fonts/Roboto-italic.fntdata"/><Relationship Id="rId82" Type="http://schemas.openxmlformats.org/officeDocument/2006/relationships/font" Target="fonts/Roboto-boldItalic.fntdata"/><Relationship Id="rId83" Type="http://schemas.openxmlformats.org/officeDocument/2006/relationships/font" Target="fonts/Lobster-regular.fntdata"/><Relationship Id="rId84" Type="http://schemas.openxmlformats.org/officeDocument/2006/relationships/font" Target="fonts/AmaticSC-regular.fntdata"/><Relationship Id="rId85" Type="http://schemas.openxmlformats.org/officeDocument/2006/relationships/font" Target="fonts/AmaticSC-bold.fntdata"/><Relationship Id="rId86" Type="http://schemas.openxmlformats.org/officeDocument/2006/relationships/font" Target="fonts/Lato-regular.fntdata"/><Relationship Id="rId87" Type="http://schemas.openxmlformats.org/officeDocument/2006/relationships/font" Target="fonts/Lato-bold.fntdata"/><Relationship Id="rId88" Type="http://schemas.openxmlformats.org/officeDocument/2006/relationships/font" Target="fonts/Lato-italic.fntdata"/><Relationship Id="rId89" Type="http://schemas.openxmlformats.org/officeDocument/2006/relationships/font" Target="fonts/Lato-boldItalic.fntdata"/><Relationship Id="rId90" Type="http://schemas.openxmlformats.org/officeDocument/2006/relationships/font" Target="fonts/Montserrat-regular.fntdata"/><Relationship Id="rId91" Type="http://schemas.openxmlformats.org/officeDocument/2006/relationships/font" Target="fonts/Montserrat-bold.fntdata"/><Relationship Id="rId92" Type="http://schemas.openxmlformats.org/officeDocument/2006/relationships/font" Target="fonts/Montserrat-italic.fntdata"/><Relationship Id="rId93" Type="http://schemas.openxmlformats.org/officeDocument/2006/relationships/font" Target="fonts/Montserrat-boldItalic.fntdata"/><Relationship Id="rId94" Type="http://schemas.openxmlformats.org/officeDocument/2006/relationships/font" Target="fonts/EBGaramondSemiBold-regular.fntdata"/><Relationship Id="rId95" Type="http://schemas.openxmlformats.org/officeDocument/2006/relationships/font" Target="fonts/EBGaramondSemiBold-bold.fntdata"/><Relationship Id="rId96" Type="http://schemas.openxmlformats.org/officeDocument/2006/relationships/font" Target="fonts/EBGaramondSemiBold-italic.fntdata"/><Relationship Id="rId97" Type="http://schemas.openxmlformats.org/officeDocument/2006/relationships/font" Target="fonts/EBGaramondSemiBold-boldItalic.fntdata"/><Relationship Id="rId98" Type="http://schemas.openxmlformats.org/officeDocument/2006/relationships/font" Target="fonts/GothicA1-regular.fntdata"/><Relationship Id="rId99" Type="http://schemas.openxmlformats.org/officeDocument/2006/relationships/font" Target="fonts/GothicA1-bold.fntdata"/><Relationship Id="rId100" Type="http://schemas.openxmlformats.org/officeDocument/2006/relationships/font" Target="fonts/RobotoLight-regular.fntdata"/><Relationship Id="rId101" Type="http://schemas.openxmlformats.org/officeDocument/2006/relationships/font" Target="fonts/RobotoLight-bold.fntdata"/><Relationship Id="rId102" Type="http://schemas.openxmlformats.org/officeDocument/2006/relationships/font" Target="fonts/RobotoLight-italic.fntdata"/><Relationship Id="rId103" Type="http://schemas.openxmlformats.org/officeDocument/2006/relationships/font" Target="fonts/RobotoLight-boldItalic.fntdata"/><Relationship Id="rId104" Type="http://schemas.openxmlformats.org/officeDocument/2006/relationships/font" Target="fonts/ArialBlack-regular.fntdata"/><Relationship Id="rId105" Type="http://schemas.openxmlformats.org/officeDocument/2006/relationships/font" Target="fonts/MontserratExtraBold-bold.fntdata"/><Relationship Id="rId106" Type="http://schemas.openxmlformats.org/officeDocument/2006/relationships/font" Target="fonts/MontserratExtra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SQLは書きません。日本語で質問するだけです、と最初に明言する。40席・BYOPC・Introductory。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読み上げず、10秒で次へ進む。</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3つ目が主役。1と2は前置きだと明示して、参加者の集中を後半に残す。</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SQLは書きません。日本語で質問するだけです、をここでもう一度言う。</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会場に問いかける。「社内でAIを使ってみたが、業務で使える答えが返ってこなかった経験はありませんか」。挙手を待つ。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1と2は「意味づけ」、3は「統合」の話。次のスライドの3要素につなげる。</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この3つを事前に用意してあるので、参加者はすぐ質問から始められる、と伝える。</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本日 Search は3種類ある。Agentがどれを選んだかを毎回見てほしい、と伝える。モニタリングタブの存在にも触れる。</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終着点を先に見せる。ここで「これを作るのか」と分かってから実習に入る。可能なら完成版PPTXを画面で開いて見せる。</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「報告を受け取る立場」であることを強調する。自分で異常を探すのではなく、報告を検証する。</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④⑤が社内に無い、が今日の見どころ。オレンジの矢印が1本だけ外から入っていることを指して説明する。S3は事前準備であって参加者の作業ではない点を明言する。</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ここで全員の画面にAgent名が見えているかを挙手で確認する。見えていない人はロールを確認する。</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ここは文書検索だけが動く。数値のツールが呼ばれていたら、次の実習の驚きが薄れるので触れておく。</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ここが実習1の山場。同じ会話の続きで、Agentが自分でツールを切り替えたことを指摘する。</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数字の表だけでは伝わらない差が、グラフにすると一目で分かることを見せる。時間が押していればこの1枚は口頭紹介でもよい。</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会場の参加者の画面で数字を確認してから進む。「報告が嘘」ではなく「報告されていない」という書き分けを強調する。ここが本セッションの核心。</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5番を強調する。4つの事象が1本の連鎖であることを言わせるのが狙い。顧客レビューと社内文書の2つのSearchが呼ばれているかも見る。</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クレーム件数は社内データに存在しない指標。基幹システムに連携していない設定。社内データから拾ったように答えたら誤り。</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時間が押している場合、この実習は削り代にできる。反証の体験は実習2でも成立する。</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待ち時間が発生する。完成版の配布場所を必ず口頭でも案内する。生成中はスライド8に戻ってツール選択の話をすると間が埋まる。</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実畲5の生成待ちや、早く終わった参加者向けの案内に使う。全部をやる必要はないと明言する。</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Web検索は検索クエリと結果がSnowflakeの外を経由する。引き受けるリスクとして伝える。市場の実情報は架空の社内データと数値レベルでは一致しないという限界も説明する。</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4区分を1つずつ、本日の実習に紐づけて振り返る。反証の行を強調している理由も伝える。</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時間が押していたら、このスライドを最初に削る。口頭で「4点だけです」と言うだけでも成立する。</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アンケートの案内と、完成版PPTXの配布場所をもう一度伝える。</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1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 Id="rId3" Type="http://schemas.openxmlformats.org/officeDocument/2006/relationships/image" Target="../media/image6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1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 Id="rId3" Type="http://schemas.openxmlformats.org/officeDocument/2006/relationships/image" Target="../media/image6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56.png"/><Relationship Id="rId4" Type="http://schemas.openxmlformats.org/officeDocument/2006/relationships/image" Target="../media/image5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10" name="Shape 10"/>
        <p:cNvGrpSpPr/>
        <p:nvPr/>
      </p:nvGrpSpPr>
      <p:grpSpPr>
        <a:xfrm>
          <a:off x="0" y="0"/>
          <a:ext cx="0" cy="0"/>
          <a:chOff x="0" y="0"/>
          <a:chExt cx="0" cy="0"/>
        </a:xfrm>
      </p:grpSpPr>
      <p:sp>
        <p:nvSpPr>
          <p:cNvPr id="11" name="Google Shape;11;p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 name="Google Shape;13;p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4" name="Google Shape;14;p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 name="Google Shape;15;p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6" name="Google Shape;16;p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rtl="0">
              <a:lnSpc>
                <a:spcPct val="85000"/>
              </a:lnSpc>
              <a:spcBef>
                <a:spcPts val="0"/>
              </a:spcBef>
              <a:spcAft>
                <a:spcPts val="0"/>
              </a:spcAft>
              <a:buSzPts val="2600"/>
              <a:buNone/>
              <a:defRPr/>
            </a:lvl1pPr>
            <a:lvl2pPr lvl="1" rtl="0">
              <a:lnSpc>
                <a:spcPct val="85000"/>
              </a:lnSpc>
              <a:spcBef>
                <a:spcPts val="1000"/>
              </a:spcBef>
              <a:spcAft>
                <a:spcPts val="0"/>
              </a:spcAft>
              <a:buSzPts val="1400"/>
              <a:buNone/>
              <a:defRPr/>
            </a:lvl2pPr>
            <a:lvl3pPr lvl="2" rtl="0">
              <a:lnSpc>
                <a:spcPct val="85000"/>
              </a:lnSpc>
              <a:spcBef>
                <a:spcPts val="1000"/>
              </a:spcBef>
              <a:spcAft>
                <a:spcPts val="0"/>
              </a:spcAft>
              <a:buSzPts val="1400"/>
              <a:buNone/>
              <a:defRPr/>
            </a:lvl3pPr>
            <a:lvl4pPr lvl="3" rtl="0">
              <a:lnSpc>
                <a:spcPct val="85000"/>
              </a:lnSpc>
              <a:spcBef>
                <a:spcPts val="1000"/>
              </a:spcBef>
              <a:spcAft>
                <a:spcPts val="0"/>
              </a:spcAft>
              <a:buSzPts val="1400"/>
              <a:buNone/>
              <a:defRPr/>
            </a:lvl4pPr>
            <a:lvl5pPr lvl="4" rtl="0">
              <a:lnSpc>
                <a:spcPct val="85000"/>
              </a:lnSpc>
              <a:spcBef>
                <a:spcPts val="1000"/>
              </a:spcBef>
              <a:spcAft>
                <a:spcPts val="0"/>
              </a:spcAft>
              <a:buSzPts val="1400"/>
              <a:buNone/>
              <a:defRPr/>
            </a:lvl5pPr>
            <a:lvl6pPr lvl="5" rtl="0">
              <a:lnSpc>
                <a:spcPct val="85000"/>
              </a:lnSpc>
              <a:spcBef>
                <a:spcPts val="1000"/>
              </a:spcBef>
              <a:spcAft>
                <a:spcPts val="0"/>
              </a:spcAft>
              <a:buSzPts val="1400"/>
              <a:buNone/>
              <a:defRPr/>
            </a:lvl6pPr>
            <a:lvl7pPr lvl="6" rtl="0">
              <a:lnSpc>
                <a:spcPct val="85000"/>
              </a:lnSpc>
              <a:spcBef>
                <a:spcPts val="1000"/>
              </a:spcBef>
              <a:spcAft>
                <a:spcPts val="0"/>
              </a:spcAft>
              <a:buSzPts val="1400"/>
              <a:buNone/>
              <a:defRPr/>
            </a:lvl7pPr>
            <a:lvl8pPr lvl="7" rtl="0">
              <a:lnSpc>
                <a:spcPct val="85000"/>
              </a:lnSpc>
              <a:spcBef>
                <a:spcPts val="1000"/>
              </a:spcBef>
              <a:spcAft>
                <a:spcPts val="0"/>
              </a:spcAft>
              <a:buSzPts val="1400"/>
              <a:buNone/>
              <a:defRPr/>
            </a:lvl8pPr>
            <a:lvl9pPr lvl="8" rtl="0">
              <a:lnSpc>
                <a:spcPct val="85000"/>
              </a:lnSpc>
              <a:spcBef>
                <a:spcPts val="1000"/>
              </a:spcBef>
              <a:spcAft>
                <a:spcPts val="10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18" name="Shape 18"/>
        <p:cNvGrpSpPr/>
        <p:nvPr/>
      </p:nvGrpSpPr>
      <p:grpSpPr>
        <a:xfrm>
          <a:off x="0" y="0"/>
          <a:ext cx="0" cy="0"/>
          <a:chOff x="0" y="0"/>
          <a:chExt cx="0" cy="0"/>
        </a:xfrm>
      </p:grpSpPr>
      <p:sp>
        <p:nvSpPr>
          <p:cNvPr id="19" name="Google Shape;19;p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 name="Google Shape;21;p3"/>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22" name="Google Shape;22;p3"/>
          <p:cNvSpPr txBox="1"/>
          <p:nvPr>
            <p:ph idx="1" type="subTitle"/>
          </p:nvPr>
        </p:nvSpPr>
        <p:spPr>
          <a:xfrm>
            <a:off x="365760" y="1122367"/>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23" name="Google Shape;23;p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4" name="Google Shape;24;p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5" name="Google Shape;25;p3"/>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26" name="Shape 26"/>
        <p:cNvGrpSpPr/>
        <p:nvPr/>
      </p:nvGrpSpPr>
      <p:grpSpPr>
        <a:xfrm>
          <a:off x="0" y="0"/>
          <a:ext cx="0" cy="0"/>
          <a:chOff x="0" y="0"/>
          <a:chExt cx="0" cy="0"/>
        </a:xfrm>
      </p:grpSpPr>
      <p:grpSp>
        <p:nvGrpSpPr>
          <p:cNvPr id="27" name="Google Shape;27;p4"/>
          <p:cNvGrpSpPr/>
          <p:nvPr/>
        </p:nvGrpSpPr>
        <p:grpSpPr>
          <a:xfrm>
            <a:off x="3" y="3761952"/>
            <a:ext cx="9143997" cy="1371564"/>
            <a:chOff x="-10" y="3735321"/>
            <a:chExt cx="9139427" cy="1408177"/>
          </a:xfrm>
        </p:grpSpPr>
        <p:pic>
          <p:nvPicPr>
            <p:cNvPr id="28" name="Google Shape;28;p4"/>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29" name="Google Shape;29;p4"/>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30" name="Google Shape;30;p4"/>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31" name="Google Shape;31;p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3" name="Google Shape;33;p4"/>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4" name="Google Shape;34;p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35" name="Google Shape;35;p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6" name="Google Shape;36;p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37" name="Google Shape;37;p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38" name="Shape 38"/>
        <p:cNvGrpSpPr/>
        <p:nvPr/>
      </p:nvGrpSpPr>
      <p:grpSpPr>
        <a:xfrm>
          <a:off x="0" y="0"/>
          <a:ext cx="0" cy="0"/>
          <a:chOff x="0" y="0"/>
          <a:chExt cx="0" cy="0"/>
        </a:xfrm>
      </p:grpSpPr>
      <p:grpSp>
        <p:nvGrpSpPr>
          <p:cNvPr id="39" name="Google Shape;39;p5"/>
          <p:cNvGrpSpPr/>
          <p:nvPr/>
        </p:nvGrpSpPr>
        <p:grpSpPr>
          <a:xfrm>
            <a:off x="0" y="4370576"/>
            <a:ext cx="9144001" cy="772925"/>
            <a:chOff x="0" y="4370576"/>
            <a:chExt cx="9144001" cy="772925"/>
          </a:xfrm>
        </p:grpSpPr>
        <p:pic>
          <p:nvPicPr>
            <p:cNvPr id="40" name="Google Shape;40;p5"/>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41" name="Google Shape;41;p5"/>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42" name="Google Shape;42;p5"/>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43" name="Google Shape;43;p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45" name="Google Shape;45;p5"/>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6" name="Google Shape;46;p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47" name="Google Shape;47;p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8" name="Google Shape;48;p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49" name="Google Shape;49;p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50" name="Shape 50"/>
        <p:cNvGrpSpPr/>
        <p:nvPr/>
      </p:nvGrpSpPr>
      <p:grpSpPr>
        <a:xfrm>
          <a:off x="0" y="0"/>
          <a:ext cx="0" cy="0"/>
          <a:chOff x="0" y="0"/>
          <a:chExt cx="0" cy="0"/>
        </a:xfrm>
      </p:grpSpPr>
      <p:pic>
        <p:nvPicPr>
          <p:cNvPr id="51" name="Google Shape;51;p6"/>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52" name="Google Shape;52;p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4" name="Google Shape;54;p6"/>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 name="Google Shape;55;p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6" name="Google Shape;56;p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7" name="Google Shape;57;p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58" name="Google Shape;58;p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59" name="Shape 59"/>
        <p:cNvGrpSpPr/>
        <p:nvPr/>
      </p:nvGrpSpPr>
      <p:grpSpPr>
        <a:xfrm>
          <a:off x="0" y="0"/>
          <a:ext cx="0" cy="0"/>
          <a:chOff x="0" y="0"/>
          <a:chExt cx="0" cy="0"/>
        </a:xfrm>
      </p:grpSpPr>
      <p:sp>
        <p:nvSpPr>
          <p:cNvPr id="60" name="Google Shape;60;p7"/>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rtl="0" algn="l">
              <a:lnSpc>
                <a:spcPct val="115000"/>
              </a:lnSpc>
              <a:spcBef>
                <a:spcPts val="0"/>
              </a:spcBef>
              <a:spcAft>
                <a:spcPts val="0"/>
              </a:spcAft>
              <a:buSzPts val="1800"/>
              <a:buNone/>
              <a:defRPr/>
            </a:lvl1pPr>
            <a:lvl2pPr indent="-342900" lvl="1" marL="914400" rtl="0" algn="l">
              <a:lnSpc>
                <a:spcPct val="115000"/>
              </a:lnSpc>
              <a:spcBef>
                <a:spcPts val="1000"/>
              </a:spcBef>
              <a:spcAft>
                <a:spcPts val="0"/>
              </a:spcAft>
              <a:buSzPts val="1800"/>
              <a:buChar char="•"/>
              <a:defRPr/>
            </a:lvl2pPr>
            <a:lvl3pPr indent="-317500" lvl="2" marL="1371600" rtl="0" algn="l">
              <a:lnSpc>
                <a:spcPct val="115000"/>
              </a:lnSpc>
              <a:spcBef>
                <a:spcPts val="1000"/>
              </a:spcBef>
              <a:spcAft>
                <a:spcPts val="0"/>
              </a:spcAft>
              <a:buSzPts val="1400"/>
              <a:buChar char="•"/>
              <a:defRPr/>
            </a:lvl3pPr>
            <a:lvl4pPr indent="-317500" lvl="3" marL="1828800" rtl="0" algn="l">
              <a:lnSpc>
                <a:spcPct val="115000"/>
              </a:lnSpc>
              <a:spcBef>
                <a:spcPts val="1000"/>
              </a:spcBef>
              <a:spcAft>
                <a:spcPts val="0"/>
              </a:spcAft>
              <a:buSzPts val="1400"/>
              <a:buChar char="•"/>
              <a:defRPr/>
            </a:lvl4pPr>
            <a:lvl5pPr indent="-317500" lvl="4" marL="2286000" rtl="0" algn="l">
              <a:lnSpc>
                <a:spcPct val="115000"/>
              </a:lnSpc>
              <a:spcBef>
                <a:spcPts val="1000"/>
              </a:spcBef>
              <a:spcAft>
                <a:spcPts val="0"/>
              </a:spcAft>
              <a:buSzPts val="1400"/>
              <a:buChar char="•"/>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61" name="Google Shape;61;p7"/>
          <p:cNvSpPr txBox="1"/>
          <p:nvPr>
            <p:ph type="title"/>
          </p:nvPr>
        </p:nvSpPr>
        <p:spPr>
          <a:xfrm>
            <a:off x="365750" y="274323"/>
            <a:ext cx="8321100" cy="3657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 name="Google Shape;62;p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 name="Google Shape;64;p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65" name="Google Shape;65;p7"/>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66" name="Google Shape;66;p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67" name="Shape 67"/>
        <p:cNvGrpSpPr/>
        <p:nvPr/>
      </p:nvGrpSpPr>
      <p:grpSpPr>
        <a:xfrm>
          <a:off x="0" y="0"/>
          <a:ext cx="0" cy="0"/>
          <a:chOff x="0" y="0"/>
          <a:chExt cx="0" cy="0"/>
        </a:xfrm>
      </p:grpSpPr>
      <p:sp>
        <p:nvSpPr>
          <p:cNvPr id="68" name="Google Shape;68;p8"/>
          <p:cNvSpPr txBox="1"/>
          <p:nvPr>
            <p:ph type="title"/>
          </p:nvPr>
        </p:nvSpPr>
        <p:spPr>
          <a:xfrm>
            <a:off x="365750" y="274323"/>
            <a:ext cx="8348400" cy="3657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 name="Google Shape;69;p8"/>
          <p:cNvSpPr txBox="1"/>
          <p:nvPr>
            <p:ph idx="1" type="body"/>
          </p:nvPr>
        </p:nvSpPr>
        <p:spPr>
          <a:xfrm>
            <a:off x="365750" y="1371600"/>
            <a:ext cx="4160400" cy="3314700"/>
          </a:xfrm>
          <a:prstGeom prst="rect">
            <a:avLst/>
          </a:prstGeom>
        </p:spPr>
        <p:txBody>
          <a:bodyPr anchorCtr="0" anchor="t" bIns="91425" lIns="91425" spcFirstLastPara="1" rIns="91425" wrap="square" tIns="91425">
            <a:spAutoFit/>
          </a:bodyPr>
          <a:lstStyle>
            <a:lvl1pPr indent="-342900" lvl="0" marL="457200" rtl="0">
              <a:spcBef>
                <a:spcPts val="0"/>
              </a:spcBef>
              <a:spcAft>
                <a:spcPts val="0"/>
              </a:spcAft>
              <a:buSzPts val="1800"/>
              <a:buChar char="•"/>
              <a:defRPr/>
            </a:lvl1pPr>
            <a:lvl2pPr indent="-342900" lvl="1" marL="914400" rtl="0">
              <a:spcBef>
                <a:spcPts val="1000"/>
              </a:spcBef>
              <a:spcAft>
                <a:spcPts val="0"/>
              </a:spcAft>
              <a:buSzPts val="18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70" name="Google Shape;70;p8"/>
          <p:cNvSpPr txBox="1"/>
          <p:nvPr>
            <p:ph idx="2" type="body"/>
          </p:nvPr>
        </p:nvSpPr>
        <p:spPr>
          <a:xfrm>
            <a:off x="4617721" y="1371600"/>
            <a:ext cx="4160400" cy="3314700"/>
          </a:xfrm>
          <a:prstGeom prst="rect">
            <a:avLst/>
          </a:prstGeom>
        </p:spPr>
        <p:txBody>
          <a:bodyPr anchorCtr="0" anchor="t" bIns="91425" lIns="91425" spcFirstLastPara="1" rIns="91425" wrap="square" tIns="91425">
            <a:spAutoFit/>
          </a:bodyPr>
          <a:lstStyle>
            <a:lvl1pPr indent="-342900" lvl="0" marL="457200" rtl="0">
              <a:spcBef>
                <a:spcPts val="0"/>
              </a:spcBef>
              <a:spcAft>
                <a:spcPts val="0"/>
              </a:spcAft>
              <a:buSzPts val="1800"/>
              <a:buChar char="•"/>
              <a:defRPr/>
            </a:lvl1pPr>
            <a:lvl2pPr indent="-342900" lvl="1" marL="914400" rtl="0">
              <a:spcBef>
                <a:spcPts val="1000"/>
              </a:spcBef>
              <a:spcAft>
                <a:spcPts val="0"/>
              </a:spcAft>
              <a:buSzPts val="18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71" name="Google Shape;71;p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3" name="Google Shape;73;p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74" name="Google Shape;74;p8"/>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75" name="Google Shape;75;p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76" name="Shape 76"/>
        <p:cNvGrpSpPr/>
        <p:nvPr/>
      </p:nvGrpSpPr>
      <p:grpSpPr>
        <a:xfrm>
          <a:off x="0" y="0"/>
          <a:ext cx="0" cy="0"/>
          <a:chOff x="0" y="0"/>
          <a:chExt cx="0" cy="0"/>
        </a:xfrm>
      </p:grpSpPr>
      <p:sp>
        <p:nvSpPr>
          <p:cNvPr id="77" name="Google Shape;77;p9"/>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78" name="Google Shape;78;p9"/>
          <p:cNvSpPr txBox="1"/>
          <p:nvPr>
            <p:ph idx="1" type="body"/>
          </p:nvPr>
        </p:nvSpPr>
        <p:spPr>
          <a:xfrm>
            <a:off x="365750"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79" name="Google Shape;79;p9"/>
          <p:cNvSpPr txBox="1"/>
          <p:nvPr>
            <p:ph idx="2" type="body"/>
          </p:nvPr>
        </p:nvSpPr>
        <p:spPr>
          <a:xfrm>
            <a:off x="3169031"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80" name="Google Shape;80;p9"/>
          <p:cNvSpPr txBox="1"/>
          <p:nvPr>
            <p:ph idx="3" type="body"/>
          </p:nvPr>
        </p:nvSpPr>
        <p:spPr>
          <a:xfrm>
            <a:off x="6127925"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81" name="Google Shape;81;p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3" name="Google Shape;83;p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84" name="Google Shape;84;p9"/>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5" name="Google Shape;85;p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86" name="Shape 86"/>
        <p:cNvGrpSpPr/>
        <p:nvPr/>
      </p:nvGrpSpPr>
      <p:grpSpPr>
        <a:xfrm>
          <a:off x="0" y="0"/>
          <a:ext cx="0" cy="0"/>
          <a:chOff x="0" y="0"/>
          <a:chExt cx="0" cy="0"/>
        </a:xfrm>
      </p:grpSpPr>
      <p:sp>
        <p:nvSpPr>
          <p:cNvPr id="87" name="Google Shape;87;p10"/>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8" name="Google Shape;88;p1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0"/>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90" name="Google Shape;90;p10"/>
          <p:cNvSpPr txBox="1"/>
          <p:nvPr>
            <p:ph idx="1" type="body"/>
          </p:nvPr>
        </p:nvSpPr>
        <p:spPr>
          <a:xfrm>
            <a:off x="365750"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1" name="Google Shape;91;p10"/>
          <p:cNvSpPr txBox="1"/>
          <p:nvPr>
            <p:ph idx="2" type="body"/>
          </p:nvPr>
        </p:nvSpPr>
        <p:spPr>
          <a:xfrm>
            <a:off x="2459408"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2" name="Google Shape;92;p10"/>
          <p:cNvSpPr txBox="1"/>
          <p:nvPr>
            <p:ph idx="3" type="body"/>
          </p:nvPr>
        </p:nvSpPr>
        <p:spPr>
          <a:xfrm>
            <a:off x="4673192"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3" name="Google Shape;93;p10"/>
          <p:cNvSpPr txBox="1"/>
          <p:nvPr>
            <p:ph idx="4" type="body"/>
          </p:nvPr>
        </p:nvSpPr>
        <p:spPr>
          <a:xfrm>
            <a:off x="6887000"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4" name="Google Shape;94;p10"/>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95" name="Google Shape;95;p10"/>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96" name="Google Shape;96;p1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7" name="Shape 97"/>
        <p:cNvGrpSpPr/>
        <p:nvPr/>
      </p:nvGrpSpPr>
      <p:grpSpPr>
        <a:xfrm>
          <a:off x="0" y="0"/>
          <a:ext cx="0" cy="0"/>
          <a:chOff x="0" y="0"/>
          <a:chExt cx="0" cy="0"/>
        </a:xfrm>
      </p:grpSpPr>
      <p:sp>
        <p:nvSpPr>
          <p:cNvPr id="98" name="Google Shape;98;p11"/>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txBox="1"/>
          <p:nvPr>
            <p:ph idx="1" type="body"/>
          </p:nvPr>
        </p:nvSpPr>
        <p:spPr>
          <a:xfrm>
            <a:off x="365750" y="274320"/>
            <a:ext cx="1926000" cy="685800"/>
          </a:xfrm>
          <a:prstGeom prst="rect">
            <a:avLst/>
          </a:prstGeom>
          <a:noFill/>
          <a:ln>
            <a:noFill/>
          </a:ln>
        </p:spPr>
        <p:txBody>
          <a:bodyPr anchorCtr="0" anchor="t" bIns="91425" lIns="91425" spcFirstLastPara="1" rIns="91425" wrap="square" tIns="91425">
            <a:noAutofit/>
          </a:bodyPr>
          <a:lstStyle>
            <a:lvl1pPr indent="-228600" lvl="0" marL="457200" rtl="0">
              <a:lnSpc>
                <a:spcPct val="85000"/>
              </a:lnSpc>
              <a:spcBef>
                <a:spcPts val="0"/>
              </a:spcBef>
              <a:spcAft>
                <a:spcPts val="0"/>
              </a:spcAft>
              <a:buClr>
                <a:schemeClr val="dk1"/>
              </a:buClr>
              <a:buSzPts val="2600"/>
              <a:buNone/>
              <a:defRPr b="1" i="0" sz="2600" cap="none">
                <a:solidFill>
                  <a:schemeClr val="dk1"/>
                </a:solidFill>
              </a:defRPr>
            </a:lvl1pPr>
            <a:lvl2pPr indent="-342900" lvl="1" marL="914400" rtl="0">
              <a:lnSpc>
                <a:spcPct val="105000"/>
              </a:lnSpc>
              <a:spcBef>
                <a:spcPts val="1000"/>
              </a:spcBef>
              <a:spcAft>
                <a:spcPts val="0"/>
              </a:spcAft>
              <a:buClr>
                <a:schemeClr val="dk1"/>
              </a:buClr>
              <a:buSzPts val="1800"/>
              <a:buChar char="•"/>
              <a:defRPr b="1"/>
            </a:lvl2pPr>
            <a:lvl3pPr indent="-342900" lvl="2" marL="1371600" rtl="0">
              <a:lnSpc>
                <a:spcPct val="105000"/>
              </a:lnSpc>
              <a:spcBef>
                <a:spcPts val="1000"/>
              </a:spcBef>
              <a:spcAft>
                <a:spcPts val="0"/>
              </a:spcAft>
              <a:buClr>
                <a:schemeClr val="dk1"/>
              </a:buClr>
              <a:buSzPts val="1800"/>
              <a:buChar char="•"/>
              <a:defRPr b="1" sz="1800"/>
            </a:lvl3pPr>
            <a:lvl4pPr indent="-317500" lvl="3" marL="1828800" rtl="0">
              <a:lnSpc>
                <a:spcPct val="105000"/>
              </a:lnSpc>
              <a:spcBef>
                <a:spcPts val="1000"/>
              </a:spcBef>
              <a:spcAft>
                <a:spcPts val="0"/>
              </a:spcAft>
              <a:buClr>
                <a:schemeClr val="dk1"/>
              </a:buClr>
              <a:buSzPts val="1400"/>
              <a:buChar char="•"/>
              <a:defRPr b="1"/>
            </a:lvl4pPr>
            <a:lvl5pPr indent="-317500" lvl="4" marL="2286000" rtl="0">
              <a:lnSpc>
                <a:spcPct val="105000"/>
              </a:lnSpc>
              <a:spcBef>
                <a:spcPts val="1000"/>
              </a:spcBef>
              <a:spcAft>
                <a:spcPts val="0"/>
              </a:spcAft>
              <a:buClr>
                <a:schemeClr val="dk1"/>
              </a:buClr>
              <a:buSzPts val="1400"/>
              <a:buChar char="•"/>
              <a:defRPr b="1"/>
            </a:lvl5pPr>
            <a:lvl6pPr indent="-317500" lvl="5" marL="2743200" rtl="0">
              <a:lnSpc>
                <a:spcPct val="105000"/>
              </a:lnSpc>
              <a:spcBef>
                <a:spcPts val="1000"/>
              </a:spcBef>
              <a:spcAft>
                <a:spcPts val="0"/>
              </a:spcAft>
              <a:buClr>
                <a:schemeClr val="dk1"/>
              </a:buClr>
              <a:buSzPts val="1400"/>
              <a:buChar char="•"/>
              <a:defRPr b="1"/>
            </a:lvl6pPr>
            <a:lvl7pPr indent="-317500" lvl="6" marL="3200400" rtl="0">
              <a:lnSpc>
                <a:spcPct val="105000"/>
              </a:lnSpc>
              <a:spcBef>
                <a:spcPts val="1000"/>
              </a:spcBef>
              <a:spcAft>
                <a:spcPts val="0"/>
              </a:spcAft>
              <a:buClr>
                <a:schemeClr val="dk1"/>
              </a:buClr>
              <a:buSzPts val="1400"/>
              <a:buChar char="•"/>
              <a:defRPr b="1"/>
            </a:lvl7pPr>
            <a:lvl8pPr indent="-317500" lvl="7" marL="3657600" rtl="0">
              <a:lnSpc>
                <a:spcPct val="105000"/>
              </a:lnSpc>
              <a:spcBef>
                <a:spcPts val="1000"/>
              </a:spcBef>
              <a:spcAft>
                <a:spcPts val="0"/>
              </a:spcAft>
              <a:buClr>
                <a:schemeClr val="dk1"/>
              </a:buClr>
              <a:buSzPts val="1400"/>
              <a:buChar char="•"/>
              <a:defRPr b="1"/>
            </a:lvl8pPr>
            <a:lvl9pPr indent="-317500" lvl="8" marL="4114800" rtl="0">
              <a:lnSpc>
                <a:spcPct val="105000"/>
              </a:lnSpc>
              <a:spcBef>
                <a:spcPts val="1000"/>
              </a:spcBef>
              <a:spcAft>
                <a:spcPts val="1000"/>
              </a:spcAft>
              <a:buClr>
                <a:schemeClr val="dk1"/>
              </a:buClr>
              <a:buSzPts val="1400"/>
              <a:buChar char="•"/>
              <a:defRPr b="1"/>
            </a:lvl9pPr>
          </a:lstStyle>
          <a:p/>
        </p:txBody>
      </p:sp>
      <p:sp>
        <p:nvSpPr>
          <p:cNvPr id="100" name="Google Shape;100;p1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EFEFEF"/>
                </a:solidFill>
              </a:defRPr>
            </a:lvl1pPr>
            <a:lvl2pPr indent="0" lvl="1" marL="0" marR="0" rtl="0" algn="r">
              <a:spcBef>
                <a:spcPts val="0"/>
              </a:spcBef>
              <a:buNone/>
              <a:defRPr i="0" sz="600">
                <a:solidFill>
                  <a:srgbClr val="EFEFEF"/>
                </a:solidFill>
              </a:defRPr>
            </a:lvl2pPr>
            <a:lvl3pPr indent="0" lvl="2" marL="0" marR="0" rtl="0" algn="r">
              <a:spcBef>
                <a:spcPts val="0"/>
              </a:spcBef>
              <a:buNone/>
              <a:defRPr i="0" sz="600">
                <a:solidFill>
                  <a:srgbClr val="EFEFEF"/>
                </a:solidFill>
              </a:defRPr>
            </a:lvl3pPr>
            <a:lvl4pPr indent="0" lvl="3" marL="0" marR="0" rtl="0" algn="r">
              <a:spcBef>
                <a:spcPts val="0"/>
              </a:spcBef>
              <a:buNone/>
              <a:defRPr i="0" sz="600">
                <a:solidFill>
                  <a:srgbClr val="EFEFEF"/>
                </a:solidFill>
              </a:defRPr>
            </a:lvl4pPr>
            <a:lvl5pPr indent="0" lvl="4" marL="0" marR="0" rtl="0" algn="r">
              <a:spcBef>
                <a:spcPts val="0"/>
              </a:spcBef>
              <a:buNone/>
              <a:defRPr i="0" sz="600">
                <a:solidFill>
                  <a:srgbClr val="EFEFEF"/>
                </a:solidFill>
              </a:defRPr>
            </a:lvl5pPr>
            <a:lvl6pPr indent="0" lvl="5" marL="0" marR="0" rtl="0" algn="r">
              <a:spcBef>
                <a:spcPts val="0"/>
              </a:spcBef>
              <a:buNone/>
              <a:defRPr i="0" sz="600">
                <a:solidFill>
                  <a:srgbClr val="EFEFEF"/>
                </a:solidFill>
              </a:defRPr>
            </a:lvl6pPr>
            <a:lvl7pPr indent="0" lvl="6" marL="0" marR="0" rtl="0" algn="r">
              <a:spcBef>
                <a:spcPts val="0"/>
              </a:spcBef>
              <a:buNone/>
              <a:defRPr i="0" sz="600">
                <a:solidFill>
                  <a:srgbClr val="EFEFEF"/>
                </a:solidFill>
              </a:defRPr>
            </a:lvl7pPr>
            <a:lvl8pPr indent="0" lvl="7" marL="0" marR="0" rtl="0" algn="r">
              <a:spcBef>
                <a:spcPts val="0"/>
              </a:spcBef>
              <a:buNone/>
              <a:defRPr i="0" sz="600">
                <a:solidFill>
                  <a:srgbClr val="EFEFEF"/>
                </a:solidFill>
              </a:defRPr>
            </a:lvl8pPr>
            <a:lvl9pPr indent="0" lvl="8" marL="0" marR="0" rtl="0" algn="r">
              <a:spcBef>
                <a:spcPts val="0"/>
              </a:spcBef>
              <a:buNone/>
              <a:defRPr i="0" sz="600">
                <a:solidFill>
                  <a:srgbClr val="EFEFEF"/>
                </a:solidFill>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2" name="Google Shape;102;p1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03" name="Google Shape;103;p11"/>
          <p:cNvSpPr txBox="1"/>
          <p:nvPr>
            <p:ph idx="2" type="body"/>
          </p:nvPr>
        </p:nvSpPr>
        <p:spPr>
          <a:xfrm>
            <a:off x="2961200" y="914400"/>
            <a:ext cx="5725500" cy="3771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solidFill>
                  <a:srgbClr val="FFFFFF"/>
                </a:solidFill>
              </a:defRPr>
            </a:lvl1pPr>
            <a:lvl2pPr indent="-342900" lvl="1" marL="914400" rtl="0">
              <a:spcBef>
                <a:spcPts val="1000"/>
              </a:spcBef>
              <a:spcAft>
                <a:spcPts val="0"/>
              </a:spcAft>
              <a:buSzPts val="1800"/>
              <a:buChar char="•"/>
              <a:defRPr>
                <a:solidFill>
                  <a:srgbClr val="FFFFFF"/>
                </a:solidFill>
              </a:defRPr>
            </a:lvl2pPr>
            <a:lvl3pPr indent="-317500" lvl="2" marL="1371600" rtl="0">
              <a:spcBef>
                <a:spcPts val="1000"/>
              </a:spcBef>
              <a:spcAft>
                <a:spcPts val="0"/>
              </a:spcAft>
              <a:buSzPts val="1400"/>
              <a:buChar char="•"/>
              <a:defRPr>
                <a:solidFill>
                  <a:srgbClr val="FFFFFF"/>
                </a:solidFill>
              </a:defRPr>
            </a:lvl3pPr>
            <a:lvl4pPr indent="-317500" lvl="3" marL="1828800" rtl="0">
              <a:spcBef>
                <a:spcPts val="1000"/>
              </a:spcBef>
              <a:spcAft>
                <a:spcPts val="0"/>
              </a:spcAft>
              <a:buSzPts val="1400"/>
              <a:buChar char="•"/>
              <a:defRPr>
                <a:solidFill>
                  <a:srgbClr val="FFFFFF"/>
                </a:solidFill>
              </a:defRPr>
            </a:lvl4pPr>
            <a:lvl5pPr indent="-317500" lvl="4" marL="2286000" rtl="0">
              <a:spcBef>
                <a:spcPts val="1000"/>
              </a:spcBef>
              <a:spcAft>
                <a:spcPts val="0"/>
              </a:spcAft>
              <a:buSzPts val="1400"/>
              <a:buChar char="•"/>
              <a:defRPr>
                <a:solidFill>
                  <a:srgbClr val="FFFFFF"/>
                </a:solidFill>
              </a:defRPr>
            </a:lvl5pPr>
            <a:lvl6pPr indent="-317500" lvl="5" marL="2743200" rtl="0">
              <a:spcBef>
                <a:spcPts val="1000"/>
              </a:spcBef>
              <a:spcAft>
                <a:spcPts val="0"/>
              </a:spcAft>
              <a:buSzPts val="1400"/>
              <a:buChar char="•"/>
              <a:defRPr>
                <a:solidFill>
                  <a:srgbClr val="FFFFFF"/>
                </a:solidFill>
              </a:defRPr>
            </a:lvl6pPr>
            <a:lvl7pPr indent="-317500" lvl="6" marL="3200400" rtl="0">
              <a:spcBef>
                <a:spcPts val="1000"/>
              </a:spcBef>
              <a:spcAft>
                <a:spcPts val="0"/>
              </a:spcAft>
              <a:buSzPts val="1400"/>
              <a:buChar char="•"/>
              <a:defRPr>
                <a:solidFill>
                  <a:srgbClr val="FFFFFF"/>
                </a:solidFill>
              </a:defRPr>
            </a:lvl7pPr>
            <a:lvl8pPr indent="-317500" lvl="7" marL="3657600" rtl="0">
              <a:spcBef>
                <a:spcPts val="1000"/>
              </a:spcBef>
              <a:spcAft>
                <a:spcPts val="0"/>
              </a:spcAft>
              <a:buSzPts val="1400"/>
              <a:buChar char="•"/>
              <a:defRPr>
                <a:solidFill>
                  <a:srgbClr val="FFFFFF"/>
                </a:solidFill>
              </a:defRPr>
            </a:lvl8pPr>
            <a:lvl9pPr indent="-317500" lvl="8" marL="4114800" rtl="0">
              <a:spcBef>
                <a:spcPts val="1000"/>
              </a:spcBef>
              <a:spcAft>
                <a:spcPts val="1000"/>
              </a:spcAft>
              <a:buSzPts val="1400"/>
              <a:buChar char="•"/>
              <a:defRPr>
                <a:solidFill>
                  <a:srgbClr val="FFFFFF"/>
                </a:solidFill>
              </a:defRPr>
            </a:lvl9pPr>
          </a:lstStyle>
          <a:p/>
        </p:txBody>
      </p:sp>
      <p:sp>
        <p:nvSpPr>
          <p:cNvPr id="104" name="Google Shape;104;p11"/>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05" name="Google Shape;105;p11"/>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06" name="Google Shape;106;p1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1"/>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108" name="Shape 108"/>
        <p:cNvGrpSpPr/>
        <p:nvPr/>
      </p:nvGrpSpPr>
      <p:grpSpPr>
        <a:xfrm>
          <a:off x="0" y="0"/>
          <a:ext cx="0" cy="0"/>
          <a:chOff x="0" y="0"/>
          <a:chExt cx="0" cy="0"/>
        </a:xfrm>
      </p:grpSpPr>
      <p:sp>
        <p:nvSpPr>
          <p:cNvPr id="109" name="Google Shape;109;p12"/>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2"/>
          <p:cNvSpPr txBox="1"/>
          <p:nvPr>
            <p:ph idx="1" type="body"/>
          </p:nvPr>
        </p:nvSpPr>
        <p:spPr>
          <a:xfrm>
            <a:off x="365750" y="274320"/>
            <a:ext cx="2376600" cy="685800"/>
          </a:xfrm>
          <a:prstGeom prst="rect">
            <a:avLst/>
          </a:prstGeom>
          <a:noFill/>
          <a:ln>
            <a:noFill/>
          </a:ln>
        </p:spPr>
        <p:txBody>
          <a:bodyPr anchorCtr="0" anchor="t" bIns="91425" lIns="91425" spcFirstLastPara="1" rIns="91425" wrap="square" tIns="91425">
            <a:noAutofit/>
          </a:bodyPr>
          <a:lstStyle>
            <a:lvl1pPr indent="-228600" lvl="0" marL="457200" rtl="0">
              <a:lnSpc>
                <a:spcPct val="100000"/>
              </a:lnSpc>
              <a:spcBef>
                <a:spcPts val="0"/>
              </a:spcBef>
              <a:spcAft>
                <a:spcPts val="0"/>
              </a:spcAft>
              <a:buClr>
                <a:srgbClr val="FFFFFF"/>
              </a:buClr>
              <a:buSzPts val="2600"/>
              <a:buNone/>
              <a:defRPr b="1" i="0" sz="2600" cap="none">
                <a:solidFill>
                  <a:srgbClr val="FFFFFF"/>
                </a:solidFill>
              </a:defRPr>
            </a:lvl1pPr>
            <a:lvl2pPr indent="-342900" lvl="1" marL="914400" rtl="0">
              <a:lnSpc>
                <a:spcPct val="105000"/>
              </a:lnSpc>
              <a:spcBef>
                <a:spcPts val="0"/>
              </a:spcBef>
              <a:spcAft>
                <a:spcPts val="0"/>
              </a:spcAft>
              <a:buClr>
                <a:srgbClr val="FFFFFF"/>
              </a:buClr>
              <a:buSzPts val="1800"/>
              <a:buChar char="•"/>
              <a:defRPr b="1">
                <a:solidFill>
                  <a:srgbClr val="FFFFFF"/>
                </a:solidFill>
              </a:defRPr>
            </a:lvl2pPr>
            <a:lvl3pPr indent="-342900" lvl="2" marL="1371600" rtl="0">
              <a:lnSpc>
                <a:spcPct val="105000"/>
              </a:lnSpc>
              <a:spcBef>
                <a:spcPts val="1000"/>
              </a:spcBef>
              <a:spcAft>
                <a:spcPts val="0"/>
              </a:spcAft>
              <a:buClr>
                <a:srgbClr val="FFFFFF"/>
              </a:buClr>
              <a:buSzPts val="1800"/>
              <a:buChar char="•"/>
              <a:defRPr b="1" sz="1800">
                <a:solidFill>
                  <a:srgbClr val="FFFFFF"/>
                </a:solidFill>
              </a:defRPr>
            </a:lvl3pPr>
            <a:lvl4pPr indent="-317500" lvl="3" marL="1828800" rtl="0">
              <a:lnSpc>
                <a:spcPct val="105000"/>
              </a:lnSpc>
              <a:spcBef>
                <a:spcPts val="1000"/>
              </a:spcBef>
              <a:spcAft>
                <a:spcPts val="0"/>
              </a:spcAft>
              <a:buClr>
                <a:srgbClr val="FFFFFF"/>
              </a:buClr>
              <a:buSzPts val="1400"/>
              <a:buChar char="•"/>
              <a:defRPr b="1">
                <a:solidFill>
                  <a:srgbClr val="FFFFFF"/>
                </a:solidFill>
              </a:defRPr>
            </a:lvl4pPr>
            <a:lvl5pPr indent="-317500" lvl="4" marL="2286000" rtl="0">
              <a:lnSpc>
                <a:spcPct val="105000"/>
              </a:lnSpc>
              <a:spcBef>
                <a:spcPts val="1000"/>
              </a:spcBef>
              <a:spcAft>
                <a:spcPts val="0"/>
              </a:spcAft>
              <a:buClr>
                <a:srgbClr val="FFFFFF"/>
              </a:buClr>
              <a:buSzPts val="1400"/>
              <a:buChar char="•"/>
              <a:defRPr b="1">
                <a:solidFill>
                  <a:srgbClr val="FFFFFF"/>
                </a:solidFill>
              </a:defRPr>
            </a:lvl5pPr>
            <a:lvl6pPr indent="-317500" lvl="5" marL="2743200" rtl="0">
              <a:lnSpc>
                <a:spcPct val="105000"/>
              </a:lnSpc>
              <a:spcBef>
                <a:spcPts val="1000"/>
              </a:spcBef>
              <a:spcAft>
                <a:spcPts val="0"/>
              </a:spcAft>
              <a:buClr>
                <a:srgbClr val="FFFFFF"/>
              </a:buClr>
              <a:buSzPts val="1400"/>
              <a:buChar char="•"/>
              <a:defRPr b="1">
                <a:solidFill>
                  <a:srgbClr val="FFFFFF"/>
                </a:solidFill>
              </a:defRPr>
            </a:lvl6pPr>
            <a:lvl7pPr indent="-317500" lvl="6" marL="3200400" rtl="0">
              <a:lnSpc>
                <a:spcPct val="105000"/>
              </a:lnSpc>
              <a:spcBef>
                <a:spcPts val="1000"/>
              </a:spcBef>
              <a:spcAft>
                <a:spcPts val="0"/>
              </a:spcAft>
              <a:buClr>
                <a:srgbClr val="FFFFFF"/>
              </a:buClr>
              <a:buSzPts val="1400"/>
              <a:buChar char="•"/>
              <a:defRPr b="1">
                <a:solidFill>
                  <a:srgbClr val="FFFFFF"/>
                </a:solidFill>
              </a:defRPr>
            </a:lvl7pPr>
            <a:lvl8pPr indent="-317500" lvl="7" marL="3657600" rtl="0">
              <a:lnSpc>
                <a:spcPct val="105000"/>
              </a:lnSpc>
              <a:spcBef>
                <a:spcPts val="1000"/>
              </a:spcBef>
              <a:spcAft>
                <a:spcPts val="0"/>
              </a:spcAft>
              <a:buClr>
                <a:srgbClr val="FFFFFF"/>
              </a:buClr>
              <a:buSzPts val="1400"/>
              <a:buChar char="•"/>
              <a:defRPr b="1">
                <a:solidFill>
                  <a:srgbClr val="FFFFFF"/>
                </a:solidFill>
              </a:defRPr>
            </a:lvl8pPr>
            <a:lvl9pPr indent="-317500" lvl="8" marL="4114800" rtl="0">
              <a:lnSpc>
                <a:spcPct val="105000"/>
              </a:lnSpc>
              <a:spcBef>
                <a:spcPts val="1000"/>
              </a:spcBef>
              <a:spcAft>
                <a:spcPts val="1000"/>
              </a:spcAft>
              <a:buClr>
                <a:srgbClr val="FFFFFF"/>
              </a:buClr>
              <a:buSzPts val="1400"/>
              <a:buChar char="•"/>
              <a:defRPr b="1">
                <a:solidFill>
                  <a:srgbClr val="FFFFFF"/>
                </a:solidFill>
              </a:defRPr>
            </a:lvl9pPr>
          </a:lstStyle>
          <a:p/>
        </p:txBody>
      </p:sp>
      <p:sp>
        <p:nvSpPr>
          <p:cNvPr id="111" name="Google Shape;111;p1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13" name="Google Shape;113;p1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FFFFFF"/>
                </a:solidFill>
                <a:latin typeface="Arial"/>
                <a:ea typeface="Arial"/>
                <a:cs typeface="Arial"/>
                <a:sym typeface="Arial"/>
              </a:rPr>
              <a:t>© </a:t>
            </a:r>
            <a:r>
              <a:rPr lang="en" sz="600">
                <a:solidFill>
                  <a:srgbClr val="FFFFFF"/>
                </a:solidFill>
              </a:rPr>
              <a:t>2026</a:t>
            </a:r>
            <a:r>
              <a:rPr b="0" i="0" lang="en" sz="600">
                <a:solidFill>
                  <a:srgbClr val="FFFFFF"/>
                </a:solidFill>
                <a:latin typeface="Arial"/>
                <a:ea typeface="Arial"/>
                <a:cs typeface="Arial"/>
                <a:sym typeface="Arial"/>
              </a:rPr>
              <a:t> Snowflake Inc. All Rights Reserved</a:t>
            </a:r>
            <a:endParaRPr sz="600">
              <a:solidFill>
                <a:srgbClr val="FFFFFF"/>
              </a:solidFill>
              <a:latin typeface="Arial"/>
              <a:ea typeface="Arial"/>
              <a:cs typeface="Arial"/>
              <a:sym typeface="Arial"/>
            </a:endParaRPr>
          </a:p>
        </p:txBody>
      </p:sp>
      <p:sp>
        <p:nvSpPr>
          <p:cNvPr id="114" name="Google Shape;114;p12"/>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Clr>
                <a:srgbClr val="FFFFFF"/>
              </a:buClr>
              <a:buSzPts val="1200"/>
              <a:buChar char="•"/>
              <a:defRPr sz="1200">
                <a:solidFill>
                  <a:srgbClr val="FFFFFF"/>
                </a:solidFill>
              </a:defRPr>
            </a:lvl1pPr>
            <a:lvl2pPr indent="-304800" lvl="1" marL="914400" rtl="0">
              <a:spcBef>
                <a:spcPts val="1000"/>
              </a:spcBef>
              <a:spcAft>
                <a:spcPts val="0"/>
              </a:spcAft>
              <a:buClr>
                <a:srgbClr val="FFFFFF"/>
              </a:buClr>
              <a:buSzPts val="1200"/>
              <a:buChar char="•"/>
              <a:defRPr sz="1200">
                <a:solidFill>
                  <a:srgbClr val="FFFFFF"/>
                </a:solidFill>
              </a:defRPr>
            </a:lvl2pPr>
            <a:lvl3pPr indent="-304800" lvl="2" marL="1371600" rtl="0">
              <a:spcBef>
                <a:spcPts val="1000"/>
              </a:spcBef>
              <a:spcAft>
                <a:spcPts val="0"/>
              </a:spcAft>
              <a:buClr>
                <a:srgbClr val="FFFFFF"/>
              </a:buClr>
              <a:buSzPts val="1200"/>
              <a:buChar char="•"/>
              <a:defRPr sz="1200">
                <a:solidFill>
                  <a:srgbClr val="FFFFFF"/>
                </a:solidFill>
              </a:defRPr>
            </a:lvl3pPr>
            <a:lvl4pPr indent="-304800" lvl="3" marL="1828800" rtl="0">
              <a:spcBef>
                <a:spcPts val="1000"/>
              </a:spcBef>
              <a:spcAft>
                <a:spcPts val="0"/>
              </a:spcAft>
              <a:buClr>
                <a:srgbClr val="FFFFFF"/>
              </a:buClr>
              <a:buSzPts val="1200"/>
              <a:buChar char="•"/>
              <a:defRPr sz="1200">
                <a:solidFill>
                  <a:srgbClr val="FFFFFF"/>
                </a:solidFill>
              </a:defRPr>
            </a:lvl4pPr>
            <a:lvl5pPr indent="-304800" lvl="4" marL="2286000" rtl="0">
              <a:spcBef>
                <a:spcPts val="1000"/>
              </a:spcBef>
              <a:spcAft>
                <a:spcPts val="0"/>
              </a:spcAft>
              <a:buClr>
                <a:srgbClr val="FFFFFF"/>
              </a:buClr>
              <a:buSzPts val="1200"/>
              <a:buChar char="•"/>
              <a:defRPr sz="1200">
                <a:solidFill>
                  <a:srgbClr val="FFFFFF"/>
                </a:solidFill>
              </a:defRPr>
            </a:lvl5pPr>
            <a:lvl6pPr indent="-304800" lvl="5" marL="2743200" rtl="0">
              <a:spcBef>
                <a:spcPts val="1000"/>
              </a:spcBef>
              <a:spcAft>
                <a:spcPts val="0"/>
              </a:spcAft>
              <a:buClr>
                <a:srgbClr val="FFFFFF"/>
              </a:buClr>
              <a:buSzPts val="1200"/>
              <a:buChar char="•"/>
              <a:defRPr sz="1200">
                <a:solidFill>
                  <a:srgbClr val="FFFFFF"/>
                </a:solidFill>
              </a:defRPr>
            </a:lvl6pPr>
            <a:lvl7pPr indent="-304800" lvl="6" marL="3200400" rtl="0">
              <a:spcBef>
                <a:spcPts val="1000"/>
              </a:spcBef>
              <a:spcAft>
                <a:spcPts val="0"/>
              </a:spcAft>
              <a:buClr>
                <a:srgbClr val="FFFFFF"/>
              </a:buClr>
              <a:buSzPts val="1200"/>
              <a:buChar char="•"/>
              <a:defRPr sz="1200">
                <a:solidFill>
                  <a:srgbClr val="FFFFFF"/>
                </a:solidFill>
              </a:defRPr>
            </a:lvl7pPr>
            <a:lvl8pPr indent="-304800" lvl="7" marL="3657600" rtl="0">
              <a:spcBef>
                <a:spcPts val="1000"/>
              </a:spcBef>
              <a:spcAft>
                <a:spcPts val="0"/>
              </a:spcAft>
              <a:buClr>
                <a:srgbClr val="FFFFFF"/>
              </a:buClr>
              <a:buSzPts val="1200"/>
              <a:buChar char="•"/>
              <a:defRPr sz="1200">
                <a:solidFill>
                  <a:srgbClr val="FFFFFF"/>
                </a:solidFill>
              </a:defRPr>
            </a:lvl8pPr>
            <a:lvl9pPr indent="-304800" lvl="8" marL="4114800" rtl="0">
              <a:spcBef>
                <a:spcPts val="1000"/>
              </a:spcBef>
              <a:spcAft>
                <a:spcPts val="1000"/>
              </a:spcAft>
              <a:buClr>
                <a:srgbClr val="FFFFFF"/>
              </a:buClr>
              <a:buSzPts val="1200"/>
              <a:buChar char="•"/>
              <a:defRPr sz="1200">
                <a:solidFill>
                  <a:srgbClr val="FFFFFF"/>
                </a:solidFill>
              </a:defRPr>
            </a:lvl9pPr>
          </a:lstStyle>
          <a:p/>
        </p:txBody>
      </p:sp>
      <p:sp>
        <p:nvSpPr>
          <p:cNvPr id="115" name="Google Shape;115;p1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16" name="Shape 116"/>
        <p:cNvGrpSpPr/>
        <p:nvPr/>
      </p:nvGrpSpPr>
      <p:grpSpPr>
        <a:xfrm>
          <a:off x="0" y="0"/>
          <a:ext cx="0" cy="0"/>
          <a:chOff x="0" y="0"/>
          <a:chExt cx="0" cy="0"/>
        </a:xfrm>
      </p:grpSpPr>
      <p:sp>
        <p:nvSpPr>
          <p:cNvPr id="117" name="Google Shape;117;p13"/>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Lato"/>
              <a:ea typeface="Lato"/>
              <a:cs typeface="Lato"/>
              <a:sym typeface="Lato"/>
            </a:endParaRPr>
          </a:p>
        </p:txBody>
      </p:sp>
      <p:sp>
        <p:nvSpPr>
          <p:cNvPr id="118" name="Google Shape;118;p13"/>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19" name="Google Shape;119;p13"/>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0" name="Google Shape;120;p13"/>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1" name="Google Shape;121;p13"/>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22" name="Google Shape;122;p13"/>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3" name="Google Shape;123;p13"/>
          <p:cNvSpPr txBox="1"/>
          <p:nvPr>
            <p:ph idx="1"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rtl="0" algn="l">
              <a:lnSpc>
                <a:spcPct val="105000"/>
              </a:lnSpc>
              <a:spcBef>
                <a:spcPts val="0"/>
              </a:spcBef>
              <a:spcAft>
                <a:spcPts val="0"/>
              </a:spcAft>
              <a:buClr>
                <a:srgbClr val="5B5B5B"/>
              </a:buClr>
              <a:buSzPts val="1600"/>
              <a:buNone/>
              <a:defRPr sz="1600">
                <a:solidFill>
                  <a:srgbClr val="5B5B5B"/>
                </a:solidFill>
              </a:defRPr>
            </a:lvl1pPr>
            <a:lvl2pPr indent="-342900" lvl="1" marL="914400" rtl="0" algn="l">
              <a:lnSpc>
                <a:spcPct val="105000"/>
              </a:lnSpc>
              <a:spcBef>
                <a:spcPts val="1000"/>
              </a:spcBef>
              <a:spcAft>
                <a:spcPts val="0"/>
              </a:spcAft>
              <a:buClr>
                <a:srgbClr val="5B5B5B"/>
              </a:buClr>
              <a:buSzPts val="1800"/>
              <a:buChar char="•"/>
              <a:defRPr>
                <a:solidFill>
                  <a:srgbClr val="5B5B5B"/>
                </a:solidFill>
              </a:defRPr>
            </a:lvl2pPr>
            <a:lvl3pPr indent="-342900" lvl="2" marL="1371600" rtl="0" algn="l">
              <a:lnSpc>
                <a:spcPct val="105000"/>
              </a:lnSpc>
              <a:spcBef>
                <a:spcPts val="1000"/>
              </a:spcBef>
              <a:spcAft>
                <a:spcPts val="0"/>
              </a:spcAft>
              <a:buClr>
                <a:srgbClr val="5B5B5B"/>
              </a:buClr>
              <a:buSzPts val="1800"/>
              <a:buChar char="•"/>
              <a:defRPr>
                <a:solidFill>
                  <a:srgbClr val="5B5B5B"/>
                </a:solidFill>
              </a:defRPr>
            </a:lvl3pPr>
            <a:lvl4pPr indent="-342900" lvl="3" marL="1828800" rtl="0" algn="l">
              <a:lnSpc>
                <a:spcPct val="105000"/>
              </a:lnSpc>
              <a:spcBef>
                <a:spcPts val="1000"/>
              </a:spcBef>
              <a:spcAft>
                <a:spcPts val="0"/>
              </a:spcAft>
              <a:buClr>
                <a:srgbClr val="5B5B5B"/>
              </a:buClr>
              <a:buSzPts val="1800"/>
              <a:buChar char="•"/>
              <a:defRPr>
                <a:solidFill>
                  <a:srgbClr val="5B5B5B"/>
                </a:solidFill>
              </a:defRPr>
            </a:lvl4pPr>
            <a:lvl5pPr indent="-342900" lvl="4" marL="2286000" rtl="0" algn="l">
              <a:lnSpc>
                <a:spcPct val="105000"/>
              </a:lnSpc>
              <a:spcBef>
                <a:spcPts val="1000"/>
              </a:spcBef>
              <a:spcAft>
                <a:spcPts val="0"/>
              </a:spcAft>
              <a:buClr>
                <a:srgbClr val="5B5B5B"/>
              </a:buClr>
              <a:buSzPts val="1800"/>
              <a:buChar char="•"/>
              <a:defRPr>
                <a:solidFill>
                  <a:srgbClr val="5B5B5B"/>
                </a:solidFill>
              </a:defRPr>
            </a:lvl5pPr>
            <a:lvl6pPr indent="-342900" lvl="5" marL="2743200" rtl="0" algn="l">
              <a:lnSpc>
                <a:spcPct val="105000"/>
              </a:lnSpc>
              <a:spcBef>
                <a:spcPts val="1000"/>
              </a:spcBef>
              <a:spcAft>
                <a:spcPts val="0"/>
              </a:spcAft>
              <a:buClr>
                <a:srgbClr val="5B5B5B"/>
              </a:buClr>
              <a:buSzPts val="1800"/>
              <a:buChar char="•"/>
              <a:defRPr>
                <a:solidFill>
                  <a:srgbClr val="5B5B5B"/>
                </a:solidFill>
              </a:defRPr>
            </a:lvl6pPr>
            <a:lvl7pPr indent="-342900" lvl="6" marL="3200400" rtl="0" algn="l">
              <a:lnSpc>
                <a:spcPct val="105000"/>
              </a:lnSpc>
              <a:spcBef>
                <a:spcPts val="1000"/>
              </a:spcBef>
              <a:spcAft>
                <a:spcPts val="0"/>
              </a:spcAft>
              <a:buClr>
                <a:srgbClr val="5B5B5B"/>
              </a:buClr>
              <a:buSzPts val="1800"/>
              <a:buChar char="•"/>
              <a:defRPr>
                <a:solidFill>
                  <a:srgbClr val="5B5B5B"/>
                </a:solidFill>
              </a:defRPr>
            </a:lvl7pPr>
            <a:lvl8pPr indent="-342900" lvl="7" marL="3657600" rtl="0" algn="l">
              <a:lnSpc>
                <a:spcPct val="105000"/>
              </a:lnSpc>
              <a:spcBef>
                <a:spcPts val="1000"/>
              </a:spcBef>
              <a:spcAft>
                <a:spcPts val="0"/>
              </a:spcAft>
              <a:buClr>
                <a:srgbClr val="5B5B5B"/>
              </a:buClr>
              <a:buSzPts val="1800"/>
              <a:buChar char="•"/>
              <a:defRPr>
                <a:solidFill>
                  <a:srgbClr val="5B5B5B"/>
                </a:solidFill>
              </a:defRPr>
            </a:lvl8pPr>
            <a:lvl9pPr indent="-342900" lvl="8" marL="4114800" rtl="0" algn="l">
              <a:lnSpc>
                <a:spcPct val="105000"/>
              </a:lnSpc>
              <a:spcBef>
                <a:spcPts val="1000"/>
              </a:spcBef>
              <a:spcAft>
                <a:spcPts val="1000"/>
              </a:spcAft>
              <a:buClr>
                <a:srgbClr val="5B5B5B"/>
              </a:buClr>
              <a:buSzPts val="1800"/>
              <a:buChar char="•"/>
              <a:defRPr>
                <a:solidFill>
                  <a:srgbClr val="5B5B5B"/>
                </a:solidFill>
              </a:defRPr>
            </a:lvl9pPr>
          </a:lstStyle>
          <a:p/>
        </p:txBody>
      </p:sp>
      <p:sp>
        <p:nvSpPr>
          <p:cNvPr id="124" name="Google Shape;124;p13"/>
          <p:cNvSpPr txBox="1"/>
          <p:nvPr>
            <p:ph type="title"/>
          </p:nvPr>
        </p:nvSpPr>
        <p:spPr>
          <a:xfrm>
            <a:off x="365755" y="274320"/>
            <a:ext cx="3978900" cy="6279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25" name="Google Shape;125;p1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1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27" name="Google Shape;127;p1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pic>
        <p:nvPicPr>
          <p:cNvPr id="128" name="Google Shape;128;p13"/>
          <p:cNvPicPr preferRelativeResize="0"/>
          <p:nvPr/>
        </p:nvPicPr>
        <p:blipFill rotWithShape="1">
          <a:blip r:embed="rId2">
            <a:alphaModFix/>
          </a:blip>
          <a:srcRect b="9584" l="13585" r="0" t="0"/>
          <a:stretch/>
        </p:blipFill>
        <p:spPr>
          <a:xfrm>
            <a:off x="4572000" y="3214250"/>
            <a:ext cx="1693648" cy="1929252"/>
          </a:xfrm>
          <a:prstGeom prst="rect">
            <a:avLst/>
          </a:prstGeom>
          <a:noFill/>
          <a:ln>
            <a:noFill/>
          </a:ln>
        </p:spPr>
      </p:pic>
      <p:sp>
        <p:nvSpPr>
          <p:cNvPr id="129" name="Google Shape;129;p13"/>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30" name="Google Shape;130;p13"/>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SzPts val="1800"/>
              <a:buChar char="•"/>
              <a:defRPr i="0" sz="1800" u="none" cap="none" strike="noStrike">
                <a:solidFill>
                  <a:schemeClr val="lt1"/>
                </a:solidFill>
              </a:defRPr>
            </a:lvl1pPr>
            <a:lvl2pPr indent="-342900" lvl="1" marL="914400" marR="0" rtl="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rtl="0" algn="l">
              <a:lnSpc>
                <a:spcPct val="115000"/>
              </a:lnSpc>
              <a:spcBef>
                <a:spcPts val="1000"/>
              </a:spcBef>
              <a:spcAft>
                <a:spcPts val="0"/>
              </a:spcAft>
              <a:buSzPts val="1400"/>
              <a:buChar char="•"/>
              <a:defRPr i="0" u="none" cap="none" strike="noStrike">
                <a:solidFill>
                  <a:schemeClr val="lt1"/>
                </a:solidFill>
              </a:defRPr>
            </a:lvl3pPr>
            <a:lvl4pPr indent="-317500" lvl="3" marL="1828800" marR="0" rtl="0" algn="l">
              <a:lnSpc>
                <a:spcPct val="115000"/>
              </a:lnSpc>
              <a:spcBef>
                <a:spcPts val="1000"/>
              </a:spcBef>
              <a:spcAft>
                <a:spcPts val="0"/>
              </a:spcAft>
              <a:buSzPts val="1400"/>
              <a:buChar char="•"/>
              <a:defRPr i="0" u="none" cap="none" strike="noStrike">
                <a:solidFill>
                  <a:schemeClr val="lt1"/>
                </a:solidFill>
              </a:defRPr>
            </a:lvl4pPr>
            <a:lvl5pPr indent="-317500" lvl="4" marL="2286000" marR="0" rtl="0" algn="l">
              <a:lnSpc>
                <a:spcPct val="115000"/>
              </a:lnSpc>
              <a:spcBef>
                <a:spcPts val="1000"/>
              </a:spcBef>
              <a:spcAft>
                <a:spcPts val="0"/>
              </a:spcAft>
              <a:buSzPts val="1400"/>
              <a:buChar char="•"/>
              <a:defRPr i="0" u="none" cap="none" strike="noStrike">
                <a:solidFill>
                  <a:schemeClr val="lt1"/>
                </a:solidFill>
              </a:defRPr>
            </a:lvl5pPr>
            <a:lvl6pPr indent="-317500" lvl="5" marL="2743200" marR="0" rtl="0" algn="l">
              <a:lnSpc>
                <a:spcPct val="115000"/>
              </a:lnSpc>
              <a:spcBef>
                <a:spcPts val="1000"/>
              </a:spcBef>
              <a:spcAft>
                <a:spcPts val="0"/>
              </a:spcAft>
              <a:buSzPts val="1400"/>
              <a:buChar char="•"/>
              <a:defRPr i="0" u="none" cap="none" strike="noStrike">
                <a:solidFill>
                  <a:schemeClr val="lt1"/>
                </a:solidFill>
              </a:defRPr>
            </a:lvl6pPr>
            <a:lvl7pPr indent="-317500" lvl="6" marL="3200400" marR="0" rtl="0" algn="l">
              <a:lnSpc>
                <a:spcPct val="115000"/>
              </a:lnSpc>
              <a:spcBef>
                <a:spcPts val="1000"/>
              </a:spcBef>
              <a:spcAft>
                <a:spcPts val="0"/>
              </a:spcAft>
              <a:buSzPts val="1400"/>
              <a:buChar char="•"/>
              <a:defRPr i="0" u="none" cap="none" strike="noStrike">
                <a:solidFill>
                  <a:schemeClr val="lt1"/>
                </a:solidFill>
              </a:defRPr>
            </a:lvl7pPr>
            <a:lvl8pPr indent="-317500" lvl="7" marL="3657600" marR="0" rtl="0" algn="l">
              <a:lnSpc>
                <a:spcPct val="115000"/>
              </a:lnSpc>
              <a:spcBef>
                <a:spcPts val="1000"/>
              </a:spcBef>
              <a:spcAft>
                <a:spcPts val="0"/>
              </a:spcAft>
              <a:buSzPts val="1400"/>
              <a:buChar char="•"/>
              <a:defRPr i="0" u="none" cap="none" strike="noStrike">
                <a:solidFill>
                  <a:schemeClr val="lt1"/>
                </a:solidFill>
              </a:defRPr>
            </a:lvl8pPr>
            <a:lvl9pPr indent="-317500" lvl="8" marL="4114800" marR="0" rtl="0" algn="l">
              <a:lnSpc>
                <a:spcPct val="115000"/>
              </a:lnSpc>
              <a:spcBef>
                <a:spcPts val="1000"/>
              </a:spcBef>
              <a:spcAft>
                <a:spcPts val="1000"/>
              </a:spcAft>
              <a:buSzPts val="1400"/>
              <a:buChar char="•"/>
              <a:defRPr i="0" u="none" cap="none" strike="noStrike">
                <a:solidFill>
                  <a:schemeClr val="lt1"/>
                </a:solidFill>
              </a:defRPr>
            </a:lvl9pPr>
          </a:lstStyle>
          <a:p/>
        </p:txBody>
      </p:sp>
      <p:sp>
        <p:nvSpPr>
          <p:cNvPr id="131" name="Google Shape;131;p1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32" name="Shape 132"/>
        <p:cNvGrpSpPr/>
        <p:nvPr/>
      </p:nvGrpSpPr>
      <p:grpSpPr>
        <a:xfrm>
          <a:off x="0" y="0"/>
          <a:ext cx="0" cy="0"/>
          <a:chOff x="0" y="0"/>
          <a:chExt cx="0" cy="0"/>
        </a:xfrm>
      </p:grpSpPr>
      <p:sp>
        <p:nvSpPr>
          <p:cNvPr id="133" name="Google Shape;133;p1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1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5" name="Google Shape;135;p1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136" name="Shape 136"/>
        <p:cNvGrpSpPr/>
        <p:nvPr/>
      </p:nvGrpSpPr>
      <p:grpSpPr>
        <a:xfrm>
          <a:off x="0" y="0"/>
          <a:ext cx="0" cy="0"/>
          <a:chOff x="0" y="0"/>
          <a:chExt cx="0" cy="0"/>
        </a:xfrm>
      </p:grpSpPr>
      <p:grpSp>
        <p:nvGrpSpPr>
          <p:cNvPr id="137" name="Google Shape;137;p15"/>
          <p:cNvGrpSpPr/>
          <p:nvPr/>
        </p:nvGrpSpPr>
        <p:grpSpPr>
          <a:xfrm>
            <a:off x="-10" y="3770439"/>
            <a:ext cx="9143997" cy="1371564"/>
            <a:chOff x="-10" y="3735321"/>
            <a:chExt cx="9139427" cy="1408177"/>
          </a:xfrm>
        </p:grpSpPr>
        <p:pic>
          <p:nvPicPr>
            <p:cNvPr id="138" name="Google Shape;138;p1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39" name="Google Shape;139;p1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40" name="Google Shape;140;p1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grpSp>
        <p:nvGrpSpPr>
          <p:cNvPr id="141" name="Google Shape;141;p15"/>
          <p:cNvGrpSpPr/>
          <p:nvPr/>
        </p:nvGrpSpPr>
        <p:grpSpPr>
          <a:xfrm>
            <a:off x="-10" y="3770439"/>
            <a:ext cx="9143997" cy="1371564"/>
            <a:chOff x="-10" y="3735321"/>
            <a:chExt cx="9139427" cy="1408177"/>
          </a:xfrm>
        </p:grpSpPr>
        <p:pic>
          <p:nvPicPr>
            <p:cNvPr id="142" name="Google Shape;142;p1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43" name="Google Shape;143;p1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44" name="Google Shape;144;p1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145" name="Google Shape;145;p15"/>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46" name="Google Shape;146;p15"/>
          <p:cNvSpPr txBox="1"/>
          <p:nvPr>
            <p:ph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7" name="Google Shape;147;p15"/>
          <p:cNvSpPr txBox="1"/>
          <p:nvPr>
            <p:ph idx="2"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8" name="Google Shape;148;p15"/>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149" name="Google Shape;149;p15"/>
          <p:cNvSpPr txBox="1"/>
          <p:nvPr>
            <p:ph idx="3" type="title"/>
          </p:nvPr>
        </p:nvSpPr>
        <p:spPr>
          <a:xfrm>
            <a:off x="366600" y="1188725"/>
            <a:ext cx="7410900" cy="1920300"/>
          </a:xfrm>
          <a:prstGeom prst="rect">
            <a:avLst/>
          </a:prstGeom>
          <a:noFill/>
          <a:ln>
            <a:noFill/>
          </a:ln>
        </p:spPr>
        <p:txBody>
          <a:bodyPr anchorCtr="0" anchor="b" bIns="91425" lIns="91425" spcFirstLastPara="1" rIns="91425" wrap="square" tIns="91425">
            <a:noAutofit/>
          </a:bodyPr>
          <a:lstStyle>
            <a:lvl1pPr lvl="0" marR="0" rtl="0">
              <a:lnSpc>
                <a:spcPct val="85000"/>
              </a:lnSpc>
              <a:spcBef>
                <a:spcPts val="0"/>
              </a:spcBef>
              <a:spcAft>
                <a:spcPts val="0"/>
              </a:spcAft>
              <a:buClr>
                <a:schemeClr val="dk1"/>
              </a:buClr>
              <a:buSzPts val="4400"/>
              <a:buNone/>
              <a:defRPr i="0" sz="4400" u="none" cap="none" strike="noStrike">
                <a:solidFill>
                  <a:schemeClr val="dk1"/>
                </a:solidFill>
              </a:defRPr>
            </a:lvl1pPr>
            <a:lvl2pPr lvl="1" rtl="0">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rtl="0">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rtl="0">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rtl="0">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rtl="0">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rtl="0">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rtl="0">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rtl="0">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150" name="Shape 150"/>
        <p:cNvGrpSpPr/>
        <p:nvPr/>
      </p:nvGrpSpPr>
      <p:grpSpPr>
        <a:xfrm>
          <a:off x="0" y="0"/>
          <a:ext cx="0" cy="0"/>
          <a:chOff x="0" y="0"/>
          <a:chExt cx="0" cy="0"/>
        </a:xfrm>
      </p:grpSpPr>
      <p:grpSp>
        <p:nvGrpSpPr>
          <p:cNvPr id="151" name="Google Shape;151;p16"/>
          <p:cNvGrpSpPr/>
          <p:nvPr/>
        </p:nvGrpSpPr>
        <p:grpSpPr>
          <a:xfrm>
            <a:off x="-2" y="2914850"/>
            <a:ext cx="9143627" cy="2228425"/>
            <a:chOff x="-834856" y="2711517"/>
            <a:chExt cx="9978858" cy="2431981"/>
          </a:xfrm>
        </p:grpSpPr>
        <p:pic>
          <p:nvPicPr>
            <p:cNvPr id="152" name="Google Shape;152;p16"/>
            <p:cNvPicPr preferRelativeResize="0"/>
            <p:nvPr/>
          </p:nvPicPr>
          <p:blipFill rotWithShape="1">
            <a:blip r:embed="rId2">
              <a:alphaModFix amt="85000"/>
            </a:blip>
            <a:srcRect b="30783" l="45993" r="0" t="24707"/>
            <a:stretch/>
          </p:blipFill>
          <p:spPr>
            <a:xfrm>
              <a:off x="-834856" y="2711517"/>
              <a:ext cx="3540541" cy="2431980"/>
            </a:xfrm>
            <a:prstGeom prst="rect">
              <a:avLst/>
            </a:prstGeom>
            <a:noFill/>
            <a:ln>
              <a:noFill/>
            </a:ln>
          </p:spPr>
        </p:pic>
        <p:pic>
          <p:nvPicPr>
            <p:cNvPr id="153" name="Google Shape;153;p16"/>
            <p:cNvPicPr preferRelativeResize="0"/>
            <p:nvPr/>
          </p:nvPicPr>
          <p:blipFill rotWithShape="1">
            <a:blip r:embed="rId3">
              <a:alphaModFix amt="85000"/>
            </a:blip>
            <a:srcRect b="30786" l="0" r="1932" t="25271"/>
            <a:stretch/>
          </p:blipFill>
          <p:spPr>
            <a:xfrm>
              <a:off x="2715550" y="2742300"/>
              <a:ext cx="6428452" cy="2401198"/>
            </a:xfrm>
            <a:prstGeom prst="rect">
              <a:avLst/>
            </a:prstGeom>
            <a:noFill/>
            <a:ln>
              <a:noFill/>
            </a:ln>
          </p:spPr>
        </p:pic>
      </p:grpSp>
      <p:sp>
        <p:nvSpPr>
          <p:cNvPr id="154" name="Google Shape;154;p16"/>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55" name="Google Shape;155;p16"/>
          <p:cNvSpPr txBox="1"/>
          <p:nvPr>
            <p:ph type="title"/>
          </p:nvPr>
        </p:nvSpPr>
        <p:spPr>
          <a:xfrm>
            <a:off x="366600" y="1188725"/>
            <a:ext cx="74034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rtl="0">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rtl="0">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rtl="0">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rtl="0">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rtl="0">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rtl="0">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rtl="0">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
        <p:nvSpPr>
          <p:cNvPr id="156" name="Google Shape;156;p16"/>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7" name="Google Shape;157;p16"/>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8" name="Google Shape;158;p16"/>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159" name="Shape 159"/>
        <p:cNvGrpSpPr/>
        <p:nvPr/>
      </p:nvGrpSpPr>
      <p:grpSpPr>
        <a:xfrm>
          <a:off x="0" y="0"/>
          <a:ext cx="0" cy="0"/>
          <a:chOff x="0" y="0"/>
          <a:chExt cx="0" cy="0"/>
        </a:xfrm>
      </p:grpSpPr>
      <p:grpSp>
        <p:nvGrpSpPr>
          <p:cNvPr id="160" name="Google Shape;160;p17"/>
          <p:cNvGrpSpPr/>
          <p:nvPr/>
        </p:nvGrpSpPr>
        <p:grpSpPr>
          <a:xfrm rot="-5400000">
            <a:off x="5223451" y="1196298"/>
            <a:ext cx="5164226" cy="2747927"/>
            <a:chOff x="1155183" y="3814094"/>
            <a:chExt cx="3118306" cy="1659276"/>
          </a:xfrm>
        </p:grpSpPr>
        <p:pic>
          <p:nvPicPr>
            <p:cNvPr id="161" name="Google Shape;161;p17"/>
            <p:cNvPicPr preferRelativeResize="0"/>
            <p:nvPr/>
          </p:nvPicPr>
          <p:blipFill rotWithShape="1">
            <a:blip r:embed="rId2">
              <a:alphaModFix/>
            </a:blip>
            <a:srcRect b="10228" l="37919" r="0" t="24706"/>
            <a:stretch/>
          </p:blipFill>
          <p:spPr>
            <a:xfrm>
              <a:off x="1155183" y="3814094"/>
              <a:ext cx="1891297" cy="1652133"/>
            </a:xfrm>
            <a:prstGeom prst="rect">
              <a:avLst/>
            </a:prstGeom>
            <a:noFill/>
            <a:ln>
              <a:noFill/>
            </a:ln>
          </p:spPr>
        </p:pic>
        <p:pic>
          <p:nvPicPr>
            <p:cNvPr id="162" name="Google Shape;162;p17"/>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163" name="Google Shape;163;p17"/>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64" name="Google Shape;164;p17"/>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1400"/>
              <a:buFont typeface="Arial Black"/>
              <a:buNone/>
              <a:defRPr b="0" sz="1800">
                <a:latin typeface="Arial Black"/>
                <a:ea typeface="Arial Black"/>
                <a:cs typeface="Arial Black"/>
                <a:sym typeface="Arial Black"/>
              </a:defRPr>
            </a:lvl2pPr>
            <a:lvl3pPr lvl="2" rtl="0">
              <a:lnSpc>
                <a:spcPct val="74000"/>
              </a:lnSpc>
              <a:spcBef>
                <a:spcPts val="0"/>
              </a:spcBef>
              <a:spcAft>
                <a:spcPts val="0"/>
              </a:spcAft>
              <a:buSzPts val="1400"/>
              <a:buFont typeface="Arial Black"/>
              <a:buNone/>
              <a:defRPr b="0" sz="1800">
                <a:latin typeface="Arial Black"/>
                <a:ea typeface="Arial Black"/>
                <a:cs typeface="Arial Black"/>
                <a:sym typeface="Arial Black"/>
              </a:defRPr>
            </a:lvl3pPr>
            <a:lvl4pPr lvl="3" rtl="0">
              <a:lnSpc>
                <a:spcPct val="74000"/>
              </a:lnSpc>
              <a:spcBef>
                <a:spcPts val="0"/>
              </a:spcBef>
              <a:spcAft>
                <a:spcPts val="0"/>
              </a:spcAft>
              <a:buSzPts val="1400"/>
              <a:buFont typeface="Arial Black"/>
              <a:buNone/>
              <a:defRPr b="0" sz="1800">
                <a:latin typeface="Arial Black"/>
                <a:ea typeface="Arial Black"/>
                <a:cs typeface="Arial Black"/>
                <a:sym typeface="Arial Black"/>
              </a:defRPr>
            </a:lvl4pPr>
            <a:lvl5pPr lvl="4" rtl="0">
              <a:lnSpc>
                <a:spcPct val="74000"/>
              </a:lnSpc>
              <a:spcBef>
                <a:spcPts val="0"/>
              </a:spcBef>
              <a:spcAft>
                <a:spcPts val="0"/>
              </a:spcAft>
              <a:buSzPts val="1400"/>
              <a:buFont typeface="Arial Black"/>
              <a:buNone/>
              <a:defRPr b="0" sz="1800">
                <a:latin typeface="Arial Black"/>
                <a:ea typeface="Arial Black"/>
                <a:cs typeface="Arial Black"/>
                <a:sym typeface="Arial Black"/>
              </a:defRPr>
            </a:lvl5pPr>
            <a:lvl6pPr lvl="5" rtl="0">
              <a:lnSpc>
                <a:spcPct val="74000"/>
              </a:lnSpc>
              <a:spcBef>
                <a:spcPts val="0"/>
              </a:spcBef>
              <a:spcAft>
                <a:spcPts val="0"/>
              </a:spcAft>
              <a:buSzPts val="1400"/>
              <a:buFont typeface="Arial Black"/>
              <a:buNone/>
              <a:defRPr b="0" sz="1800">
                <a:latin typeface="Arial Black"/>
                <a:ea typeface="Arial Black"/>
                <a:cs typeface="Arial Black"/>
                <a:sym typeface="Arial Black"/>
              </a:defRPr>
            </a:lvl6pPr>
            <a:lvl7pPr lvl="6" rtl="0">
              <a:lnSpc>
                <a:spcPct val="74000"/>
              </a:lnSpc>
              <a:spcBef>
                <a:spcPts val="0"/>
              </a:spcBef>
              <a:spcAft>
                <a:spcPts val="0"/>
              </a:spcAft>
              <a:buSzPts val="1400"/>
              <a:buFont typeface="Arial Black"/>
              <a:buNone/>
              <a:defRPr b="0" sz="1800">
                <a:latin typeface="Arial Black"/>
                <a:ea typeface="Arial Black"/>
                <a:cs typeface="Arial Black"/>
                <a:sym typeface="Arial Black"/>
              </a:defRPr>
            </a:lvl7pPr>
            <a:lvl8pPr lvl="7" rtl="0">
              <a:lnSpc>
                <a:spcPct val="74000"/>
              </a:lnSpc>
              <a:spcBef>
                <a:spcPts val="0"/>
              </a:spcBef>
              <a:spcAft>
                <a:spcPts val="0"/>
              </a:spcAft>
              <a:buSzPts val="1400"/>
              <a:buFont typeface="Arial Black"/>
              <a:buNone/>
              <a:defRPr b="0" sz="1800">
                <a:latin typeface="Arial Black"/>
                <a:ea typeface="Arial Black"/>
                <a:cs typeface="Arial Black"/>
                <a:sym typeface="Arial Black"/>
              </a:defRPr>
            </a:lvl8pPr>
            <a:lvl9pPr lvl="8" rtl="0">
              <a:lnSpc>
                <a:spcPct val="74000"/>
              </a:lnSpc>
              <a:spcBef>
                <a:spcPts val="0"/>
              </a:spcBef>
              <a:spcAft>
                <a:spcPts val="0"/>
              </a:spcAft>
              <a:buSzPts val="1400"/>
              <a:buFont typeface="Arial Black"/>
              <a:buNone/>
              <a:defRPr b="0" sz="1800">
                <a:latin typeface="Arial Black"/>
                <a:ea typeface="Arial Black"/>
                <a:cs typeface="Arial Black"/>
                <a:sym typeface="Arial Black"/>
              </a:defRPr>
            </a:lvl9pPr>
          </a:lstStyle>
          <a:p/>
        </p:txBody>
      </p:sp>
      <p:sp>
        <p:nvSpPr>
          <p:cNvPr id="165" name="Google Shape;165;p17"/>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66" name="Google Shape;166;p17"/>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67" name="Google Shape;167;p17"/>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168" name="Shape 168"/>
        <p:cNvGrpSpPr/>
        <p:nvPr/>
      </p:nvGrpSpPr>
      <p:grpSpPr>
        <a:xfrm>
          <a:off x="0" y="0"/>
          <a:ext cx="0" cy="0"/>
          <a:chOff x="0" y="0"/>
          <a:chExt cx="0" cy="0"/>
        </a:xfrm>
      </p:grpSpPr>
      <p:sp>
        <p:nvSpPr>
          <p:cNvPr id="169" name="Google Shape;169;p18"/>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70" name="Google Shape;170;p18"/>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105000"/>
              </a:lnSpc>
              <a:spcBef>
                <a:spcPts val="0"/>
              </a:spcBef>
              <a:spcAft>
                <a:spcPts val="0"/>
              </a:spcAft>
              <a:buSzPts val="1400"/>
              <a:buFont typeface="Arial Black"/>
              <a:buNone/>
              <a:defRPr b="0" sz="1800">
                <a:latin typeface="Arial Black"/>
                <a:ea typeface="Arial Black"/>
                <a:cs typeface="Arial Black"/>
                <a:sym typeface="Arial Black"/>
              </a:defRPr>
            </a:lvl2pPr>
            <a:lvl3pPr lvl="2"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3pPr>
            <a:lvl4pPr lvl="3"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4pPr>
            <a:lvl5pPr lvl="4"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5pPr>
            <a:lvl6pPr lvl="5"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6pPr>
            <a:lvl7pPr lvl="6"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7pPr>
            <a:lvl8pPr lvl="7"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8pPr>
            <a:lvl9pPr lvl="8" rtl="0">
              <a:lnSpc>
                <a:spcPct val="105000"/>
              </a:lnSpc>
              <a:spcBef>
                <a:spcPts val="1000"/>
              </a:spcBef>
              <a:spcAft>
                <a:spcPts val="1000"/>
              </a:spcAft>
              <a:buSzPts val="1400"/>
              <a:buFont typeface="Arial Black"/>
              <a:buNone/>
              <a:defRPr b="0" sz="1800">
                <a:latin typeface="Arial Black"/>
                <a:ea typeface="Arial Black"/>
                <a:cs typeface="Arial Black"/>
                <a:sym typeface="Arial Black"/>
              </a:defRPr>
            </a:lvl9pPr>
          </a:lstStyle>
          <a:p/>
        </p:txBody>
      </p:sp>
      <p:sp>
        <p:nvSpPr>
          <p:cNvPr id="171" name="Google Shape;171;p18"/>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72" name="Google Shape;172;p18"/>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73" name="Google Shape;173;p18"/>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174" name="Shape 174"/>
        <p:cNvGrpSpPr/>
        <p:nvPr/>
      </p:nvGrpSpPr>
      <p:grpSpPr>
        <a:xfrm>
          <a:off x="0" y="0"/>
          <a:ext cx="0" cy="0"/>
          <a:chOff x="0" y="0"/>
          <a:chExt cx="0" cy="0"/>
        </a:xfrm>
      </p:grpSpPr>
      <p:grpSp>
        <p:nvGrpSpPr>
          <p:cNvPr id="175" name="Google Shape;175;p19"/>
          <p:cNvGrpSpPr/>
          <p:nvPr/>
        </p:nvGrpSpPr>
        <p:grpSpPr>
          <a:xfrm rot="-5400000">
            <a:off x="3113903" y="1996926"/>
            <a:ext cx="5157146" cy="1163295"/>
            <a:chOff x="49487" y="3735321"/>
            <a:chExt cx="6094477" cy="1408177"/>
          </a:xfrm>
        </p:grpSpPr>
        <p:pic>
          <p:nvPicPr>
            <p:cNvPr id="176" name="Google Shape;176;p1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77" name="Google Shape;177;p1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grpSp>
        <p:nvGrpSpPr>
          <p:cNvPr id="178" name="Google Shape;178;p19"/>
          <p:cNvGrpSpPr/>
          <p:nvPr/>
        </p:nvGrpSpPr>
        <p:grpSpPr>
          <a:xfrm rot="-5400000">
            <a:off x="3113903" y="1996926"/>
            <a:ext cx="5157146" cy="1163295"/>
            <a:chOff x="49487" y="3735321"/>
            <a:chExt cx="6094477" cy="1408177"/>
          </a:xfrm>
        </p:grpSpPr>
        <p:pic>
          <p:nvPicPr>
            <p:cNvPr id="179" name="Google Shape;179;p1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80" name="Google Shape;180;p1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sp>
        <p:nvSpPr>
          <p:cNvPr id="181" name="Google Shape;181;p1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1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2026</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83" name="Google Shape;183;p19"/>
          <p:cNvSpPr txBox="1"/>
          <p:nvPr>
            <p:ph type="title"/>
          </p:nvPr>
        </p:nvSpPr>
        <p:spPr>
          <a:xfrm>
            <a:off x="366600" y="1188725"/>
            <a:ext cx="57309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84" name="Google Shape;184;p1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85" name="Google Shape;185;p1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86" name="Google Shape;186;p19"/>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188" name="Shape 188"/>
        <p:cNvGrpSpPr/>
        <p:nvPr/>
      </p:nvGrpSpPr>
      <p:grpSpPr>
        <a:xfrm>
          <a:off x="0" y="0"/>
          <a:ext cx="0" cy="0"/>
          <a:chOff x="0" y="0"/>
          <a:chExt cx="0" cy="0"/>
        </a:xfrm>
      </p:grpSpPr>
      <p:sp>
        <p:nvSpPr>
          <p:cNvPr id="189" name="Google Shape;189;p2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
        <p:nvSpPr>
          <p:cNvPr id="190" name="Google Shape;190;p2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191" name="Google Shape;191;p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192" name="Shape 192"/>
        <p:cNvGrpSpPr/>
        <p:nvPr/>
      </p:nvGrpSpPr>
      <p:grpSpPr>
        <a:xfrm>
          <a:off x="0" y="0"/>
          <a:ext cx="0" cy="0"/>
          <a:chOff x="0" y="0"/>
          <a:chExt cx="0" cy="0"/>
        </a:xfrm>
      </p:grpSpPr>
      <p:sp>
        <p:nvSpPr>
          <p:cNvPr id="193" name="Google Shape;193;p2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194" name="Google Shape;194;p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pic>
        <p:nvPicPr>
          <p:cNvPr id="195" name="Google Shape;195;p21"/>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96" name="Google Shape;196;p21"/>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197" name="Google Shape;197;p2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198" name="Shape 198"/>
        <p:cNvGrpSpPr/>
        <p:nvPr/>
      </p:nvGrpSpPr>
      <p:grpSpPr>
        <a:xfrm>
          <a:off x="0" y="0"/>
          <a:ext cx="0" cy="0"/>
          <a:chOff x="0" y="0"/>
          <a:chExt cx="0" cy="0"/>
        </a:xfrm>
      </p:grpSpPr>
      <p:grpSp>
        <p:nvGrpSpPr>
          <p:cNvPr id="199" name="Google Shape;199;p22"/>
          <p:cNvGrpSpPr/>
          <p:nvPr/>
        </p:nvGrpSpPr>
        <p:grpSpPr>
          <a:xfrm>
            <a:off x="-10" y="3770439"/>
            <a:ext cx="9143997" cy="1371564"/>
            <a:chOff x="-10" y="3735321"/>
            <a:chExt cx="9139427" cy="1408177"/>
          </a:xfrm>
        </p:grpSpPr>
        <p:pic>
          <p:nvPicPr>
            <p:cNvPr id="200" name="Google Shape;200;p22"/>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201" name="Google Shape;201;p22"/>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202" name="Google Shape;202;p22"/>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203" name="Google Shape;203;p22"/>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04" name="Google Shape;204;p2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5" name="Google Shape;205;p22"/>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206" name="Shape 206"/>
        <p:cNvGrpSpPr/>
        <p:nvPr/>
      </p:nvGrpSpPr>
      <p:grpSpPr>
        <a:xfrm>
          <a:off x="0" y="0"/>
          <a:ext cx="0" cy="0"/>
          <a:chOff x="0" y="0"/>
          <a:chExt cx="0" cy="0"/>
        </a:xfrm>
      </p:grpSpPr>
      <p:sp>
        <p:nvSpPr>
          <p:cNvPr id="207" name="Google Shape;207;p23"/>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08" name="Google Shape;208;p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209" name="Google Shape;209;p23"/>
          <p:cNvGrpSpPr/>
          <p:nvPr/>
        </p:nvGrpSpPr>
        <p:grpSpPr>
          <a:xfrm>
            <a:off x="4" y="1803975"/>
            <a:ext cx="9143996" cy="3339526"/>
            <a:chOff x="4" y="1803975"/>
            <a:chExt cx="9143996" cy="3339526"/>
          </a:xfrm>
        </p:grpSpPr>
        <p:pic>
          <p:nvPicPr>
            <p:cNvPr id="210" name="Google Shape;210;p23"/>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211" name="Google Shape;211;p23"/>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
        <p:nvSpPr>
          <p:cNvPr id="212" name="Google Shape;212;p23"/>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213" name="Shape 213"/>
        <p:cNvGrpSpPr/>
        <p:nvPr/>
      </p:nvGrpSpPr>
      <p:grpSpPr>
        <a:xfrm>
          <a:off x="0" y="0"/>
          <a:ext cx="0" cy="0"/>
          <a:chOff x="0" y="0"/>
          <a:chExt cx="0" cy="0"/>
        </a:xfrm>
      </p:grpSpPr>
      <p:sp>
        <p:nvSpPr>
          <p:cNvPr id="214" name="Google Shape;214;p2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15" name="Google Shape;215;p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216" name="Google Shape;216;p24"/>
          <p:cNvGrpSpPr/>
          <p:nvPr/>
        </p:nvGrpSpPr>
        <p:grpSpPr>
          <a:xfrm rot="-5400000">
            <a:off x="5223451" y="1196298"/>
            <a:ext cx="5164226" cy="2747927"/>
            <a:chOff x="1155183" y="3814094"/>
            <a:chExt cx="3118306" cy="1659276"/>
          </a:xfrm>
        </p:grpSpPr>
        <p:pic>
          <p:nvPicPr>
            <p:cNvPr id="217" name="Google Shape;217;p24"/>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218" name="Google Shape;218;p24"/>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
        <p:nvSpPr>
          <p:cNvPr id="219" name="Google Shape;219;p2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220" name="Shape 220"/>
        <p:cNvGrpSpPr/>
        <p:nvPr/>
      </p:nvGrpSpPr>
      <p:grpSpPr>
        <a:xfrm>
          <a:off x="0" y="0"/>
          <a:ext cx="0" cy="0"/>
          <a:chOff x="0" y="0"/>
          <a:chExt cx="0" cy="0"/>
        </a:xfrm>
      </p:grpSpPr>
      <p:sp>
        <p:nvSpPr>
          <p:cNvPr id="221" name="Google Shape;221;p25"/>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b="1"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22" name="Google Shape;222;p2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23" name="Google Shape;223;p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4" name="Google Shape;224;p2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225" name="Google Shape;225;p25"/>
          <p:cNvGrpSpPr/>
          <p:nvPr/>
        </p:nvGrpSpPr>
        <p:grpSpPr>
          <a:xfrm>
            <a:off x="457209" y="474129"/>
            <a:ext cx="1177786" cy="857849"/>
            <a:chOff x="865451" y="2114550"/>
            <a:chExt cx="3399093" cy="2475755"/>
          </a:xfrm>
        </p:grpSpPr>
        <p:sp>
          <p:nvSpPr>
            <p:cNvPr id="226" name="Google Shape;226;p2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7" name="Google Shape;227;p2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28" name="Google Shape;228;p25"/>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229" name="Shape 229"/>
        <p:cNvGrpSpPr/>
        <p:nvPr/>
      </p:nvGrpSpPr>
      <p:grpSpPr>
        <a:xfrm>
          <a:off x="0" y="0"/>
          <a:ext cx="0" cy="0"/>
          <a:chOff x="0" y="0"/>
          <a:chExt cx="0" cy="0"/>
        </a:xfrm>
      </p:grpSpPr>
      <p:sp>
        <p:nvSpPr>
          <p:cNvPr id="230" name="Google Shape;230;p2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dk1"/>
              </a:buClr>
              <a:buSzPts val="4200"/>
              <a:buNone/>
              <a:defRPr b="1" sz="4200" cap="none">
                <a:solidFill>
                  <a:schemeClr val="dk1"/>
                </a:solidFill>
              </a:defRPr>
            </a:lvl1pPr>
            <a:lvl2pPr indent="-342900" lvl="1" marL="914400" rtl="0">
              <a:lnSpc>
                <a:spcPct val="100000"/>
              </a:lnSpc>
              <a:spcBef>
                <a:spcPts val="1000"/>
              </a:spcBef>
              <a:spcAft>
                <a:spcPts val="0"/>
              </a:spcAft>
              <a:buClr>
                <a:schemeClr val="dk1"/>
              </a:buClr>
              <a:buSzPts val="1800"/>
              <a:buChar char="•"/>
              <a:defRPr>
                <a:solidFill>
                  <a:schemeClr val="dk1"/>
                </a:solidFill>
              </a:defRPr>
            </a:lvl2pPr>
            <a:lvl3pPr indent="-342900" lvl="2" marL="1371600" rtl="0">
              <a:lnSpc>
                <a:spcPct val="100000"/>
              </a:lnSpc>
              <a:spcBef>
                <a:spcPts val="1000"/>
              </a:spcBef>
              <a:spcAft>
                <a:spcPts val="0"/>
              </a:spcAft>
              <a:buClr>
                <a:schemeClr val="dk1"/>
              </a:buClr>
              <a:buSzPts val="1800"/>
              <a:buChar char="•"/>
              <a:defRPr>
                <a:solidFill>
                  <a:schemeClr val="dk1"/>
                </a:solidFill>
              </a:defRPr>
            </a:lvl3pPr>
            <a:lvl4pPr indent="-342900" lvl="3" marL="1828800" rtl="0">
              <a:lnSpc>
                <a:spcPct val="100000"/>
              </a:lnSpc>
              <a:spcBef>
                <a:spcPts val="1000"/>
              </a:spcBef>
              <a:spcAft>
                <a:spcPts val="0"/>
              </a:spcAft>
              <a:buClr>
                <a:schemeClr val="dk1"/>
              </a:buClr>
              <a:buSzPts val="1800"/>
              <a:buChar char="•"/>
              <a:defRPr>
                <a:solidFill>
                  <a:schemeClr val="dk1"/>
                </a:solidFill>
              </a:defRPr>
            </a:lvl4pPr>
            <a:lvl5pPr indent="-342900" lvl="4" marL="2286000" rtl="0">
              <a:lnSpc>
                <a:spcPct val="100000"/>
              </a:lnSpc>
              <a:spcBef>
                <a:spcPts val="1000"/>
              </a:spcBef>
              <a:spcAft>
                <a:spcPts val="0"/>
              </a:spcAft>
              <a:buClr>
                <a:schemeClr val="dk1"/>
              </a:buClr>
              <a:buSzPts val="1800"/>
              <a:buChar char="•"/>
              <a:defRPr>
                <a:solidFill>
                  <a:schemeClr val="dk1"/>
                </a:solidFill>
              </a:defRPr>
            </a:lvl5pPr>
            <a:lvl6pPr indent="-342900" lvl="5" marL="2743200" rtl="0">
              <a:lnSpc>
                <a:spcPct val="100000"/>
              </a:lnSpc>
              <a:spcBef>
                <a:spcPts val="1000"/>
              </a:spcBef>
              <a:spcAft>
                <a:spcPts val="0"/>
              </a:spcAft>
              <a:buClr>
                <a:schemeClr val="dk1"/>
              </a:buClr>
              <a:buSzPts val="1800"/>
              <a:buChar char="•"/>
              <a:defRPr>
                <a:solidFill>
                  <a:schemeClr val="dk1"/>
                </a:solidFill>
              </a:defRPr>
            </a:lvl6pPr>
            <a:lvl7pPr indent="-342900" lvl="6" marL="3200400" rtl="0">
              <a:lnSpc>
                <a:spcPct val="100000"/>
              </a:lnSpc>
              <a:spcBef>
                <a:spcPts val="1000"/>
              </a:spcBef>
              <a:spcAft>
                <a:spcPts val="0"/>
              </a:spcAft>
              <a:buClr>
                <a:schemeClr val="dk1"/>
              </a:buClr>
              <a:buSzPts val="1800"/>
              <a:buChar char="•"/>
              <a:defRPr>
                <a:solidFill>
                  <a:schemeClr val="dk1"/>
                </a:solidFill>
              </a:defRPr>
            </a:lvl7pPr>
            <a:lvl8pPr indent="-342900" lvl="7" marL="3657600" rtl="0">
              <a:lnSpc>
                <a:spcPct val="100000"/>
              </a:lnSpc>
              <a:spcBef>
                <a:spcPts val="1000"/>
              </a:spcBef>
              <a:spcAft>
                <a:spcPts val="0"/>
              </a:spcAft>
              <a:buClr>
                <a:schemeClr val="dk1"/>
              </a:buClr>
              <a:buSzPts val="1800"/>
              <a:buChar char="•"/>
              <a:defRPr>
                <a:solidFill>
                  <a:schemeClr val="dk1"/>
                </a:solidFill>
              </a:defRPr>
            </a:lvl8pPr>
            <a:lvl9pPr indent="-342900" lvl="8" marL="4114800" rtl="0">
              <a:lnSpc>
                <a:spcPct val="100000"/>
              </a:lnSpc>
              <a:spcBef>
                <a:spcPts val="1000"/>
              </a:spcBef>
              <a:spcAft>
                <a:spcPts val="1000"/>
              </a:spcAft>
              <a:buClr>
                <a:schemeClr val="dk1"/>
              </a:buClr>
              <a:buSzPts val="1800"/>
              <a:buChar char="•"/>
              <a:defRPr>
                <a:solidFill>
                  <a:schemeClr val="dk1"/>
                </a:solidFill>
              </a:defRPr>
            </a:lvl9pPr>
          </a:lstStyle>
          <a:p/>
        </p:txBody>
      </p:sp>
      <p:grpSp>
        <p:nvGrpSpPr>
          <p:cNvPr id="231" name="Google Shape;231;p26"/>
          <p:cNvGrpSpPr/>
          <p:nvPr/>
        </p:nvGrpSpPr>
        <p:grpSpPr>
          <a:xfrm>
            <a:off x="457209" y="474129"/>
            <a:ext cx="1177786" cy="857849"/>
            <a:chOff x="865451" y="2114550"/>
            <a:chExt cx="3399093" cy="2475755"/>
          </a:xfrm>
        </p:grpSpPr>
        <p:sp>
          <p:nvSpPr>
            <p:cNvPr id="232" name="Google Shape;232;p2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 name="Google Shape;233;p2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34" name="Google Shape;234;p26"/>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600"/>
              <a:buNone/>
              <a:defRPr b="1" sz="1600">
                <a:solidFill>
                  <a:srgbClr val="5B5B5B"/>
                </a:solidFill>
              </a:defRPr>
            </a:lvl1pPr>
            <a:lvl2pPr lvl="1" rtl="0">
              <a:spcBef>
                <a:spcPts val="1000"/>
              </a:spcBef>
              <a:spcAft>
                <a:spcPts val="0"/>
              </a:spcAft>
              <a:buClr>
                <a:srgbClr val="5B5B5B"/>
              </a:buClr>
              <a:buSzPts val="1800"/>
              <a:buNone/>
              <a:defRPr b="1">
                <a:solidFill>
                  <a:srgbClr val="5B5B5B"/>
                </a:solidFill>
              </a:defRPr>
            </a:lvl2pPr>
            <a:lvl3pPr lvl="2" rtl="0">
              <a:spcBef>
                <a:spcPts val="1000"/>
              </a:spcBef>
              <a:spcAft>
                <a:spcPts val="0"/>
              </a:spcAft>
              <a:buClr>
                <a:srgbClr val="5B5B5B"/>
              </a:buClr>
              <a:buSzPts val="1400"/>
              <a:buNone/>
              <a:defRPr b="1">
                <a:solidFill>
                  <a:srgbClr val="5B5B5B"/>
                </a:solidFill>
              </a:defRPr>
            </a:lvl3pPr>
            <a:lvl4pPr lvl="3" rtl="0">
              <a:spcBef>
                <a:spcPts val="1000"/>
              </a:spcBef>
              <a:spcAft>
                <a:spcPts val="0"/>
              </a:spcAft>
              <a:buClr>
                <a:srgbClr val="5B5B5B"/>
              </a:buClr>
              <a:buSzPts val="1400"/>
              <a:buNone/>
              <a:defRPr b="1">
                <a:solidFill>
                  <a:srgbClr val="5B5B5B"/>
                </a:solidFill>
              </a:defRPr>
            </a:lvl4pPr>
            <a:lvl5pPr lvl="4" rtl="0">
              <a:spcBef>
                <a:spcPts val="1000"/>
              </a:spcBef>
              <a:spcAft>
                <a:spcPts val="0"/>
              </a:spcAft>
              <a:buClr>
                <a:srgbClr val="5B5B5B"/>
              </a:buClr>
              <a:buSzPts val="1400"/>
              <a:buNone/>
              <a:defRPr b="1">
                <a:solidFill>
                  <a:srgbClr val="5B5B5B"/>
                </a:solidFill>
              </a:defRPr>
            </a:lvl5pPr>
            <a:lvl6pPr lvl="5" rtl="0">
              <a:spcBef>
                <a:spcPts val="1000"/>
              </a:spcBef>
              <a:spcAft>
                <a:spcPts val="0"/>
              </a:spcAft>
              <a:buClr>
                <a:srgbClr val="5B5B5B"/>
              </a:buClr>
              <a:buSzPts val="1400"/>
              <a:buNone/>
              <a:defRPr b="1">
                <a:solidFill>
                  <a:srgbClr val="5B5B5B"/>
                </a:solidFill>
              </a:defRPr>
            </a:lvl6pPr>
            <a:lvl7pPr lvl="6" rtl="0">
              <a:spcBef>
                <a:spcPts val="1000"/>
              </a:spcBef>
              <a:spcAft>
                <a:spcPts val="0"/>
              </a:spcAft>
              <a:buClr>
                <a:srgbClr val="5B5B5B"/>
              </a:buClr>
              <a:buSzPts val="1400"/>
              <a:buNone/>
              <a:defRPr b="1">
                <a:solidFill>
                  <a:srgbClr val="5B5B5B"/>
                </a:solidFill>
              </a:defRPr>
            </a:lvl7pPr>
            <a:lvl8pPr lvl="7" rtl="0">
              <a:spcBef>
                <a:spcPts val="1000"/>
              </a:spcBef>
              <a:spcAft>
                <a:spcPts val="0"/>
              </a:spcAft>
              <a:buClr>
                <a:srgbClr val="5B5B5B"/>
              </a:buClr>
              <a:buSzPts val="1400"/>
              <a:buNone/>
              <a:defRPr b="1">
                <a:solidFill>
                  <a:srgbClr val="5B5B5B"/>
                </a:solidFill>
              </a:defRPr>
            </a:lvl8pPr>
            <a:lvl9pPr lvl="8" rtl="0">
              <a:spcBef>
                <a:spcPts val="1000"/>
              </a:spcBef>
              <a:spcAft>
                <a:spcPts val="1000"/>
              </a:spcAft>
              <a:buClr>
                <a:srgbClr val="5B5B5B"/>
              </a:buClr>
              <a:buSzPts val="1400"/>
              <a:buNone/>
              <a:defRPr b="1">
                <a:solidFill>
                  <a:srgbClr val="5B5B5B"/>
                </a:solidFill>
              </a:defRPr>
            </a:lvl9pPr>
          </a:lstStyle>
          <a:p/>
        </p:txBody>
      </p:sp>
      <p:sp>
        <p:nvSpPr>
          <p:cNvPr id="235" name="Google Shape;235;p2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2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37" name="Google Shape;237;p2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238" name="Shape 238"/>
        <p:cNvGrpSpPr/>
        <p:nvPr/>
      </p:nvGrpSpPr>
      <p:grpSpPr>
        <a:xfrm>
          <a:off x="0" y="0"/>
          <a:ext cx="0" cy="0"/>
          <a:chOff x="0" y="0"/>
          <a:chExt cx="0" cy="0"/>
        </a:xfrm>
      </p:grpSpPr>
      <p:sp>
        <p:nvSpPr>
          <p:cNvPr id="239" name="Google Shape;239;p27"/>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b="1"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40" name="Google Shape;240;p2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41" name="Google Shape;241;p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2" name="Google Shape;242;p2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243" name="Google Shape;243;p27"/>
          <p:cNvGrpSpPr/>
          <p:nvPr/>
        </p:nvGrpSpPr>
        <p:grpSpPr>
          <a:xfrm>
            <a:off x="457209" y="474129"/>
            <a:ext cx="1177786" cy="857849"/>
            <a:chOff x="865451" y="2114550"/>
            <a:chExt cx="3399093" cy="2475755"/>
          </a:xfrm>
        </p:grpSpPr>
        <p:sp>
          <p:nvSpPr>
            <p:cNvPr id="244" name="Google Shape;244;p2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5" name="Google Shape;245;p2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46" name="Google Shape;246;p27"/>
          <p:cNvSpPr txBox="1"/>
          <p:nvPr>
            <p:ph idx="2" type="subTitle"/>
          </p:nvPr>
        </p:nvSpPr>
        <p:spPr>
          <a:xfrm>
            <a:off x="3017525" y="3999997"/>
            <a:ext cx="4206300" cy="6864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247"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8"/>
          <p:cNvSpPr txBox="1"/>
          <p:nvPr>
            <p:ph type="title"/>
          </p:nvPr>
        </p:nvSpPr>
        <p:spPr>
          <a:xfrm>
            <a:off x="366550" y="274323"/>
            <a:ext cx="8348400" cy="3660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p:txBody>
      </p:sp>
      <p:sp>
        <p:nvSpPr>
          <p:cNvPr id="250" name="Google Shape;250;p2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2" name="Google Shape;252;p2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254" name="Shape 254"/>
        <p:cNvGrpSpPr/>
        <p:nvPr/>
      </p:nvGrpSpPr>
      <p:grpSpPr>
        <a:xfrm>
          <a:off x="0" y="0"/>
          <a:ext cx="0" cy="0"/>
          <a:chOff x="0" y="0"/>
          <a:chExt cx="0" cy="0"/>
        </a:xfrm>
      </p:grpSpPr>
      <p:sp>
        <p:nvSpPr>
          <p:cNvPr id="255" name="Google Shape;255;p29"/>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56" name="Google Shape;256;p29"/>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7" name="Google Shape;257;p29"/>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75000"/>
              </a:lnSpc>
              <a:spcBef>
                <a:spcPts val="0"/>
              </a:spcBef>
              <a:spcAft>
                <a:spcPts val="0"/>
              </a:spcAft>
              <a:buClr>
                <a:schemeClr val="lt1"/>
              </a:buClr>
              <a:buSzPts val="5200"/>
              <a:buNone/>
              <a:defRPr b="1" sz="5200">
                <a:solidFill>
                  <a:schemeClr val="lt1"/>
                </a:solidFill>
              </a:defRPr>
            </a:lvl1pPr>
            <a:lvl2pPr indent="-342900" lvl="1" marL="914400" rtl="0">
              <a:lnSpc>
                <a:spcPct val="100000"/>
              </a:lnSpc>
              <a:spcBef>
                <a:spcPts val="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258" name="Shape 258"/>
        <p:cNvGrpSpPr/>
        <p:nvPr/>
      </p:nvGrpSpPr>
      <p:grpSpPr>
        <a:xfrm>
          <a:off x="0" y="0"/>
          <a:ext cx="0" cy="0"/>
          <a:chOff x="0" y="0"/>
          <a:chExt cx="0" cy="0"/>
        </a:xfrm>
      </p:grpSpPr>
      <p:sp>
        <p:nvSpPr>
          <p:cNvPr id="259" name="Google Shape;259;p30"/>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60" name="Google Shape;260;p30"/>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75000"/>
              </a:lnSpc>
              <a:spcBef>
                <a:spcPts val="0"/>
              </a:spcBef>
              <a:spcAft>
                <a:spcPts val="0"/>
              </a:spcAft>
              <a:buClr>
                <a:schemeClr val="lt1"/>
              </a:buClr>
              <a:buSzPts val="5200"/>
              <a:buNone/>
              <a:defRPr b="1" sz="5200">
                <a:solidFill>
                  <a:schemeClr val="lt1"/>
                </a:solidFill>
              </a:defRPr>
            </a:lvl1pPr>
            <a:lvl2pPr indent="-342900" lvl="1" marL="914400" rtl="0">
              <a:lnSpc>
                <a:spcPct val="100000"/>
              </a:lnSpc>
              <a:spcBef>
                <a:spcPts val="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61" name="Google Shape;261;p30"/>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a:t>
            </a:r>
            <a:r>
              <a:rPr b="0" i="0" lang="en" sz="60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grpSp>
        <p:nvGrpSpPr>
          <p:cNvPr id="262" name="Google Shape;262;p30"/>
          <p:cNvGrpSpPr/>
          <p:nvPr/>
        </p:nvGrpSpPr>
        <p:grpSpPr>
          <a:xfrm>
            <a:off x="-10" y="3770439"/>
            <a:ext cx="9143997" cy="1371564"/>
            <a:chOff x="-10" y="3735321"/>
            <a:chExt cx="9139427" cy="1408177"/>
          </a:xfrm>
        </p:grpSpPr>
        <p:pic>
          <p:nvPicPr>
            <p:cNvPr id="263" name="Google Shape;263;p30"/>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264" name="Google Shape;264;p3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265" name="Google Shape;265;p3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6550" y="274323"/>
            <a:ext cx="8348400" cy="366000"/>
          </a:xfrm>
          <a:prstGeom prst="rect">
            <a:avLst/>
          </a:prstGeom>
          <a:noFill/>
          <a:ln>
            <a:noFill/>
          </a:ln>
        </p:spPr>
        <p:txBody>
          <a:bodyPr anchorCtr="0" anchor="t" bIns="91425" lIns="91425" spcFirstLastPara="1" rIns="91425" wrap="square" tIns="91425">
            <a:spAutoFit/>
          </a:bodyPr>
          <a:lstStyle>
            <a:lvl1pPr lvl="0" marR="0" rtl="0">
              <a:lnSpc>
                <a:spcPct val="85000"/>
              </a:lnSpc>
              <a:spcBef>
                <a:spcPts val="0"/>
              </a:spcBef>
              <a:spcAft>
                <a:spcPts val="0"/>
              </a:spcAft>
              <a:buClr>
                <a:schemeClr val="dk1"/>
              </a:buClr>
              <a:buSzPts val="2600"/>
              <a:buNone/>
              <a:defRPr b="1" i="0" sz="2600" u="none" cap="none" strike="noStrike">
                <a:solidFill>
                  <a:schemeClr val="dk1"/>
                </a:solidFill>
              </a:defRPr>
            </a:lvl1pPr>
            <a:lvl2pPr lvl="1" rtl="0">
              <a:lnSpc>
                <a:spcPct val="85000"/>
              </a:lnSpc>
              <a:spcBef>
                <a:spcPts val="1000"/>
              </a:spcBef>
              <a:spcAft>
                <a:spcPts val="0"/>
              </a:spcAft>
              <a:buSzPts val="1400"/>
              <a:buNone/>
              <a:defRPr b="1" sz="1800"/>
            </a:lvl2pPr>
            <a:lvl3pPr lvl="2" rtl="0">
              <a:lnSpc>
                <a:spcPct val="85000"/>
              </a:lnSpc>
              <a:spcBef>
                <a:spcPts val="1000"/>
              </a:spcBef>
              <a:spcAft>
                <a:spcPts val="0"/>
              </a:spcAft>
              <a:buSzPts val="1400"/>
              <a:buNone/>
              <a:defRPr b="1" sz="1800"/>
            </a:lvl3pPr>
            <a:lvl4pPr lvl="3" rtl="0">
              <a:lnSpc>
                <a:spcPct val="85000"/>
              </a:lnSpc>
              <a:spcBef>
                <a:spcPts val="1000"/>
              </a:spcBef>
              <a:spcAft>
                <a:spcPts val="0"/>
              </a:spcAft>
              <a:buSzPts val="1400"/>
              <a:buNone/>
              <a:defRPr b="1" sz="1800"/>
            </a:lvl4pPr>
            <a:lvl5pPr lvl="4" rtl="0">
              <a:lnSpc>
                <a:spcPct val="85000"/>
              </a:lnSpc>
              <a:spcBef>
                <a:spcPts val="1000"/>
              </a:spcBef>
              <a:spcAft>
                <a:spcPts val="0"/>
              </a:spcAft>
              <a:buSzPts val="1400"/>
              <a:buNone/>
              <a:defRPr b="1" sz="1800"/>
            </a:lvl5pPr>
            <a:lvl6pPr lvl="5" rtl="0">
              <a:lnSpc>
                <a:spcPct val="85000"/>
              </a:lnSpc>
              <a:spcBef>
                <a:spcPts val="1000"/>
              </a:spcBef>
              <a:spcAft>
                <a:spcPts val="0"/>
              </a:spcAft>
              <a:buSzPts val="1400"/>
              <a:buNone/>
              <a:defRPr b="1" sz="1800"/>
            </a:lvl6pPr>
            <a:lvl7pPr lvl="6" rtl="0">
              <a:lnSpc>
                <a:spcPct val="85000"/>
              </a:lnSpc>
              <a:spcBef>
                <a:spcPts val="1000"/>
              </a:spcBef>
              <a:spcAft>
                <a:spcPts val="0"/>
              </a:spcAft>
              <a:buSzPts val="1400"/>
              <a:buNone/>
              <a:defRPr b="1" sz="1800"/>
            </a:lvl7pPr>
            <a:lvl8pPr lvl="7" rtl="0">
              <a:lnSpc>
                <a:spcPct val="85000"/>
              </a:lnSpc>
              <a:spcBef>
                <a:spcPts val="1000"/>
              </a:spcBef>
              <a:spcAft>
                <a:spcPts val="0"/>
              </a:spcAft>
              <a:buSzPts val="1400"/>
              <a:buNone/>
              <a:defRPr b="1" sz="1800"/>
            </a:lvl8pPr>
            <a:lvl9pPr lvl="8" rtl="0">
              <a:lnSpc>
                <a:spcPct val="85000"/>
              </a:lnSpc>
              <a:spcBef>
                <a:spcPts val="1000"/>
              </a:spcBef>
              <a:spcAft>
                <a:spcPts val="1000"/>
              </a:spcAft>
              <a:buSzPts val="1400"/>
              <a:buNone/>
              <a:defRPr b="1" sz="1800"/>
            </a:lvl9pPr>
          </a:lstStyle>
          <a:p/>
        </p:txBody>
      </p:sp>
      <p:sp>
        <p:nvSpPr>
          <p:cNvPr id="7" name="Google Shape;7;p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Char char="•"/>
              <a:defRPr i="0" sz="1800" u="none" cap="none" strike="noStrike">
                <a:solidFill>
                  <a:srgbClr val="5B5B5B"/>
                </a:solidFill>
              </a:defRPr>
            </a:lvl1pPr>
            <a:lvl2pPr indent="-342900" lvl="1" marL="914400" marR="0" rtl="0" algn="l">
              <a:lnSpc>
                <a:spcPct val="115000"/>
              </a:lnSpc>
              <a:spcBef>
                <a:spcPts val="1000"/>
              </a:spcBef>
              <a:spcAft>
                <a:spcPts val="0"/>
              </a:spcAft>
              <a:buClr>
                <a:schemeClr val="accent1"/>
              </a:buClr>
              <a:buSzPts val="1800"/>
              <a:buChar char="•"/>
              <a:defRPr i="0" sz="1800" u="none" cap="none" strike="noStrike">
                <a:solidFill>
                  <a:srgbClr val="5B5B5B"/>
                </a:solidFill>
              </a:defRPr>
            </a:lvl2pPr>
            <a:lvl3pPr indent="-317500" lvl="2" marL="1371600" marR="0" rtl="0" algn="l">
              <a:lnSpc>
                <a:spcPct val="115000"/>
              </a:lnSpc>
              <a:spcBef>
                <a:spcPts val="1000"/>
              </a:spcBef>
              <a:spcAft>
                <a:spcPts val="0"/>
              </a:spcAft>
              <a:buClr>
                <a:schemeClr val="accent1"/>
              </a:buClr>
              <a:buSzPts val="1400"/>
              <a:buChar char="•"/>
              <a:defRPr i="0" u="none" cap="none" strike="noStrike">
                <a:solidFill>
                  <a:srgbClr val="5B5B5B"/>
                </a:solidFill>
              </a:defRPr>
            </a:lvl3pPr>
            <a:lvl4pPr indent="-317500" lvl="3" marL="1828800" marR="0" rtl="0" algn="l">
              <a:lnSpc>
                <a:spcPct val="115000"/>
              </a:lnSpc>
              <a:spcBef>
                <a:spcPts val="1000"/>
              </a:spcBef>
              <a:spcAft>
                <a:spcPts val="0"/>
              </a:spcAft>
              <a:buClr>
                <a:schemeClr val="accent1"/>
              </a:buClr>
              <a:buSzPts val="1400"/>
              <a:buChar char="•"/>
              <a:defRPr i="0" u="none" cap="none" strike="noStrike">
                <a:solidFill>
                  <a:srgbClr val="5B5B5B"/>
                </a:solidFill>
              </a:defRPr>
            </a:lvl4pPr>
            <a:lvl5pPr indent="-317500" lvl="4" marL="2286000" marR="0" rtl="0" algn="l">
              <a:lnSpc>
                <a:spcPct val="115000"/>
              </a:lnSpc>
              <a:spcBef>
                <a:spcPts val="1000"/>
              </a:spcBef>
              <a:spcAft>
                <a:spcPts val="0"/>
              </a:spcAft>
              <a:buClr>
                <a:schemeClr val="accent1"/>
              </a:buClr>
              <a:buSzPts val="1400"/>
              <a:buChar char="•"/>
              <a:defRPr i="0" u="none" cap="none" strike="noStrike">
                <a:solidFill>
                  <a:srgbClr val="5B5B5B"/>
                </a:solidFill>
              </a:defRPr>
            </a:lvl5pPr>
            <a:lvl6pPr indent="-317500" lvl="5" marL="2743200" marR="0" rtl="0" algn="l">
              <a:lnSpc>
                <a:spcPct val="115000"/>
              </a:lnSpc>
              <a:spcBef>
                <a:spcPts val="1000"/>
              </a:spcBef>
              <a:spcAft>
                <a:spcPts val="0"/>
              </a:spcAft>
              <a:buClr>
                <a:schemeClr val="accent1"/>
              </a:buClr>
              <a:buSzPts val="1400"/>
              <a:buChar char="•"/>
              <a:defRPr i="0" u="none" cap="none" strike="noStrike">
                <a:solidFill>
                  <a:srgbClr val="5B5B5B"/>
                </a:solidFill>
              </a:defRPr>
            </a:lvl6pPr>
            <a:lvl7pPr indent="-317500" lvl="6" marL="3200400" marR="0" rtl="0" algn="l">
              <a:lnSpc>
                <a:spcPct val="115000"/>
              </a:lnSpc>
              <a:spcBef>
                <a:spcPts val="1000"/>
              </a:spcBef>
              <a:spcAft>
                <a:spcPts val="0"/>
              </a:spcAft>
              <a:buClr>
                <a:schemeClr val="accent1"/>
              </a:buClr>
              <a:buSzPts val="1400"/>
              <a:buChar char="•"/>
              <a:defRPr i="0" u="none" cap="none" strike="noStrike">
                <a:solidFill>
                  <a:srgbClr val="5B5B5B"/>
                </a:solidFill>
              </a:defRPr>
            </a:lvl7pPr>
            <a:lvl8pPr indent="-317500" lvl="7" marL="3657600" marR="0" rtl="0" algn="l">
              <a:lnSpc>
                <a:spcPct val="115000"/>
              </a:lnSpc>
              <a:spcBef>
                <a:spcPts val="1000"/>
              </a:spcBef>
              <a:spcAft>
                <a:spcPts val="0"/>
              </a:spcAft>
              <a:buClr>
                <a:schemeClr val="accent1"/>
              </a:buClr>
              <a:buSzPts val="1400"/>
              <a:buChar char="•"/>
              <a:defRPr i="0" u="none" cap="none" strike="noStrike">
                <a:solidFill>
                  <a:srgbClr val="5B5B5B"/>
                </a:solidFill>
              </a:defRPr>
            </a:lvl8pPr>
            <a:lvl9pPr indent="-317500" lvl="8" marL="4114800" marR="0" rtl="0" algn="l">
              <a:lnSpc>
                <a:spcPct val="115000"/>
              </a:lnSpc>
              <a:spcBef>
                <a:spcPts val="1000"/>
              </a:spcBef>
              <a:spcAft>
                <a:spcPts val="1000"/>
              </a:spcAft>
              <a:buClr>
                <a:schemeClr val="accent1"/>
              </a:buClr>
              <a:buSzPts val="1400"/>
              <a:buChar char="•"/>
              <a:defRPr i="0" u="none" cap="none" strike="noStrike">
                <a:solidFill>
                  <a:srgbClr val="5B5B5B"/>
                </a:solidFill>
              </a:defRPr>
            </a:lvl9pPr>
          </a:lstStyle>
          <a:p/>
        </p:txBody>
      </p:sp>
      <p:sp>
        <p:nvSpPr>
          <p:cNvPr id="8" name="Google Shape;8;p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837300" y="-655600"/>
            <a:ext cx="5306700" cy="1686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rgbClr val="C8C8C8"/>
                </a:solidFill>
              </a:rPr>
              <a:t>SNOWFLAKE GSLIDES THEME </a:t>
            </a:r>
            <a:r>
              <a:rPr lang="en" sz="800">
                <a:solidFill>
                  <a:srgbClr val="C8C8C8"/>
                </a:solidFill>
              </a:rPr>
              <a:t>2026.01</a:t>
            </a:r>
            <a:endParaRPr sz="800">
              <a:solidFill>
                <a:srgbClr val="C8C8C8"/>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95000"/>
              </a:lnSpc>
              <a:spcBef>
                <a:spcPts val="0"/>
              </a:spcBef>
              <a:spcAft>
                <a:spcPts val="0"/>
              </a:spcAft>
            </a:pPr>
            <a:r>
              <a:rPr sz="4000" b="1">
                <a:solidFill>
                  <a:srgbClr val="FFFFFF"/>
                </a:solidFill>
                <a:latin typeface="Arial"/>
                <a:ea typeface="Yu Gothic"/>
                <a:cs typeface="Yu Gothic"/>
              </a:rPr>
              <a:t>初めての</a:t>
            </a:r>
          </a:p>
          <a:p>
            <a:pPr>
              <a:lnSpc>
                <a:spcPct val="95000"/>
              </a:lnSpc>
              <a:spcBef>
                <a:spcPts val="0"/>
              </a:spcBef>
              <a:spcAft>
                <a:spcPts val="0"/>
              </a:spcAft>
            </a:pPr>
            <a:r>
              <a:rPr sz="4000" b="1">
                <a:solidFill>
                  <a:srgbClr val="262626"/>
                </a:solidFill>
                <a:latin typeface="Arial"/>
                <a:ea typeface="Yu Gothic"/>
                <a:cs typeface="Yu Gothic"/>
              </a:rPr>
              <a:t>Snowflake AI</a:t>
            </a:r>
          </a:p>
        </p:txBody>
      </p:sp>
      <p:sp>
        <p:nvSpPr>
          <p:cNvPr id="3" name="Title 2"/>
          <p:cNvSpPr>
            <a:spLocks noGrp="1"/>
          </p:cNvSpPr>
          <p:nvPr>
            <p:ph type="title" idx="2"/>
          </p:nvPr>
        </p:nvSpPr>
        <p:spPr/>
        <p:txBody>
          <a:bodyPr/>
          <a:lstStyle/>
          <a:p>
            <a:r>
              <a:rPr sz="1600" b="1">
                <a:solidFill>
                  <a:srgbClr val="262626"/>
                </a:solidFill>
                <a:latin typeface="Arial"/>
                <a:ea typeface="Yu Gothic"/>
                <a:cs typeface="Yu Gothic"/>
              </a:rPr>
              <a:t>ビジネスユーザ編 ｜ AI × データで根拠を追う</a:t>
            </a:r>
          </a:p>
        </p:txBody>
      </p:sp>
      <p:sp>
        <p:nvSpPr>
          <p:cNvPr id="4" name="Title 3"/>
          <p:cNvSpPr>
            <a:spLocks noGrp="1"/>
          </p:cNvSpPr>
          <p:nvPr>
            <p:ph type="title" idx="3"/>
          </p:nvPr>
        </p:nvSpPr>
        <p:spPr/>
        <p:txBody>
          <a:bodyPr/>
          <a:lstStyle/>
          <a:p>
            <a:r>
              <a:rPr sz="1100" b="1">
                <a:solidFill>
                  <a:srgbClr val="262626"/>
                </a:solidFill>
                <a:latin typeface="Arial"/>
                <a:ea typeface="Yu Gothic"/>
                <a:cs typeface="Yu Gothic"/>
              </a:rPr>
              <a:t>2026年9月10日 ｜ 嶋田 恵大 ｜ Snowflake合同会社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Safe Harbor</a:t>
            </a:r>
          </a:p>
        </p:txBody>
      </p:sp>
      <p:sp>
        <p:nvSpPr>
          <p:cNvPr id="4" name="Rounded Rectangle 3"/>
          <p:cNvSpPr/>
          <p:nvPr/>
        </p:nvSpPr>
        <p:spPr>
          <a:xfrm>
            <a:off x="365760" y="1170432"/>
            <a:ext cx="8412480" cy="932688"/>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64008" cy="932688"/>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TextBox 5"/>
          <p:cNvSpPr txBox="1"/>
          <p:nvPr/>
        </p:nvSpPr>
        <p:spPr>
          <a:xfrm>
            <a:off x="621792" y="1261872"/>
            <a:ext cx="7955279" cy="749808"/>
          </a:xfrm>
          <a:prstGeom prst="rect">
            <a:avLst/>
          </a:prstGeom>
          <a:noFill/>
        </p:spPr>
        <p:txBody>
          <a:bodyPr wrap="square" anchor="ctr" lIns="0" rIns="0" tIns="0" bIns="0">
            <a:spAutoFit/>
          </a:bodyPr>
          <a:lstStyle/>
          <a:p>
            <a:pPr>
              <a:lnSpc>
                <a:spcPct val="105000"/>
              </a:lnSpc>
              <a:spcBef>
                <a:spcPts val="0"/>
              </a:spcBef>
              <a:spcAft>
                <a:spcPts val="0"/>
              </a:spcAft>
            </a:pPr>
            <a:r>
              <a:rPr sz="1900" b="1">
                <a:solidFill>
                  <a:srgbClr val="11567F"/>
                </a:solidFill>
                <a:latin typeface="Arial"/>
                <a:ea typeface="Yu Gothic"/>
                <a:cs typeface="Yu Gothic"/>
              </a:rPr>
              <a:t>将来の見通しに関する記述について</a:t>
            </a:r>
          </a:p>
        </p:txBody>
      </p:sp>
      <p:sp>
        <p:nvSpPr>
          <p:cNvPr id="7" name="TextBox 6"/>
          <p:cNvSpPr txBox="1"/>
          <p:nvPr/>
        </p:nvSpPr>
        <p:spPr>
          <a:xfrm>
            <a:off x="420624" y="2286000"/>
            <a:ext cx="8302752" cy="2395728"/>
          </a:xfrm>
          <a:prstGeom prst="rect">
            <a:avLst/>
          </a:prstGeom>
          <a:noFill/>
        </p:spPr>
        <p:txBody>
          <a:bodyPr wrap="square" anchor="t" lIns="0" rIns="0" tIns="0" bIns="0">
            <a:spAutoFit/>
          </a:bodyPr>
          <a:lstStyle/>
          <a:p>
            <a:pPr>
              <a:lnSpc>
                <a:spcPct val="116000"/>
              </a:lnSpc>
              <a:spcBef>
                <a:spcPts val="0"/>
              </a:spcBef>
              <a:spcAft>
                <a:spcPts val="0"/>
              </a:spcAft>
            </a:pPr>
            <a:r>
              <a:rPr sz="1100" b="1">
                <a:solidFill>
                  <a:srgbClr val="5B5B5B"/>
                </a:solidFill>
                <a:latin typeface="Arial"/>
                <a:ea typeface="Yu Gothic"/>
                <a:cs typeface="Yu Gothic"/>
              </a:rPr>
              <a:t>● </a:t>
            </a:r>
            <a:r>
              <a:rPr sz="1100" b="0">
                <a:solidFill>
                  <a:srgbClr val="262626"/>
                </a:solidFill>
                <a:latin typeface="Arial"/>
                <a:ea typeface="Yu Gothic"/>
                <a:cs typeface="Yu Gothic"/>
              </a:rPr>
              <a:t>本資料には、Snowflakeの製品計画、機能の提供時期、事業戦略などに関する将来の見通しに関する記述が含まれます。これらは現時点で入手可能な情報に基づく見込みであり、さまざまなリスクや不確実性を伴います。</a:t>
            </a:r>
          </a:p>
          <a:p>
            <a:pPr>
              <a:lnSpc>
                <a:spcPct val="116000"/>
              </a:lnSpc>
              <a:spcBef>
                <a:spcPts val="700"/>
              </a:spcBef>
              <a:spcAft>
                <a:spcPts val="0"/>
              </a:spcAft>
            </a:pPr>
            <a:r>
              <a:rPr sz="1100" b="1">
                <a:solidFill>
                  <a:srgbClr val="5B5B5B"/>
                </a:solidFill>
                <a:latin typeface="Arial"/>
                <a:ea typeface="Yu Gothic"/>
                <a:cs typeface="Yu Gothic"/>
              </a:rPr>
              <a:t>● </a:t>
            </a:r>
            <a:r>
              <a:rPr sz="1100" b="0">
                <a:solidFill>
                  <a:srgbClr val="262626"/>
                </a:solidFill>
                <a:latin typeface="Arial"/>
                <a:ea typeface="Yu Gothic"/>
                <a:cs typeface="Yu Gothic"/>
              </a:rPr>
              <a:t>実際の結果は、これらの記述と大きく異なる可能性があります。開発中および提供予定の機能は、提供時期・仕様が変更される場合があり、提供されない場合もあります。</a:t>
            </a:r>
          </a:p>
          <a:p>
            <a:pPr>
              <a:lnSpc>
                <a:spcPct val="116000"/>
              </a:lnSpc>
              <a:spcBef>
                <a:spcPts val="700"/>
              </a:spcBef>
              <a:spcAft>
                <a:spcPts val="0"/>
              </a:spcAft>
            </a:pPr>
            <a:r>
              <a:rPr sz="1100" b="1">
                <a:solidFill>
                  <a:srgbClr val="5B5B5B"/>
                </a:solidFill>
                <a:latin typeface="Arial"/>
                <a:ea typeface="Yu Gothic"/>
                <a:cs typeface="Yu Gothic"/>
              </a:rPr>
              <a:t>● </a:t>
            </a:r>
            <a:r>
              <a:rPr sz="1100" b="0">
                <a:solidFill>
                  <a:srgbClr val="262626"/>
                </a:solidFill>
                <a:latin typeface="Arial"/>
                <a:ea typeface="Yu Gothic"/>
                <a:cs typeface="Yu Gothic"/>
              </a:rPr>
              <a:t>本資料は購入判断の根拠として使用しないでください。また、本資料に登場する企業・人物・数値はすべてハンズオン用の架空のものです。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60分。後半40分はみなさんが手を動かします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本日の流れ</a:t>
            </a:r>
          </a:p>
        </p:txBody>
      </p:sp>
      <p:sp>
        <p:nvSpPr>
          <p:cNvPr id="4" name="Rounded Rectangle 3"/>
          <p:cNvSpPr/>
          <p:nvPr/>
        </p:nvSpPr>
        <p:spPr>
          <a:xfrm>
            <a:off x="36576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2682240" cy="41148"/>
          </a:xfrm>
          <a:prstGeom prst="rect">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Oval 5"/>
          <p:cNvSpPr/>
          <p:nvPr/>
        </p:nvSpPr>
        <p:spPr>
          <a:xfrm>
            <a:off x="475488" y="1298448"/>
            <a:ext cx="237744" cy="237744"/>
          </a:xfrm>
          <a:prstGeom prst="ellipse">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1</a:t>
            </a:r>
          </a:p>
        </p:txBody>
      </p:sp>
      <p:sp>
        <p:nvSpPr>
          <p:cNvPr id="7" name="Rounded Rectangle 6"/>
          <p:cNvSpPr/>
          <p:nvPr/>
        </p:nvSpPr>
        <p:spPr>
          <a:xfrm>
            <a:off x="777240" y="1316736"/>
            <a:ext cx="868680" cy="201168"/>
          </a:xfrm>
          <a:prstGeom prst="roundRect">
            <a:avLst>
              <a:gd name="adj" fmla="val 50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10分</a:t>
            </a:r>
          </a:p>
        </p:txBody>
      </p:sp>
      <p:sp>
        <p:nvSpPr>
          <p:cNvPr id="8" name="TextBox 7"/>
          <p:cNvSpPr txBox="1"/>
          <p:nvPr/>
        </p:nvSpPr>
        <p:spPr>
          <a:xfrm>
            <a:off x="47548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Snowflake と</a:t>
            </a:r>
          </a:p>
          <a:p>
            <a:pPr>
              <a:lnSpc>
                <a:spcPct val="92000"/>
              </a:lnSpc>
              <a:spcBef>
                <a:spcPts val="0"/>
              </a:spcBef>
              <a:spcAft>
                <a:spcPts val="0"/>
              </a:spcAft>
            </a:pPr>
            <a:r>
              <a:rPr sz="1300" b="1">
                <a:solidFill>
                  <a:srgbClr val="11567F"/>
                </a:solidFill>
                <a:latin typeface="Arial"/>
                <a:ea typeface="Yu Gothic"/>
                <a:cs typeface="Yu Gothic"/>
              </a:rPr>
              <a:t>Snowflake AI の概要</a:t>
            </a:r>
          </a:p>
        </p:txBody>
      </p:sp>
      <p:sp>
        <p:nvSpPr>
          <p:cNvPr id="9" name="TextBox 8"/>
          <p:cNvSpPr txBox="1"/>
          <p:nvPr/>
        </p:nvSpPr>
        <p:spPr>
          <a:xfrm>
            <a:off x="47548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なぜAIに自社データをつなぐ必要があるのか</a:t>
            </a:r>
          </a:p>
        </p:txBody>
      </p:sp>
      <p:sp>
        <p:nvSpPr>
          <p:cNvPr id="10" name="TextBox 9"/>
          <p:cNvSpPr txBox="1"/>
          <p:nvPr/>
        </p:nvSpPr>
        <p:spPr>
          <a:xfrm>
            <a:off x="47548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11567F"/>
                </a:solidFill>
                <a:latin typeface="Arial"/>
                <a:ea typeface="Yu Gothic"/>
                <a:cs typeface="Yu Gothic"/>
              </a:rPr>
              <a:t>● </a:t>
            </a:r>
            <a:r>
              <a:rPr sz="800" b="0">
                <a:solidFill>
                  <a:srgbClr val="262626"/>
                </a:solidFill>
                <a:latin typeface="Arial"/>
                <a:ea typeface="Yu Gothic"/>
                <a:cs typeface="Yu Gothic"/>
              </a:rPr>
              <a:t>同じAIでも差がつく理由</a:t>
            </a:r>
          </a:p>
          <a:p>
            <a:pPr>
              <a:lnSpc>
                <a:spcPct val="102000"/>
              </a:lnSpc>
              <a:spcBef>
                <a:spcPts val="300"/>
              </a:spcBef>
              <a:spcAft>
                <a:spcPts val="0"/>
              </a:spcAft>
            </a:pPr>
            <a:r>
              <a:rPr sz="800" b="1">
                <a:solidFill>
                  <a:srgbClr val="11567F"/>
                </a:solidFill>
                <a:latin typeface="Arial"/>
                <a:ea typeface="Yu Gothic"/>
                <a:cs typeface="Yu Gothic"/>
              </a:rPr>
              <a:t>● </a:t>
            </a:r>
            <a:r>
              <a:rPr sz="800" b="0">
                <a:solidFill>
                  <a:srgbClr val="262626"/>
                </a:solidFill>
                <a:latin typeface="Arial"/>
                <a:ea typeface="Yu Gothic"/>
                <a:cs typeface="Yu Gothic"/>
              </a:rPr>
              <a:t>AI-Ready の3要素</a:t>
            </a:r>
          </a:p>
          <a:p>
            <a:pPr>
              <a:lnSpc>
                <a:spcPct val="102000"/>
              </a:lnSpc>
              <a:spcBef>
                <a:spcPts val="300"/>
              </a:spcBef>
              <a:spcAft>
                <a:spcPts val="0"/>
              </a:spcAft>
            </a:pPr>
            <a:r>
              <a:rPr sz="800" b="1">
                <a:solidFill>
                  <a:srgbClr val="11567F"/>
                </a:solidFill>
                <a:latin typeface="Arial"/>
                <a:ea typeface="Yu Gothic"/>
                <a:cs typeface="Yu Gothic"/>
              </a:rPr>
              <a:t>● </a:t>
            </a:r>
            <a:r>
              <a:rPr sz="800" b="0">
                <a:solidFill>
                  <a:srgbClr val="262626"/>
                </a:solidFill>
                <a:latin typeface="Arial"/>
                <a:ea typeface="Yu Gothic"/>
                <a:cs typeface="Yu Gothic"/>
              </a:rPr>
              <a:t>ツールを選び分ける仕組み</a:t>
            </a:r>
          </a:p>
        </p:txBody>
      </p:sp>
      <p:sp>
        <p:nvSpPr>
          <p:cNvPr id="11" name="Rounded Rectangle 10"/>
          <p:cNvSpPr/>
          <p:nvPr/>
        </p:nvSpPr>
        <p:spPr>
          <a:xfrm>
            <a:off x="323088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3230880" y="1170432"/>
            <a:ext cx="2682240" cy="41148"/>
          </a:xfrm>
          <a:prstGeom prst="rect">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Oval 12"/>
          <p:cNvSpPr/>
          <p:nvPr/>
        </p:nvSpPr>
        <p:spPr>
          <a:xfrm>
            <a:off x="3340608" y="1298448"/>
            <a:ext cx="237744" cy="237744"/>
          </a:xfrm>
          <a:prstGeom prst="ellipse">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2</a:t>
            </a:r>
          </a:p>
        </p:txBody>
      </p:sp>
      <p:sp>
        <p:nvSpPr>
          <p:cNvPr id="14" name="Rounded Rectangle 13"/>
          <p:cNvSpPr/>
          <p:nvPr/>
        </p:nvSpPr>
        <p:spPr>
          <a:xfrm>
            <a:off x="3642360" y="1316736"/>
            <a:ext cx="868680" cy="201168"/>
          </a:xfrm>
          <a:prstGeom prst="roundRect">
            <a:avLst>
              <a:gd name="adj" fmla="val 50000"/>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5分</a:t>
            </a:r>
          </a:p>
        </p:txBody>
      </p:sp>
      <p:sp>
        <p:nvSpPr>
          <p:cNvPr id="15" name="TextBox 14"/>
          <p:cNvSpPr txBox="1"/>
          <p:nvPr/>
        </p:nvSpPr>
        <p:spPr>
          <a:xfrm>
            <a:off x="334060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本日のシナリオと</a:t>
            </a:r>
          </a:p>
          <a:p>
            <a:pPr>
              <a:lnSpc>
                <a:spcPct val="92000"/>
              </a:lnSpc>
              <a:spcBef>
                <a:spcPts val="0"/>
              </a:spcBef>
              <a:spcAft>
                <a:spcPts val="0"/>
              </a:spcAft>
            </a:pPr>
            <a:r>
              <a:rPr sz="1300" b="1">
                <a:solidFill>
                  <a:srgbClr val="11567F"/>
                </a:solidFill>
                <a:latin typeface="Arial"/>
                <a:ea typeface="Yu Gothic"/>
                <a:cs typeface="Yu Gothic"/>
              </a:rPr>
              <a:t>講師デモ</a:t>
            </a:r>
          </a:p>
        </p:txBody>
      </p:sp>
      <p:sp>
        <p:nvSpPr>
          <p:cNvPr id="16" name="TextBox 15"/>
          <p:cNvSpPr txBox="1"/>
          <p:nvPr/>
        </p:nvSpPr>
        <p:spPr>
          <a:xfrm>
            <a:off x="334060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小売企業のエリア事業責任者になっていただきます</a:t>
            </a:r>
          </a:p>
        </p:txBody>
      </p:sp>
      <p:sp>
        <p:nvSpPr>
          <p:cNvPr id="17" name="TextBox 16"/>
          <p:cNvSpPr txBox="1"/>
          <p:nvPr/>
        </p:nvSpPr>
        <p:spPr>
          <a:xfrm>
            <a:off x="334060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7D44CF"/>
                </a:solidFill>
                <a:latin typeface="Arial"/>
                <a:ea typeface="Yu Gothic"/>
                <a:cs typeface="Yu Gothic"/>
              </a:rPr>
              <a:t>● </a:t>
            </a:r>
            <a:r>
              <a:rPr sz="800" b="0">
                <a:solidFill>
                  <a:srgbClr val="262626"/>
                </a:solidFill>
                <a:latin typeface="Arial"/>
                <a:ea typeface="Yu Gothic"/>
                <a:cs typeface="Yu Gothic"/>
              </a:rPr>
              <a:t>登場する5つの情報源</a:t>
            </a:r>
          </a:p>
          <a:p>
            <a:pPr>
              <a:lnSpc>
                <a:spcPct val="102000"/>
              </a:lnSpc>
              <a:spcBef>
                <a:spcPts val="300"/>
              </a:spcBef>
              <a:spcAft>
                <a:spcPts val="0"/>
              </a:spcAft>
            </a:pPr>
            <a:r>
              <a:rPr sz="800" b="1">
                <a:solidFill>
                  <a:srgbClr val="7D44CF"/>
                </a:solidFill>
                <a:latin typeface="Arial"/>
                <a:ea typeface="Yu Gothic"/>
                <a:cs typeface="Yu Gothic"/>
              </a:rPr>
              <a:t>● </a:t>
            </a:r>
            <a:r>
              <a:rPr sz="800" b="0">
                <a:solidFill>
                  <a:srgbClr val="262626"/>
                </a:solidFill>
                <a:latin typeface="Arial"/>
                <a:ea typeface="Yu Gothic"/>
                <a:cs typeface="Yu Gothic"/>
              </a:rPr>
              <a:t>画面の開き方</a:t>
            </a:r>
          </a:p>
          <a:p>
            <a:pPr>
              <a:lnSpc>
                <a:spcPct val="102000"/>
              </a:lnSpc>
              <a:spcBef>
                <a:spcPts val="300"/>
              </a:spcBef>
              <a:spcAft>
                <a:spcPts val="0"/>
              </a:spcAft>
            </a:pPr>
            <a:r>
              <a:rPr sz="800" b="1">
                <a:solidFill>
                  <a:srgbClr val="7D44CF"/>
                </a:solidFill>
                <a:latin typeface="Arial"/>
                <a:ea typeface="Yu Gothic"/>
                <a:cs typeface="Yu Gothic"/>
              </a:rPr>
              <a:t>● </a:t>
            </a:r>
            <a:r>
              <a:rPr sz="800" b="0">
                <a:solidFill>
                  <a:srgbClr val="262626"/>
                </a:solidFill>
                <a:latin typeface="Arial"/>
                <a:ea typeface="Yu Gothic"/>
                <a:cs typeface="Yu Gothic"/>
              </a:rPr>
              <a:t>完成成果物の確認</a:t>
            </a:r>
          </a:p>
        </p:txBody>
      </p:sp>
      <p:sp>
        <p:nvSpPr>
          <p:cNvPr id="18" name="Rounded Rectangle 17"/>
          <p:cNvSpPr/>
          <p:nvPr/>
        </p:nvSpPr>
        <p:spPr>
          <a:xfrm>
            <a:off x="609600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Rectangle 18"/>
          <p:cNvSpPr/>
          <p:nvPr/>
        </p:nvSpPr>
        <p:spPr>
          <a:xfrm>
            <a:off x="6096000" y="1170432"/>
            <a:ext cx="2682240" cy="4114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Oval 19"/>
          <p:cNvSpPr/>
          <p:nvPr/>
        </p:nvSpPr>
        <p:spPr>
          <a:xfrm>
            <a:off x="6205728" y="1298448"/>
            <a:ext cx="237744" cy="237744"/>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3</a:t>
            </a:r>
          </a:p>
        </p:txBody>
      </p:sp>
      <p:sp>
        <p:nvSpPr>
          <p:cNvPr id="21" name="Rounded Rectangle 20"/>
          <p:cNvSpPr/>
          <p:nvPr/>
        </p:nvSpPr>
        <p:spPr>
          <a:xfrm>
            <a:off x="6507480" y="1316736"/>
            <a:ext cx="868680" cy="201168"/>
          </a:xfrm>
          <a:prstGeom prst="roundRect">
            <a:avLst>
              <a:gd name="adj" fmla="val 50000"/>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40分</a:t>
            </a:r>
          </a:p>
        </p:txBody>
      </p:sp>
      <p:sp>
        <p:nvSpPr>
          <p:cNvPr id="22" name="TextBox 21"/>
          <p:cNvSpPr txBox="1"/>
          <p:nvPr/>
        </p:nvSpPr>
        <p:spPr>
          <a:xfrm>
            <a:off x="620572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ハンズオン</a:t>
            </a:r>
          </a:p>
          <a:p>
            <a:pPr>
              <a:lnSpc>
                <a:spcPct val="92000"/>
              </a:lnSpc>
              <a:spcBef>
                <a:spcPts val="0"/>
              </a:spcBef>
              <a:spcAft>
                <a:spcPts val="0"/>
              </a:spcAft>
            </a:pPr>
            <a:r>
              <a:rPr sz="1300" b="1">
                <a:solidFill>
                  <a:srgbClr val="11567F"/>
                </a:solidFill>
                <a:latin typeface="Arial"/>
                <a:ea typeface="Yu Gothic"/>
                <a:cs typeface="Yu Gothic"/>
              </a:rPr>
              <a:t>報告を検証し、資料を作る</a:t>
            </a:r>
          </a:p>
        </p:txBody>
      </p:sp>
      <p:sp>
        <p:nvSpPr>
          <p:cNvPr id="23" name="TextBox 22"/>
          <p:cNvSpPr txBox="1"/>
          <p:nvPr/>
        </p:nvSpPr>
        <p:spPr>
          <a:xfrm>
            <a:off x="620572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5つの実習を一本道で進みます</a:t>
            </a:r>
          </a:p>
        </p:txBody>
      </p:sp>
      <p:sp>
        <p:nvSpPr>
          <p:cNvPr id="24" name="TextBox 23"/>
          <p:cNvSpPr txBox="1"/>
          <p:nvPr/>
        </p:nvSpPr>
        <p:spPr>
          <a:xfrm>
            <a:off x="620572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報告と数字の突き合わせ</a:t>
            </a:r>
          </a:p>
          <a:p>
            <a:pPr>
              <a:lnSpc>
                <a:spcPct val="102000"/>
              </a:lnSpc>
              <a:spcBef>
                <a:spcPts val="30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真因と反証</a:t>
            </a:r>
          </a:p>
          <a:p>
            <a:pPr>
              <a:lnSpc>
                <a:spcPct val="102000"/>
              </a:lnSpc>
              <a:spcBef>
                <a:spcPts val="30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手元ファイルの添付</a:t>
            </a:r>
          </a:p>
          <a:p>
            <a:pPr>
              <a:lnSpc>
                <a:spcPct val="102000"/>
              </a:lnSpc>
              <a:spcBef>
                <a:spcPts val="30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PowerPoint の自動生成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60分後、次の4つができるようになります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本日のゴール</a:t>
            </a:r>
          </a:p>
        </p:txBody>
      </p:sp>
      <p:sp>
        <p:nvSpPr>
          <p:cNvPr id="4" name="Rounded Rectangle 3"/>
          <p:cNvSpPr/>
          <p:nvPr/>
        </p:nvSpPr>
        <p:spPr>
          <a:xfrm>
            <a:off x="365760" y="1170432"/>
            <a:ext cx="196596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1965960" cy="4114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Oval 5"/>
          <p:cNvSpPr/>
          <p:nvPr/>
        </p:nvSpPr>
        <p:spPr>
          <a:xfrm>
            <a:off x="475488" y="1298448"/>
            <a:ext cx="237744" cy="237744"/>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1</a:t>
            </a:r>
          </a:p>
        </p:txBody>
      </p:sp>
      <p:sp>
        <p:nvSpPr>
          <p:cNvPr id="7" name="TextBox 6"/>
          <p:cNvSpPr txBox="1"/>
          <p:nvPr/>
        </p:nvSpPr>
        <p:spPr>
          <a:xfrm>
            <a:off x="475488" y="1600200"/>
            <a:ext cx="174650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報告と数字の</a:t>
            </a:r>
          </a:p>
          <a:p>
            <a:pPr>
              <a:lnSpc>
                <a:spcPct val="92000"/>
              </a:lnSpc>
              <a:spcBef>
                <a:spcPts val="0"/>
              </a:spcBef>
              <a:spcAft>
                <a:spcPts val="0"/>
              </a:spcAft>
            </a:pPr>
            <a:r>
              <a:rPr sz="1300" b="1">
                <a:solidFill>
                  <a:srgbClr val="11567F"/>
                </a:solidFill>
                <a:latin typeface="Arial"/>
                <a:ea typeface="Yu Gothic"/>
                <a:cs typeface="Yu Gothic"/>
              </a:rPr>
              <a:t>ギャップを見つける</a:t>
            </a:r>
          </a:p>
        </p:txBody>
      </p:sp>
      <p:sp>
        <p:nvSpPr>
          <p:cNvPr id="8" name="TextBox 7"/>
          <p:cNvSpPr txBox="1"/>
          <p:nvPr/>
        </p:nvSpPr>
        <p:spPr>
          <a:xfrm>
            <a:off x="475488" y="2212848"/>
            <a:ext cx="174650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部下の報告書に書かれていない指標に気づけるようになります</a:t>
            </a:r>
          </a:p>
        </p:txBody>
      </p:sp>
      <p:sp>
        <p:nvSpPr>
          <p:cNvPr id="9" name="TextBox 8"/>
          <p:cNvSpPr txBox="1"/>
          <p:nvPr/>
        </p:nvSpPr>
        <p:spPr>
          <a:xfrm>
            <a:off x="475488" y="2697480"/>
            <a:ext cx="1746504" cy="1874519"/>
          </a:xfrm>
          <a:prstGeom prst="rect">
            <a:avLst/>
          </a:prstGeom>
          <a:noFill/>
        </p:spPr>
        <p:txBody>
          <a:bodyPr wrap="square" anchor="t" lIns="0" rIns="0" tIns="0" bIns="0">
            <a:spAutoFit/>
          </a:bodyPr>
          <a:lstStyle/>
          <a:p/>
        </p:txBody>
      </p:sp>
      <p:sp>
        <p:nvSpPr>
          <p:cNvPr id="10" name="Rounded Rectangle 9"/>
          <p:cNvSpPr/>
          <p:nvPr/>
        </p:nvSpPr>
        <p:spPr>
          <a:xfrm>
            <a:off x="2514600" y="1170432"/>
            <a:ext cx="196596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ectangle 10"/>
          <p:cNvSpPr/>
          <p:nvPr/>
        </p:nvSpPr>
        <p:spPr>
          <a:xfrm>
            <a:off x="2514600" y="1170432"/>
            <a:ext cx="1965960" cy="41148"/>
          </a:xfrm>
          <a:prstGeom prst="rect">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Oval 11"/>
          <p:cNvSpPr/>
          <p:nvPr/>
        </p:nvSpPr>
        <p:spPr>
          <a:xfrm>
            <a:off x="2624328" y="1298448"/>
            <a:ext cx="237744" cy="237744"/>
          </a:xfrm>
          <a:prstGeom prst="ellipse">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2</a:t>
            </a:r>
          </a:p>
        </p:txBody>
      </p:sp>
      <p:sp>
        <p:nvSpPr>
          <p:cNvPr id="13" name="TextBox 12"/>
          <p:cNvSpPr txBox="1"/>
          <p:nvPr/>
        </p:nvSpPr>
        <p:spPr>
          <a:xfrm>
            <a:off x="2624328" y="1600200"/>
            <a:ext cx="174650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横断して</a:t>
            </a:r>
          </a:p>
          <a:p>
            <a:pPr>
              <a:lnSpc>
                <a:spcPct val="92000"/>
              </a:lnSpc>
              <a:spcBef>
                <a:spcPts val="0"/>
              </a:spcBef>
              <a:spcAft>
                <a:spcPts val="0"/>
              </a:spcAft>
            </a:pPr>
            <a:r>
              <a:rPr sz="1300" b="1">
                <a:solidFill>
                  <a:srgbClr val="11567F"/>
                </a:solidFill>
                <a:latin typeface="Arial"/>
                <a:ea typeface="Yu Gothic"/>
                <a:cs typeface="Yu Gothic"/>
              </a:rPr>
              <a:t>原因を調べる</a:t>
            </a:r>
          </a:p>
        </p:txBody>
      </p:sp>
      <p:sp>
        <p:nvSpPr>
          <p:cNvPr id="14" name="TextBox 13"/>
          <p:cNvSpPr txBox="1"/>
          <p:nvPr/>
        </p:nvSpPr>
        <p:spPr>
          <a:xfrm>
            <a:off x="2624328" y="2212848"/>
            <a:ext cx="174650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数値・文書・手元ファイルをまたいで理由を追えるようになります</a:t>
            </a:r>
          </a:p>
        </p:txBody>
      </p:sp>
      <p:sp>
        <p:nvSpPr>
          <p:cNvPr id="15" name="TextBox 14"/>
          <p:cNvSpPr txBox="1"/>
          <p:nvPr/>
        </p:nvSpPr>
        <p:spPr>
          <a:xfrm>
            <a:off x="2624328" y="2697480"/>
            <a:ext cx="1746504" cy="1874519"/>
          </a:xfrm>
          <a:prstGeom prst="rect">
            <a:avLst/>
          </a:prstGeom>
          <a:noFill/>
        </p:spPr>
        <p:txBody>
          <a:bodyPr wrap="square" anchor="t" lIns="0" rIns="0" tIns="0" bIns="0">
            <a:spAutoFit/>
          </a:bodyPr>
          <a:lstStyle/>
          <a:p/>
        </p:txBody>
      </p:sp>
      <p:sp>
        <p:nvSpPr>
          <p:cNvPr id="16" name="Rounded Rectangle 15"/>
          <p:cNvSpPr/>
          <p:nvPr/>
        </p:nvSpPr>
        <p:spPr>
          <a:xfrm>
            <a:off x="4663440" y="1170432"/>
            <a:ext cx="196596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Rectangle 16"/>
          <p:cNvSpPr/>
          <p:nvPr/>
        </p:nvSpPr>
        <p:spPr>
          <a:xfrm>
            <a:off x="4663440" y="1170432"/>
            <a:ext cx="1965960" cy="41148"/>
          </a:xfrm>
          <a:prstGeom prst="rect">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Oval 17"/>
          <p:cNvSpPr/>
          <p:nvPr/>
        </p:nvSpPr>
        <p:spPr>
          <a:xfrm>
            <a:off x="4773168" y="1298448"/>
            <a:ext cx="237744" cy="237744"/>
          </a:xfrm>
          <a:prstGeom prst="ellipse">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3</a:t>
            </a:r>
          </a:p>
        </p:txBody>
      </p:sp>
      <p:sp>
        <p:nvSpPr>
          <p:cNvPr id="19" name="TextBox 18"/>
          <p:cNvSpPr txBox="1"/>
          <p:nvPr/>
        </p:nvSpPr>
        <p:spPr>
          <a:xfrm>
            <a:off x="4773168" y="1600200"/>
            <a:ext cx="174650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AIの回答を</a:t>
            </a:r>
          </a:p>
          <a:p>
            <a:pPr>
              <a:lnSpc>
                <a:spcPct val="92000"/>
              </a:lnSpc>
              <a:spcBef>
                <a:spcPts val="0"/>
              </a:spcBef>
              <a:spcAft>
                <a:spcPts val="0"/>
              </a:spcAft>
            </a:pPr>
            <a:r>
              <a:rPr sz="1300" b="1">
                <a:solidFill>
                  <a:srgbClr val="11567F"/>
                </a:solidFill>
                <a:latin typeface="Arial"/>
                <a:ea typeface="Yu Gothic"/>
                <a:cs typeface="Yu Gothic"/>
              </a:rPr>
              <a:t>分けて読む</a:t>
            </a:r>
          </a:p>
        </p:txBody>
      </p:sp>
      <p:sp>
        <p:nvSpPr>
          <p:cNvPr id="20" name="TextBox 19"/>
          <p:cNvSpPr txBox="1"/>
          <p:nvPr/>
        </p:nvSpPr>
        <p:spPr>
          <a:xfrm>
            <a:off x="4773168" y="2212848"/>
            <a:ext cx="174650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事実・文書・仮説・反証を切り分けて読めるようになります</a:t>
            </a:r>
          </a:p>
        </p:txBody>
      </p:sp>
      <p:sp>
        <p:nvSpPr>
          <p:cNvPr id="21" name="TextBox 20"/>
          <p:cNvSpPr txBox="1"/>
          <p:nvPr/>
        </p:nvSpPr>
        <p:spPr>
          <a:xfrm>
            <a:off x="4773168" y="2697480"/>
            <a:ext cx="1746504" cy="1874519"/>
          </a:xfrm>
          <a:prstGeom prst="rect">
            <a:avLst/>
          </a:prstGeom>
          <a:noFill/>
        </p:spPr>
        <p:txBody>
          <a:bodyPr wrap="square" anchor="t" lIns="0" rIns="0" tIns="0" bIns="0">
            <a:spAutoFit/>
          </a:bodyPr>
          <a:lstStyle/>
          <a:p/>
        </p:txBody>
      </p:sp>
      <p:sp>
        <p:nvSpPr>
          <p:cNvPr id="22" name="Rounded Rectangle 21"/>
          <p:cNvSpPr/>
          <p:nvPr/>
        </p:nvSpPr>
        <p:spPr>
          <a:xfrm>
            <a:off x="6812280" y="1170432"/>
            <a:ext cx="196596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3" name="Rectangle 22"/>
          <p:cNvSpPr/>
          <p:nvPr/>
        </p:nvSpPr>
        <p:spPr>
          <a:xfrm>
            <a:off x="6812280" y="1170432"/>
            <a:ext cx="1965960" cy="41148"/>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Oval 23"/>
          <p:cNvSpPr/>
          <p:nvPr/>
        </p:nvSpPr>
        <p:spPr>
          <a:xfrm>
            <a:off x="6922008" y="1298448"/>
            <a:ext cx="237744" cy="237744"/>
          </a:xfrm>
          <a:prstGeom prst="ellipse">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4</a:t>
            </a:r>
          </a:p>
        </p:txBody>
      </p:sp>
      <p:sp>
        <p:nvSpPr>
          <p:cNvPr id="25" name="TextBox 24"/>
          <p:cNvSpPr txBox="1"/>
          <p:nvPr/>
        </p:nvSpPr>
        <p:spPr>
          <a:xfrm>
            <a:off x="6922008" y="1600200"/>
            <a:ext cx="174650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分析結果を</a:t>
            </a:r>
          </a:p>
          <a:p>
            <a:pPr>
              <a:lnSpc>
                <a:spcPct val="92000"/>
              </a:lnSpc>
              <a:spcBef>
                <a:spcPts val="0"/>
              </a:spcBef>
              <a:spcAft>
                <a:spcPts val="0"/>
              </a:spcAft>
            </a:pPr>
            <a:r>
              <a:rPr sz="1300" b="1">
                <a:solidFill>
                  <a:srgbClr val="11567F"/>
                </a:solidFill>
                <a:latin typeface="Arial"/>
                <a:ea typeface="Yu Gothic"/>
                <a:cs typeface="Yu Gothic"/>
              </a:rPr>
              <a:t>そのまま資料にする</a:t>
            </a:r>
          </a:p>
        </p:txBody>
      </p:sp>
      <p:sp>
        <p:nvSpPr>
          <p:cNvPr id="26" name="TextBox 25"/>
          <p:cNvSpPr txBox="1"/>
          <p:nvPr/>
        </p:nvSpPr>
        <p:spPr>
          <a:xfrm>
            <a:off x="6922008" y="2212848"/>
            <a:ext cx="174650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PowerPoint の事業計画資料まで一気につながります</a:t>
            </a:r>
          </a:p>
        </p:txBody>
      </p:sp>
      <p:sp>
        <p:nvSpPr>
          <p:cNvPr id="27" name="TextBox 26"/>
          <p:cNvSpPr txBox="1"/>
          <p:nvPr/>
        </p:nvSpPr>
        <p:spPr>
          <a:xfrm>
            <a:off x="6922008" y="2697480"/>
            <a:ext cx="1746504" cy="1874519"/>
          </a:xfrm>
          <a:prstGeom prst="rect">
            <a:avLst/>
          </a:prstGeom>
          <a:noFill/>
        </p:spPr>
        <p:txBody>
          <a:bodyPr wrap="square" anchor="t" lIns="0" rIns="0" tIns="0" bIns="0">
            <a:spAutoFit/>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問題提起</a:t>
            </a:r>
          </a:p>
        </p:txBody>
      </p:sp>
      <p:sp>
        <p:nvSpPr>
          <p:cNvPr id="4" name="Rounded Rectangle 3"/>
          <p:cNvSpPr/>
          <p:nvPr/>
        </p:nvSpPr>
        <p:spPr>
          <a:xfrm>
            <a:off x="365760" y="1170432"/>
            <a:ext cx="8412480" cy="932688"/>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64008" cy="932688"/>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TextBox 5"/>
          <p:cNvSpPr txBox="1"/>
          <p:nvPr/>
        </p:nvSpPr>
        <p:spPr>
          <a:xfrm>
            <a:off x="621792" y="1261872"/>
            <a:ext cx="7955279" cy="749808"/>
          </a:xfrm>
          <a:prstGeom prst="rect">
            <a:avLst/>
          </a:prstGeom>
          <a:noFill/>
        </p:spPr>
        <p:txBody>
          <a:bodyPr wrap="square" anchor="ctr" lIns="0" rIns="0" tIns="0" bIns="0">
            <a:spAutoFit/>
          </a:bodyPr>
          <a:lstStyle/>
          <a:p>
            <a:pPr>
              <a:lnSpc>
                <a:spcPct val="105000"/>
              </a:lnSpc>
              <a:spcBef>
                <a:spcPts val="0"/>
              </a:spcBef>
              <a:spcAft>
                <a:spcPts val="0"/>
              </a:spcAft>
            </a:pPr>
            <a:r>
              <a:rPr sz="1900" b="1">
                <a:solidFill>
                  <a:srgbClr val="11567F"/>
                </a:solidFill>
                <a:latin typeface="Arial"/>
                <a:ea typeface="Yu Gothic"/>
                <a:cs typeface="Yu Gothic"/>
              </a:rPr>
              <a:t>同じAIを使っているのに、なぜ差がつくのか</a:t>
            </a:r>
          </a:p>
        </p:txBody>
      </p:sp>
      <p:sp>
        <p:nvSpPr>
          <p:cNvPr id="7" name="TextBox 6"/>
          <p:cNvSpPr txBox="1"/>
          <p:nvPr/>
        </p:nvSpPr>
        <p:spPr>
          <a:xfrm>
            <a:off x="420624" y="2286000"/>
            <a:ext cx="8302752" cy="1975104"/>
          </a:xfrm>
          <a:prstGeom prst="rect">
            <a:avLst/>
          </a:prstGeom>
          <a:noFill/>
        </p:spPr>
        <p:txBody>
          <a:bodyPr wrap="square" anchor="t" lIns="0" rIns="0" tIns="0" bIns="0">
            <a:spAutoFit/>
          </a:bodyPr>
          <a:lstStyle/>
          <a:p>
            <a:pPr>
              <a:lnSpc>
                <a:spcPct val="116000"/>
              </a:lnSpc>
              <a:spcBef>
                <a:spcPts val="0"/>
              </a:spcBef>
              <a:spcAft>
                <a:spcPts val="0"/>
              </a:spcAft>
            </a:pPr>
            <a:r>
              <a:rPr sz="1100" b="1">
                <a:solidFill>
                  <a:srgbClr val="FF9F36"/>
                </a:solidFill>
                <a:latin typeface="Arial"/>
                <a:ea typeface="Yu Gothic"/>
                <a:cs typeface="Yu Gothic"/>
              </a:rPr>
              <a:t>答え　</a:t>
            </a:r>
            <a:r>
              <a:rPr sz="1100" b="0">
                <a:solidFill>
                  <a:srgbClr val="262626"/>
                </a:solidFill>
                <a:latin typeface="Arial"/>
                <a:ea typeface="Yu Gothic"/>
                <a:cs typeface="Yu Gothic"/>
              </a:rPr>
              <a:t>AIの性能差ではありません。AIが自社のデータにつながっているかどうかの差です。</a:t>
            </a:r>
          </a:p>
          <a:p>
            <a:pPr>
              <a:lnSpc>
                <a:spcPct val="116000"/>
              </a:lnSpc>
              <a:spcBef>
                <a:spcPts val="700"/>
              </a:spcBef>
              <a:spcAft>
                <a:spcPts val="0"/>
              </a:spcAft>
            </a:pPr>
            <a:r>
              <a:rPr sz="1100" b="1">
                <a:solidFill>
                  <a:srgbClr val="FF9F36"/>
                </a:solidFill>
                <a:latin typeface="Arial"/>
                <a:ea typeface="Yu Gothic"/>
                <a:cs typeface="Yu Gothic"/>
              </a:rPr>
              <a:t>● </a:t>
            </a:r>
            <a:r>
              <a:rPr sz="1100" b="0">
                <a:solidFill>
                  <a:srgbClr val="262626"/>
                </a:solidFill>
                <a:latin typeface="Arial"/>
                <a:ea typeface="Yu Gothic"/>
                <a:cs typeface="Yu Gothic"/>
              </a:rPr>
              <a:t>汎用的なAIは、世の中の一般的な知識には答えられます。しかし自社の売上、自社の在庫、自社の顧客の声については何も知りません。</a:t>
            </a:r>
          </a:p>
          <a:p>
            <a:pPr>
              <a:lnSpc>
                <a:spcPct val="116000"/>
              </a:lnSpc>
              <a:spcBef>
                <a:spcPts val="700"/>
              </a:spcBef>
              <a:spcAft>
                <a:spcPts val="0"/>
              </a:spcAft>
            </a:pPr>
            <a:r>
              <a:rPr sz="1100" b="1">
                <a:solidFill>
                  <a:srgbClr val="FF9F36"/>
                </a:solidFill>
                <a:latin typeface="Arial"/>
                <a:ea typeface="Yu Gothic"/>
                <a:cs typeface="Yu Gothic"/>
              </a:rPr>
              <a:t>● </a:t>
            </a:r>
            <a:r>
              <a:rPr sz="1100" b="0">
                <a:solidFill>
                  <a:srgbClr val="262626"/>
                </a:solidFill>
                <a:latin typeface="Arial"/>
                <a:ea typeface="Yu Gothic"/>
                <a:cs typeface="Yu Gothic"/>
              </a:rPr>
              <a:t>つながっていないAIに業務判断を求めても、それらしい文章が返ってくるだけで、根拠を追えません。</a:t>
            </a:r>
          </a:p>
        </p:txBody>
      </p:sp>
      <p:sp>
        <p:nvSpPr>
          <p:cNvPr id="8" name="Rounded Rectangle 7"/>
          <p:cNvSpPr/>
          <p:nvPr/>
        </p:nvSpPr>
        <p:spPr>
          <a:xfrm>
            <a:off x="365760" y="4297680"/>
            <a:ext cx="8412480" cy="384048"/>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30352" y="4352544"/>
            <a:ext cx="8083296" cy="274320"/>
          </a:xfrm>
          <a:prstGeom prst="rect">
            <a:avLst/>
          </a:prstGeom>
          <a:noFill/>
        </p:spPr>
        <p:txBody>
          <a:bodyPr wrap="square" anchor="ctr" lIns="0" rIns="0" tIns="0" bIns="0">
            <a:spAutoFit/>
          </a:bodyPr>
          <a:lstStyle/>
          <a:p>
            <a:pPr>
              <a:lnSpc>
                <a:spcPct val="102000"/>
              </a:lnSpc>
              <a:spcBef>
                <a:spcPts val="0"/>
              </a:spcBef>
              <a:spcAft>
                <a:spcPts val="0"/>
              </a:spcAft>
            </a:pPr>
            <a:r>
              <a:rPr sz="1100" b="1">
                <a:solidFill>
                  <a:srgbClr val="FFFFFF"/>
                </a:solidFill>
                <a:latin typeface="Arial"/>
                <a:ea typeface="Yu Gothic"/>
                <a:cs typeface="Yu Gothic"/>
              </a:rPr>
              <a:t>本日のハンズオンは、AIが自社データにつながっている状態を体験していただくものです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汎用AIに「今期の売上はどうか」と聞いても答えられない、3つの理由</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つながっていないAIの限界</a:t>
            </a:r>
          </a:p>
        </p:txBody>
      </p:sp>
      <p:sp>
        <p:nvSpPr>
          <p:cNvPr id="4" name="Rounded Rectangle 3"/>
          <p:cNvSpPr/>
          <p:nvPr/>
        </p:nvSpPr>
        <p:spPr>
          <a:xfrm>
            <a:off x="36576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2682240" cy="41148"/>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Oval 5"/>
          <p:cNvSpPr/>
          <p:nvPr/>
        </p:nvSpPr>
        <p:spPr>
          <a:xfrm>
            <a:off x="475488" y="1298448"/>
            <a:ext cx="237744" cy="237744"/>
          </a:xfrm>
          <a:prstGeom prst="ellipse">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1</a:t>
            </a:r>
          </a:p>
        </p:txBody>
      </p:sp>
      <p:sp>
        <p:nvSpPr>
          <p:cNvPr id="7" name="TextBox 6"/>
          <p:cNvSpPr txBox="1"/>
          <p:nvPr/>
        </p:nvSpPr>
        <p:spPr>
          <a:xfrm>
            <a:off x="47548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自社の「今期」が</a:t>
            </a:r>
          </a:p>
          <a:p>
            <a:pPr>
              <a:lnSpc>
                <a:spcPct val="92000"/>
              </a:lnSpc>
              <a:spcBef>
                <a:spcPts val="0"/>
              </a:spcBef>
              <a:spcAft>
                <a:spcPts val="0"/>
              </a:spcAft>
            </a:pPr>
            <a:r>
              <a:rPr sz="1300" b="1">
                <a:solidFill>
                  <a:srgbClr val="11567F"/>
                </a:solidFill>
                <a:latin typeface="Arial"/>
                <a:ea typeface="Yu Gothic"/>
                <a:cs typeface="Yu Gothic"/>
              </a:rPr>
              <a:t>いつか知らない</a:t>
            </a:r>
          </a:p>
        </p:txBody>
      </p:sp>
      <p:sp>
        <p:nvSpPr>
          <p:cNvPr id="8" name="TextBox 7"/>
          <p:cNvSpPr txBox="1"/>
          <p:nvPr/>
        </p:nvSpPr>
        <p:spPr>
          <a:xfrm>
            <a:off x="47548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会計年度の開始月、四半期の区切り、繁忙期。すべて会社ごとに違います。</a:t>
            </a:r>
          </a:p>
        </p:txBody>
      </p:sp>
      <p:sp>
        <p:nvSpPr>
          <p:cNvPr id="9" name="TextBox 8"/>
          <p:cNvSpPr txBox="1"/>
          <p:nvPr/>
        </p:nvSpPr>
        <p:spPr>
          <a:xfrm>
            <a:off x="47548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5B5B5B"/>
                </a:solidFill>
                <a:latin typeface="Arial"/>
                <a:ea typeface="Yu Gothic"/>
                <a:cs typeface="Yu Gothic"/>
              </a:rPr>
              <a:t>● </a:t>
            </a:r>
            <a:r>
              <a:rPr sz="800" b="0">
                <a:solidFill>
                  <a:srgbClr val="262626"/>
                </a:solidFill>
                <a:latin typeface="Arial"/>
                <a:ea typeface="Yu Gothic"/>
                <a:cs typeface="Yu Gothic"/>
              </a:rPr>
              <a:t>4月開始か1月開始かを知らない</a:t>
            </a:r>
          </a:p>
          <a:p>
            <a:pPr>
              <a:lnSpc>
                <a:spcPct val="102000"/>
              </a:lnSpc>
              <a:spcBef>
                <a:spcPts val="300"/>
              </a:spcBef>
              <a:spcAft>
                <a:spcPts val="0"/>
              </a:spcAft>
            </a:pPr>
            <a:r>
              <a:rPr sz="800" b="1">
                <a:solidFill>
                  <a:srgbClr val="5B5B5B"/>
                </a:solidFill>
                <a:latin typeface="Arial"/>
                <a:ea typeface="Yu Gothic"/>
                <a:cs typeface="Yu Gothic"/>
              </a:rPr>
              <a:t>● </a:t>
            </a:r>
            <a:r>
              <a:rPr sz="800" b="0">
                <a:solidFill>
                  <a:srgbClr val="262626"/>
                </a:solidFill>
                <a:latin typeface="Arial"/>
                <a:ea typeface="Yu Gothic"/>
                <a:cs typeface="Yu Gothic"/>
              </a:rPr>
              <a:t>「次期」がどこからかも判断できない</a:t>
            </a:r>
          </a:p>
        </p:txBody>
      </p:sp>
      <p:sp>
        <p:nvSpPr>
          <p:cNvPr id="10" name="Rounded Rectangle 9"/>
          <p:cNvSpPr/>
          <p:nvPr/>
        </p:nvSpPr>
        <p:spPr>
          <a:xfrm>
            <a:off x="323088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ectangle 10"/>
          <p:cNvSpPr/>
          <p:nvPr/>
        </p:nvSpPr>
        <p:spPr>
          <a:xfrm>
            <a:off x="3230880" y="1170432"/>
            <a:ext cx="2682240" cy="41148"/>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Oval 11"/>
          <p:cNvSpPr/>
          <p:nvPr/>
        </p:nvSpPr>
        <p:spPr>
          <a:xfrm>
            <a:off x="3340608" y="1298448"/>
            <a:ext cx="237744" cy="237744"/>
          </a:xfrm>
          <a:prstGeom prst="ellipse">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2</a:t>
            </a:r>
          </a:p>
        </p:txBody>
      </p:sp>
      <p:sp>
        <p:nvSpPr>
          <p:cNvPr id="13" name="TextBox 12"/>
          <p:cNvSpPr txBox="1"/>
          <p:nvPr/>
        </p:nvSpPr>
        <p:spPr>
          <a:xfrm>
            <a:off x="334060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自社の「売上」の</a:t>
            </a:r>
          </a:p>
          <a:p>
            <a:pPr>
              <a:lnSpc>
                <a:spcPct val="92000"/>
              </a:lnSpc>
              <a:spcBef>
                <a:spcPts val="0"/>
              </a:spcBef>
              <a:spcAft>
                <a:spcPts val="0"/>
              </a:spcAft>
            </a:pPr>
            <a:r>
              <a:rPr sz="1300" b="1">
                <a:solidFill>
                  <a:srgbClr val="11567F"/>
                </a:solidFill>
                <a:latin typeface="Arial"/>
                <a:ea typeface="Yu Gothic"/>
                <a:cs typeface="Yu Gothic"/>
              </a:rPr>
              <a:t>定義を知らない</a:t>
            </a:r>
          </a:p>
        </p:txBody>
      </p:sp>
      <p:sp>
        <p:nvSpPr>
          <p:cNvPr id="14" name="TextBox 13"/>
          <p:cNvSpPr txBox="1"/>
          <p:nvPr/>
        </p:nvSpPr>
        <p:spPr>
          <a:xfrm>
            <a:off x="334060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値引き後か前か。返品を引くのか。税抜か税込か。</a:t>
            </a:r>
          </a:p>
        </p:txBody>
      </p:sp>
      <p:sp>
        <p:nvSpPr>
          <p:cNvPr id="15" name="TextBox 14"/>
          <p:cNvSpPr txBox="1"/>
          <p:nvPr/>
        </p:nvSpPr>
        <p:spPr>
          <a:xfrm>
            <a:off x="334060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5B5B5B"/>
                </a:solidFill>
                <a:latin typeface="Arial"/>
                <a:ea typeface="Yu Gothic"/>
                <a:cs typeface="Yu Gothic"/>
              </a:rPr>
              <a:t>● </a:t>
            </a:r>
            <a:r>
              <a:rPr sz="800" b="0">
                <a:solidFill>
                  <a:srgbClr val="262626"/>
                </a:solidFill>
                <a:latin typeface="Arial"/>
                <a:ea typeface="Yu Gothic"/>
                <a:cs typeface="Yu Gothic"/>
              </a:rPr>
              <a:t>同じ「売上」でも社内で数値が変わる</a:t>
            </a:r>
          </a:p>
          <a:p>
            <a:pPr>
              <a:lnSpc>
                <a:spcPct val="102000"/>
              </a:lnSpc>
              <a:spcBef>
                <a:spcPts val="300"/>
              </a:spcBef>
              <a:spcAft>
                <a:spcPts val="0"/>
              </a:spcAft>
            </a:pPr>
            <a:r>
              <a:rPr sz="800" b="1">
                <a:solidFill>
                  <a:srgbClr val="5B5B5B"/>
                </a:solidFill>
                <a:latin typeface="Arial"/>
                <a:ea typeface="Yu Gothic"/>
                <a:cs typeface="Yu Gothic"/>
              </a:rPr>
              <a:t>● </a:t>
            </a:r>
            <a:r>
              <a:rPr sz="800" b="0">
                <a:solidFill>
                  <a:srgbClr val="262626"/>
                </a:solidFill>
                <a:latin typeface="Arial"/>
                <a:ea typeface="Yu Gothic"/>
                <a:cs typeface="Yu Gothic"/>
              </a:rPr>
              <a:t>定義が曖昧なまま集計すると比較できない</a:t>
            </a:r>
          </a:p>
        </p:txBody>
      </p:sp>
      <p:sp>
        <p:nvSpPr>
          <p:cNvPr id="16" name="Rounded Rectangle 15"/>
          <p:cNvSpPr/>
          <p:nvPr/>
        </p:nvSpPr>
        <p:spPr>
          <a:xfrm>
            <a:off x="609600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Rectangle 16"/>
          <p:cNvSpPr/>
          <p:nvPr/>
        </p:nvSpPr>
        <p:spPr>
          <a:xfrm>
            <a:off x="6096000" y="1170432"/>
            <a:ext cx="2682240" cy="41148"/>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Oval 17"/>
          <p:cNvSpPr/>
          <p:nvPr/>
        </p:nvSpPr>
        <p:spPr>
          <a:xfrm>
            <a:off x="6205728" y="1298448"/>
            <a:ext cx="237744" cy="237744"/>
          </a:xfrm>
          <a:prstGeom prst="ellipse">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3</a:t>
            </a:r>
          </a:p>
        </p:txBody>
      </p:sp>
      <p:sp>
        <p:nvSpPr>
          <p:cNvPr id="19" name="TextBox 18"/>
          <p:cNvSpPr txBox="1"/>
          <p:nvPr/>
        </p:nvSpPr>
        <p:spPr>
          <a:xfrm>
            <a:off x="620572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そもそも自社の</a:t>
            </a:r>
          </a:p>
          <a:p>
            <a:pPr>
              <a:lnSpc>
                <a:spcPct val="92000"/>
              </a:lnSpc>
              <a:spcBef>
                <a:spcPts val="0"/>
              </a:spcBef>
              <a:spcAft>
                <a:spcPts val="0"/>
              </a:spcAft>
            </a:pPr>
            <a:r>
              <a:rPr sz="1300" b="1">
                <a:solidFill>
                  <a:srgbClr val="11567F"/>
                </a:solidFill>
                <a:latin typeface="Arial"/>
                <a:ea typeface="Yu Gothic"/>
                <a:cs typeface="Yu Gothic"/>
              </a:rPr>
              <a:t>データを見ていない</a:t>
            </a:r>
          </a:p>
        </p:txBody>
      </p:sp>
      <p:sp>
        <p:nvSpPr>
          <p:cNvPr id="20" name="TextBox 19"/>
          <p:cNvSpPr txBox="1"/>
          <p:nvPr/>
        </p:nvSpPr>
        <p:spPr>
          <a:xfrm>
            <a:off x="620572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接続されていなければ、どれだけ賢いAIでも数字は出せません。</a:t>
            </a:r>
          </a:p>
        </p:txBody>
      </p:sp>
      <p:sp>
        <p:nvSpPr>
          <p:cNvPr id="21" name="TextBox 20"/>
          <p:cNvSpPr txBox="1"/>
          <p:nvPr/>
        </p:nvSpPr>
        <p:spPr>
          <a:xfrm>
            <a:off x="620572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5B5B5B"/>
                </a:solidFill>
                <a:latin typeface="Arial"/>
                <a:ea typeface="Yu Gothic"/>
                <a:cs typeface="Yu Gothic"/>
              </a:rPr>
              <a:t>● </a:t>
            </a:r>
            <a:r>
              <a:rPr sz="800" b="0">
                <a:solidFill>
                  <a:srgbClr val="262626"/>
                </a:solidFill>
                <a:latin typeface="Arial"/>
                <a:ea typeface="Yu Gothic"/>
                <a:cs typeface="Yu Gothic"/>
              </a:rPr>
              <a:t>推測で数値を作られると危険</a:t>
            </a:r>
          </a:p>
          <a:p>
            <a:pPr>
              <a:lnSpc>
                <a:spcPct val="102000"/>
              </a:lnSpc>
              <a:spcBef>
                <a:spcPts val="300"/>
              </a:spcBef>
              <a:spcAft>
                <a:spcPts val="0"/>
              </a:spcAft>
            </a:pPr>
            <a:r>
              <a:rPr sz="800" b="1">
                <a:solidFill>
                  <a:srgbClr val="5B5B5B"/>
                </a:solidFill>
                <a:latin typeface="Arial"/>
                <a:ea typeface="Yu Gothic"/>
                <a:cs typeface="Yu Gothic"/>
              </a:rPr>
              <a:t>● </a:t>
            </a:r>
            <a:r>
              <a:rPr sz="800" b="0">
                <a:solidFill>
                  <a:srgbClr val="262626"/>
                </a:solidFill>
                <a:latin typeface="Arial"/>
                <a:ea typeface="Yu Gothic"/>
                <a:cs typeface="Yu Gothic"/>
              </a:rPr>
              <a:t>根拠のリンクをたどれない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AIが業務で使える答えを返すために必要な前提。本日は3つとも用意済みです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AI-Ready の3要素</a:t>
            </a:r>
          </a:p>
        </p:txBody>
      </p:sp>
      <p:sp>
        <p:nvSpPr>
          <p:cNvPr id="4" name="Rounded Rectangle 3"/>
          <p:cNvSpPr/>
          <p:nvPr/>
        </p:nvSpPr>
        <p:spPr>
          <a:xfrm>
            <a:off x="36576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2682240" cy="4114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Oval 5"/>
          <p:cNvSpPr/>
          <p:nvPr/>
        </p:nvSpPr>
        <p:spPr>
          <a:xfrm>
            <a:off x="475488" y="1298448"/>
            <a:ext cx="237744" cy="237744"/>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1</a:t>
            </a:r>
          </a:p>
        </p:txBody>
      </p:sp>
      <p:sp>
        <p:nvSpPr>
          <p:cNvPr id="7" name="Rounded Rectangle 6"/>
          <p:cNvSpPr/>
          <p:nvPr/>
        </p:nvSpPr>
        <p:spPr>
          <a:xfrm>
            <a:off x="777240" y="1316736"/>
            <a:ext cx="868680" cy="201168"/>
          </a:xfrm>
          <a:prstGeom prst="roundRect">
            <a:avLst>
              <a:gd name="adj" fmla="val 50000"/>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統合</a:t>
            </a:r>
          </a:p>
        </p:txBody>
      </p:sp>
      <p:sp>
        <p:nvSpPr>
          <p:cNvPr id="8" name="TextBox 7"/>
          <p:cNvSpPr txBox="1"/>
          <p:nvPr/>
        </p:nvSpPr>
        <p:spPr>
          <a:xfrm>
            <a:off x="47548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業務データが</a:t>
            </a:r>
          </a:p>
          <a:p>
            <a:pPr>
              <a:lnSpc>
                <a:spcPct val="92000"/>
              </a:lnSpc>
              <a:spcBef>
                <a:spcPts val="0"/>
              </a:spcBef>
              <a:spcAft>
                <a:spcPts val="0"/>
              </a:spcAft>
            </a:pPr>
            <a:r>
              <a:rPr sz="1300" b="1">
                <a:solidFill>
                  <a:srgbClr val="11567F"/>
                </a:solidFill>
                <a:latin typeface="Arial"/>
                <a:ea typeface="Yu Gothic"/>
                <a:cs typeface="Yu Gothic"/>
              </a:rPr>
              <a:t>1か所に集まっている</a:t>
            </a:r>
          </a:p>
        </p:txBody>
      </p:sp>
      <p:sp>
        <p:nvSpPr>
          <p:cNvPr id="9" name="TextBox 8"/>
          <p:cNvSpPr txBox="1"/>
          <p:nvPr/>
        </p:nvSpPr>
        <p:spPr>
          <a:xfrm>
            <a:off x="47548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売上・在庫・レビュー・報告書が同じ場所にある状態</a:t>
            </a:r>
          </a:p>
        </p:txBody>
      </p:sp>
      <p:sp>
        <p:nvSpPr>
          <p:cNvPr id="10" name="TextBox 9"/>
          <p:cNvSpPr txBox="1"/>
          <p:nvPr/>
        </p:nvSpPr>
        <p:spPr>
          <a:xfrm>
            <a:off x="47548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部門ごとに分断されていない</a:t>
            </a:r>
          </a:p>
          <a:p>
            <a:pPr>
              <a:lnSpc>
                <a:spcPct val="102000"/>
              </a:lnSpc>
              <a:spcBef>
                <a:spcPts val="30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構造化データと文書が同居している</a:t>
            </a:r>
          </a:p>
        </p:txBody>
      </p:sp>
      <p:sp>
        <p:nvSpPr>
          <p:cNvPr id="11" name="Rounded Rectangle 10"/>
          <p:cNvSpPr/>
          <p:nvPr/>
        </p:nvSpPr>
        <p:spPr>
          <a:xfrm>
            <a:off x="323088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3230880" y="1170432"/>
            <a:ext cx="2682240" cy="41148"/>
          </a:xfrm>
          <a:prstGeom prst="rect">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Oval 12"/>
          <p:cNvSpPr/>
          <p:nvPr/>
        </p:nvSpPr>
        <p:spPr>
          <a:xfrm>
            <a:off x="3340608" y="1298448"/>
            <a:ext cx="237744" cy="237744"/>
          </a:xfrm>
          <a:prstGeom prst="ellipse">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2</a:t>
            </a:r>
          </a:p>
        </p:txBody>
      </p:sp>
      <p:sp>
        <p:nvSpPr>
          <p:cNvPr id="14" name="Rounded Rectangle 13"/>
          <p:cNvSpPr/>
          <p:nvPr/>
        </p:nvSpPr>
        <p:spPr>
          <a:xfrm>
            <a:off x="3642360" y="1316736"/>
            <a:ext cx="868680" cy="201168"/>
          </a:xfrm>
          <a:prstGeom prst="roundRect">
            <a:avLst>
              <a:gd name="adj" fmla="val 50000"/>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意味づけ</a:t>
            </a:r>
          </a:p>
        </p:txBody>
      </p:sp>
      <p:sp>
        <p:nvSpPr>
          <p:cNvPr id="15" name="TextBox 14"/>
          <p:cNvSpPr txBox="1"/>
          <p:nvPr/>
        </p:nvSpPr>
        <p:spPr>
          <a:xfrm>
            <a:off x="334060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業務用語と計算方法が</a:t>
            </a:r>
          </a:p>
          <a:p>
            <a:pPr>
              <a:lnSpc>
                <a:spcPct val="92000"/>
              </a:lnSpc>
              <a:spcBef>
                <a:spcPts val="0"/>
              </a:spcBef>
              <a:spcAft>
                <a:spcPts val="0"/>
              </a:spcAft>
            </a:pPr>
            <a:r>
              <a:rPr sz="1300" b="1">
                <a:solidFill>
                  <a:srgbClr val="11567F"/>
                </a:solidFill>
                <a:latin typeface="Arial"/>
                <a:ea typeface="Yu Gothic"/>
                <a:cs typeface="Yu Gothic"/>
              </a:rPr>
              <a:t>結びついている</a:t>
            </a:r>
          </a:p>
        </p:txBody>
      </p:sp>
      <p:sp>
        <p:nvSpPr>
          <p:cNvPr id="16" name="TextBox 15"/>
          <p:cNvSpPr txBox="1"/>
          <p:nvPr/>
        </p:nvSpPr>
        <p:spPr>
          <a:xfrm>
            <a:off x="334060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「達成率」「粗利率」「欠品」が何を指すか定義されている状態</a:t>
            </a:r>
          </a:p>
        </p:txBody>
      </p:sp>
      <p:sp>
        <p:nvSpPr>
          <p:cNvPr id="17" name="TextBox 16"/>
          <p:cNvSpPr txBox="1"/>
          <p:nvPr/>
        </p:nvSpPr>
        <p:spPr>
          <a:xfrm>
            <a:off x="334060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71D3DC"/>
                </a:solidFill>
                <a:latin typeface="Arial"/>
                <a:ea typeface="Yu Gothic"/>
                <a:cs typeface="Yu Gothic"/>
              </a:rPr>
              <a:t>● </a:t>
            </a:r>
            <a:r>
              <a:rPr sz="800" b="0">
                <a:solidFill>
                  <a:srgbClr val="262626"/>
                </a:solidFill>
                <a:latin typeface="Arial"/>
                <a:ea typeface="Yu Gothic"/>
                <a:cs typeface="Yu Gothic"/>
              </a:rPr>
              <a:t>Semantic View で定義する</a:t>
            </a:r>
          </a:p>
          <a:p>
            <a:pPr>
              <a:lnSpc>
                <a:spcPct val="102000"/>
              </a:lnSpc>
              <a:spcBef>
                <a:spcPts val="300"/>
              </a:spcBef>
              <a:spcAft>
                <a:spcPts val="0"/>
              </a:spcAft>
            </a:pPr>
            <a:r>
              <a:rPr sz="800" b="1">
                <a:solidFill>
                  <a:srgbClr val="71D3DC"/>
                </a:solidFill>
                <a:latin typeface="Arial"/>
                <a:ea typeface="Yu Gothic"/>
                <a:cs typeface="Yu Gothic"/>
              </a:rPr>
              <a:t>● </a:t>
            </a:r>
            <a:r>
              <a:rPr sz="800" b="0">
                <a:solidFill>
                  <a:srgbClr val="262626"/>
                </a:solidFill>
                <a:latin typeface="Arial"/>
                <a:ea typeface="Yu Gothic"/>
                <a:cs typeface="Yu Gothic"/>
              </a:rPr>
              <a:t>誰が聞いても同じ数値になる</a:t>
            </a:r>
          </a:p>
        </p:txBody>
      </p:sp>
      <p:sp>
        <p:nvSpPr>
          <p:cNvPr id="18" name="Rounded Rectangle 17"/>
          <p:cNvSpPr/>
          <p:nvPr/>
        </p:nvSpPr>
        <p:spPr>
          <a:xfrm>
            <a:off x="609600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Rectangle 18"/>
          <p:cNvSpPr/>
          <p:nvPr/>
        </p:nvSpPr>
        <p:spPr>
          <a:xfrm>
            <a:off x="6096000" y="1170432"/>
            <a:ext cx="2682240" cy="41148"/>
          </a:xfrm>
          <a:prstGeom prst="rect">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Oval 19"/>
          <p:cNvSpPr/>
          <p:nvPr/>
        </p:nvSpPr>
        <p:spPr>
          <a:xfrm>
            <a:off x="6205728" y="1298448"/>
            <a:ext cx="237744" cy="237744"/>
          </a:xfrm>
          <a:prstGeom prst="ellipse">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3</a:t>
            </a:r>
          </a:p>
        </p:txBody>
      </p:sp>
      <p:sp>
        <p:nvSpPr>
          <p:cNvPr id="21" name="Rounded Rectangle 20"/>
          <p:cNvSpPr/>
          <p:nvPr/>
        </p:nvSpPr>
        <p:spPr>
          <a:xfrm>
            <a:off x="6507480" y="1316736"/>
            <a:ext cx="868680" cy="201168"/>
          </a:xfrm>
          <a:prstGeom prst="roundRect">
            <a:avLst>
              <a:gd name="adj" fmla="val 50000"/>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統制</a:t>
            </a:r>
          </a:p>
        </p:txBody>
      </p:sp>
      <p:sp>
        <p:nvSpPr>
          <p:cNvPr id="22" name="TextBox 21"/>
          <p:cNvSpPr txBox="1"/>
          <p:nvPr/>
        </p:nvSpPr>
        <p:spPr>
          <a:xfrm>
            <a:off x="620572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誰が何を見られるかが</a:t>
            </a:r>
          </a:p>
          <a:p>
            <a:pPr>
              <a:lnSpc>
                <a:spcPct val="92000"/>
              </a:lnSpc>
              <a:spcBef>
                <a:spcPts val="0"/>
              </a:spcBef>
              <a:spcAft>
                <a:spcPts val="0"/>
              </a:spcAft>
            </a:pPr>
            <a:r>
              <a:rPr sz="1300" b="1">
                <a:solidFill>
                  <a:srgbClr val="11567F"/>
                </a:solidFill>
                <a:latin typeface="Arial"/>
                <a:ea typeface="Yu Gothic"/>
                <a:cs typeface="Yu Gothic"/>
              </a:rPr>
              <a:t>制御されている</a:t>
            </a:r>
          </a:p>
        </p:txBody>
      </p:sp>
      <p:sp>
        <p:nvSpPr>
          <p:cNvPr id="23" name="TextBox 22"/>
          <p:cNvSpPr txBox="1"/>
          <p:nvPr/>
        </p:nvSpPr>
        <p:spPr>
          <a:xfrm>
            <a:off x="620572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権限を超えたデータがAIの回答に出てこない状態</a:t>
            </a:r>
          </a:p>
        </p:txBody>
      </p:sp>
      <p:sp>
        <p:nvSpPr>
          <p:cNvPr id="24" name="TextBox 23"/>
          <p:cNvSpPr txBox="1"/>
          <p:nvPr/>
        </p:nvSpPr>
        <p:spPr>
          <a:xfrm>
            <a:off x="620572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7D44CF"/>
                </a:solidFill>
                <a:latin typeface="Arial"/>
                <a:ea typeface="Yu Gothic"/>
                <a:cs typeface="Yu Gothic"/>
              </a:rPr>
              <a:t>● </a:t>
            </a:r>
            <a:r>
              <a:rPr sz="800" b="0">
                <a:solidFill>
                  <a:srgbClr val="262626"/>
                </a:solidFill>
                <a:latin typeface="Arial"/>
                <a:ea typeface="Yu Gothic"/>
                <a:cs typeface="Yu Gothic"/>
              </a:rPr>
              <a:t>役職・部門による制御</a:t>
            </a:r>
          </a:p>
          <a:p>
            <a:pPr>
              <a:lnSpc>
                <a:spcPct val="102000"/>
              </a:lnSpc>
              <a:spcBef>
                <a:spcPts val="300"/>
              </a:spcBef>
              <a:spcAft>
                <a:spcPts val="0"/>
              </a:spcAft>
            </a:pPr>
            <a:r>
              <a:rPr sz="800" b="1">
                <a:solidFill>
                  <a:srgbClr val="7D44CF"/>
                </a:solidFill>
                <a:latin typeface="Arial"/>
                <a:ea typeface="Yu Gothic"/>
                <a:cs typeface="Yu Gothic"/>
              </a:rPr>
              <a:t>● </a:t>
            </a:r>
            <a:r>
              <a:rPr sz="800" b="0">
                <a:solidFill>
                  <a:srgbClr val="262626"/>
                </a:solidFill>
                <a:latin typeface="Arial"/>
                <a:ea typeface="Yu Gothic"/>
                <a:cs typeface="Yu Gothic"/>
              </a:rPr>
              <a:t>AIも権限の範囲内でしか答えない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1つの質問に対して、AIが使うツールを自分で選び分けます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Snowflake AI の構成</a:t>
            </a:r>
          </a:p>
        </p:txBody>
      </p:sp>
      <p:sp>
        <p:nvSpPr>
          <p:cNvPr id="4" name="Rounded Rectangle 3"/>
          <p:cNvSpPr/>
          <p:nvPr/>
        </p:nvSpPr>
        <p:spPr>
          <a:xfrm>
            <a:off x="365760" y="2432304"/>
            <a:ext cx="1371600" cy="548640"/>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457200" y="2496312"/>
            <a:ext cx="1188720" cy="420623"/>
          </a:xfrm>
          <a:prstGeom prst="rect">
            <a:avLst/>
          </a:prstGeom>
          <a:noFill/>
        </p:spPr>
        <p:txBody>
          <a:bodyPr wrap="square" anchor="ctr" lIns="0" rIns="0" tIns="0" bIns="0">
            <a:spAutoFit/>
          </a:bodyPr>
          <a:lstStyle/>
          <a:p>
            <a:pPr>
              <a:lnSpc>
                <a:spcPct val="100000"/>
              </a:lnSpc>
              <a:spcBef>
                <a:spcPts val="0"/>
              </a:spcBef>
              <a:spcAft>
                <a:spcPts val="0"/>
              </a:spcAft>
            </a:pPr>
            <a:r>
              <a:rPr sz="1100" b="1">
                <a:solidFill>
                  <a:srgbClr val="11567F"/>
                </a:solidFill>
                <a:latin typeface="Arial"/>
                <a:ea typeface="Yu Gothic"/>
                <a:cs typeface="Yu Gothic"/>
              </a:rPr>
              <a:t>日本語の質問</a:t>
            </a:r>
          </a:p>
        </p:txBody>
      </p:sp>
      <p:sp>
        <p:nvSpPr>
          <p:cNvPr id="6" name="Right Arrow 5"/>
          <p:cNvSpPr/>
          <p:nvPr/>
        </p:nvSpPr>
        <p:spPr>
          <a:xfrm>
            <a:off x="1792224" y="2624328"/>
            <a:ext cx="274320" cy="164592"/>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Rounded Rectangle 6"/>
          <p:cNvSpPr/>
          <p:nvPr/>
        </p:nvSpPr>
        <p:spPr>
          <a:xfrm>
            <a:off x="2121408" y="2176272"/>
            <a:ext cx="1572768" cy="1060704"/>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2231136" y="2267712"/>
            <a:ext cx="1353312" cy="877824"/>
          </a:xfrm>
          <a:prstGeom prst="rect">
            <a:avLst/>
          </a:prstGeom>
          <a:noFill/>
        </p:spPr>
        <p:txBody>
          <a:bodyPr wrap="square" anchor="ctr" lIns="0" rIns="0" tIns="0" bIns="0">
            <a:spAutoFit/>
          </a:bodyPr>
          <a:lstStyle/>
          <a:p>
            <a:pPr algn="ctr">
              <a:lnSpc>
                <a:spcPct val="105000"/>
              </a:lnSpc>
              <a:spcBef>
                <a:spcPts val="0"/>
              </a:spcBef>
              <a:spcAft>
                <a:spcPts val="0"/>
              </a:spcAft>
            </a:pPr>
            <a:r>
              <a:rPr sz="1150" b="1">
                <a:solidFill>
                  <a:srgbClr val="FFFFFF"/>
                </a:solidFill>
                <a:latin typeface="Arial"/>
                <a:ea typeface="Yu Gothic"/>
                <a:cs typeface="Yu Gothic"/>
              </a:rPr>
              <a:t>Cortex Agents</a:t>
            </a:r>
          </a:p>
          <a:p>
            <a:pPr algn="ctr">
              <a:lnSpc>
                <a:spcPct val="100000"/>
              </a:lnSpc>
              <a:spcBef>
                <a:spcPts val="200"/>
              </a:spcBef>
              <a:spcAft>
                <a:spcPts val="0"/>
              </a:spcAft>
            </a:pPr>
            <a:r>
              <a:rPr sz="800" b="0">
                <a:solidFill>
                  <a:srgbClr val="71D3DC"/>
                </a:solidFill>
                <a:latin typeface="Arial"/>
                <a:ea typeface="Yu Gothic"/>
                <a:cs typeface="Yu Gothic"/>
              </a:rPr>
              <a:t>何を使うか判断する</a:t>
            </a:r>
          </a:p>
        </p:txBody>
      </p:sp>
      <p:sp>
        <p:nvSpPr>
          <p:cNvPr id="9" name="Rounded Rectangle 8"/>
          <p:cNvSpPr/>
          <p:nvPr/>
        </p:nvSpPr>
        <p:spPr>
          <a:xfrm>
            <a:off x="4041648" y="1115568"/>
            <a:ext cx="2450592" cy="786384"/>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Rectangle 9"/>
          <p:cNvSpPr/>
          <p:nvPr/>
        </p:nvSpPr>
        <p:spPr>
          <a:xfrm>
            <a:off x="4041648" y="1115568"/>
            <a:ext cx="50292" cy="78638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4187952" y="1188720"/>
            <a:ext cx="2194560" cy="640080"/>
          </a:xfrm>
          <a:prstGeom prst="rect">
            <a:avLst/>
          </a:prstGeom>
          <a:noFill/>
        </p:spPr>
        <p:txBody>
          <a:bodyPr wrap="square" anchor="ctr" lIns="0" rIns="0" tIns="0" bIns="0">
            <a:spAutoFit/>
          </a:bodyPr>
          <a:lstStyle/>
          <a:p>
            <a:pPr>
              <a:lnSpc>
                <a:spcPct val="100000"/>
              </a:lnSpc>
              <a:spcBef>
                <a:spcPts val="0"/>
              </a:spcBef>
              <a:spcAft>
                <a:spcPts val="0"/>
              </a:spcAft>
            </a:pPr>
            <a:r>
              <a:rPr sz="850" b="1">
                <a:solidFill>
                  <a:srgbClr val="29B5E8"/>
                </a:solidFill>
                <a:latin typeface="Arial"/>
                <a:ea typeface="Yu Gothic"/>
                <a:cs typeface="Yu Gothic"/>
              </a:rPr>
              <a:t>数値の集計なら</a:t>
            </a:r>
          </a:p>
          <a:p>
            <a:pPr>
              <a:lnSpc>
                <a:spcPct val="100000"/>
              </a:lnSpc>
              <a:spcBef>
                <a:spcPts val="200"/>
              </a:spcBef>
              <a:spcAft>
                <a:spcPts val="0"/>
              </a:spcAft>
            </a:pPr>
            <a:r>
              <a:rPr sz="1050" b="1">
                <a:solidFill>
                  <a:srgbClr val="11567F"/>
                </a:solidFill>
                <a:latin typeface="Arial"/>
                <a:ea typeface="Yu Gothic"/>
                <a:cs typeface="Yu Gothic"/>
              </a:rPr>
              <a:t>Cortex Analyst</a:t>
            </a:r>
          </a:p>
          <a:p>
            <a:pPr>
              <a:lnSpc>
                <a:spcPct val="100000"/>
              </a:lnSpc>
              <a:spcBef>
                <a:spcPts val="100"/>
              </a:spcBef>
              <a:spcAft>
                <a:spcPts val="0"/>
              </a:spcAft>
            </a:pPr>
            <a:r>
              <a:rPr sz="750" b="0">
                <a:solidFill>
                  <a:srgbClr val="5B5B5B"/>
                </a:solidFill>
                <a:latin typeface="Arial"/>
                <a:ea typeface="Yu Gothic"/>
                <a:cs typeface="Yu Gothic"/>
              </a:rPr>
              <a:t>Semantic View の定義に従ってSQLを生成する</a:t>
            </a:r>
          </a:p>
        </p:txBody>
      </p:sp>
      <p:sp>
        <p:nvSpPr>
          <p:cNvPr id="12" name="Right Arrow 11"/>
          <p:cNvSpPr/>
          <p:nvPr/>
        </p:nvSpPr>
        <p:spPr>
          <a:xfrm>
            <a:off x="3730752" y="1444751"/>
            <a:ext cx="256032" cy="128016"/>
          </a:xfrm>
          <a:prstGeom prst="rightArrow">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Right Arrow 12"/>
          <p:cNvSpPr/>
          <p:nvPr/>
        </p:nvSpPr>
        <p:spPr>
          <a:xfrm>
            <a:off x="6528816" y="1444751"/>
            <a:ext cx="256032" cy="128016"/>
          </a:xfrm>
          <a:prstGeom prst="rightArrow">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Rounded Rectangle 13"/>
          <p:cNvSpPr/>
          <p:nvPr/>
        </p:nvSpPr>
        <p:spPr>
          <a:xfrm>
            <a:off x="4041648" y="2011680"/>
            <a:ext cx="2450592" cy="786384"/>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5" name="Rectangle 14"/>
          <p:cNvSpPr/>
          <p:nvPr/>
        </p:nvSpPr>
        <p:spPr>
          <a:xfrm>
            <a:off x="4041648" y="2011680"/>
            <a:ext cx="50292" cy="786384"/>
          </a:xfrm>
          <a:prstGeom prst="rect">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TextBox 15"/>
          <p:cNvSpPr txBox="1"/>
          <p:nvPr/>
        </p:nvSpPr>
        <p:spPr>
          <a:xfrm>
            <a:off x="4187952" y="2084832"/>
            <a:ext cx="2194560" cy="640080"/>
          </a:xfrm>
          <a:prstGeom prst="rect">
            <a:avLst/>
          </a:prstGeom>
          <a:noFill/>
        </p:spPr>
        <p:txBody>
          <a:bodyPr wrap="square" anchor="ctr" lIns="0" rIns="0" tIns="0" bIns="0">
            <a:spAutoFit/>
          </a:bodyPr>
          <a:lstStyle/>
          <a:p>
            <a:pPr>
              <a:lnSpc>
                <a:spcPct val="100000"/>
              </a:lnSpc>
              <a:spcBef>
                <a:spcPts val="0"/>
              </a:spcBef>
              <a:spcAft>
                <a:spcPts val="0"/>
              </a:spcAft>
            </a:pPr>
            <a:r>
              <a:rPr sz="850" b="1">
                <a:solidFill>
                  <a:srgbClr val="71D3DC"/>
                </a:solidFill>
                <a:latin typeface="Arial"/>
                <a:ea typeface="Yu Gothic"/>
                <a:cs typeface="Yu Gothic"/>
              </a:rPr>
              <a:t>文書の根拠なら</a:t>
            </a:r>
          </a:p>
          <a:p>
            <a:pPr>
              <a:lnSpc>
                <a:spcPct val="100000"/>
              </a:lnSpc>
              <a:spcBef>
                <a:spcPts val="200"/>
              </a:spcBef>
              <a:spcAft>
                <a:spcPts val="0"/>
              </a:spcAft>
            </a:pPr>
            <a:r>
              <a:rPr sz="1050" b="1">
                <a:solidFill>
                  <a:srgbClr val="11567F"/>
                </a:solidFill>
                <a:latin typeface="Arial"/>
                <a:ea typeface="Yu Gothic"/>
                <a:cs typeface="Yu Gothic"/>
              </a:rPr>
              <a:t>Cortex Search</a:t>
            </a:r>
          </a:p>
          <a:p>
            <a:pPr>
              <a:lnSpc>
                <a:spcPct val="100000"/>
              </a:lnSpc>
              <a:spcBef>
                <a:spcPts val="100"/>
              </a:spcBef>
              <a:spcAft>
                <a:spcPts val="0"/>
              </a:spcAft>
            </a:pPr>
            <a:r>
              <a:rPr sz="750" b="0">
                <a:solidFill>
                  <a:srgbClr val="5B5B5B"/>
                </a:solidFill>
                <a:latin typeface="Arial"/>
                <a:ea typeface="Yu Gothic"/>
                <a:cs typeface="Yu Gothic"/>
              </a:rPr>
              <a:t>報告書・顧客レビュー・社内文書の3種類から探す</a:t>
            </a:r>
          </a:p>
        </p:txBody>
      </p:sp>
      <p:sp>
        <p:nvSpPr>
          <p:cNvPr id="17" name="Right Arrow 16"/>
          <p:cNvSpPr/>
          <p:nvPr/>
        </p:nvSpPr>
        <p:spPr>
          <a:xfrm>
            <a:off x="3730752" y="2340864"/>
            <a:ext cx="256032" cy="128016"/>
          </a:xfrm>
          <a:prstGeom prst="rightArrow">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Right Arrow 17"/>
          <p:cNvSpPr/>
          <p:nvPr/>
        </p:nvSpPr>
        <p:spPr>
          <a:xfrm>
            <a:off x="6528816" y="2340864"/>
            <a:ext cx="256032" cy="128016"/>
          </a:xfrm>
          <a:prstGeom prst="rightArrow">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Rounded Rectangle 18"/>
          <p:cNvSpPr/>
          <p:nvPr/>
        </p:nvSpPr>
        <p:spPr>
          <a:xfrm>
            <a:off x="4041648" y="2907791"/>
            <a:ext cx="2450592" cy="786384"/>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Rectangle 19"/>
          <p:cNvSpPr/>
          <p:nvPr/>
        </p:nvSpPr>
        <p:spPr>
          <a:xfrm>
            <a:off x="4041648" y="2907791"/>
            <a:ext cx="50292" cy="786384"/>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TextBox 20"/>
          <p:cNvSpPr txBox="1"/>
          <p:nvPr/>
        </p:nvSpPr>
        <p:spPr>
          <a:xfrm>
            <a:off x="4187952" y="2980944"/>
            <a:ext cx="2194560" cy="640080"/>
          </a:xfrm>
          <a:prstGeom prst="rect">
            <a:avLst/>
          </a:prstGeom>
          <a:noFill/>
        </p:spPr>
        <p:txBody>
          <a:bodyPr wrap="square" anchor="ctr" lIns="0" rIns="0" tIns="0" bIns="0">
            <a:spAutoFit/>
          </a:bodyPr>
          <a:lstStyle/>
          <a:p>
            <a:pPr>
              <a:lnSpc>
                <a:spcPct val="100000"/>
              </a:lnSpc>
              <a:spcBef>
                <a:spcPts val="0"/>
              </a:spcBef>
              <a:spcAft>
                <a:spcPts val="0"/>
              </a:spcAft>
            </a:pPr>
            <a:r>
              <a:rPr sz="850" b="1">
                <a:solidFill>
                  <a:srgbClr val="FF9F36"/>
                </a:solidFill>
                <a:latin typeface="Arial"/>
                <a:ea typeface="Yu Gothic"/>
                <a:cs typeface="Yu Gothic"/>
              </a:rPr>
              <a:t>手元ファイル / 資料生成なら</a:t>
            </a:r>
          </a:p>
          <a:p>
            <a:pPr>
              <a:lnSpc>
                <a:spcPct val="100000"/>
              </a:lnSpc>
              <a:spcBef>
                <a:spcPts val="200"/>
              </a:spcBef>
              <a:spcAft>
                <a:spcPts val="0"/>
              </a:spcAft>
            </a:pPr>
            <a:r>
              <a:rPr sz="1050" b="1">
                <a:solidFill>
                  <a:srgbClr val="11567F"/>
                </a:solidFill>
                <a:latin typeface="Arial"/>
                <a:ea typeface="Yu Gothic"/>
                <a:cs typeface="Yu Gothic"/>
              </a:rPr>
              <a:t>コード実行</a:t>
            </a:r>
          </a:p>
          <a:p>
            <a:pPr>
              <a:lnSpc>
                <a:spcPct val="100000"/>
              </a:lnSpc>
              <a:spcBef>
                <a:spcPts val="100"/>
              </a:spcBef>
              <a:spcAft>
                <a:spcPts val="0"/>
              </a:spcAft>
            </a:pPr>
            <a:r>
              <a:rPr sz="750" b="0">
                <a:solidFill>
                  <a:srgbClr val="5B5B5B"/>
                </a:solidFill>
                <a:latin typeface="Arial"/>
                <a:ea typeface="Yu Gothic"/>
                <a:cs typeface="Yu Gothic"/>
              </a:rPr>
              <a:t>添付ファイルを読み、PowerPointを組み立てる</a:t>
            </a:r>
          </a:p>
        </p:txBody>
      </p:sp>
      <p:sp>
        <p:nvSpPr>
          <p:cNvPr id="22" name="Right Arrow 21"/>
          <p:cNvSpPr/>
          <p:nvPr/>
        </p:nvSpPr>
        <p:spPr>
          <a:xfrm>
            <a:off x="3730752" y="3236976"/>
            <a:ext cx="256032" cy="128016"/>
          </a:xfrm>
          <a:prstGeom prst="rightArrow">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3" name="Right Arrow 22"/>
          <p:cNvSpPr/>
          <p:nvPr/>
        </p:nvSpPr>
        <p:spPr>
          <a:xfrm>
            <a:off x="6528816" y="3236976"/>
            <a:ext cx="256032" cy="128016"/>
          </a:xfrm>
          <a:prstGeom prst="rightArrow">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Rounded Rectangle 23"/>
          <p:cNvSpPr/>
          <p:nvPr/>
        </p:nvSpPr>
        <p:spPr>
          <a:xfrm>
            <a:off x="6784848" y="2231136"/>
            <a:ext cx="1993392" cy="950976"/>
          </a:xfrm>
          <a:prstGeom prst="roundRect">
            <a:avLst>
              <a:gd name="adj" fmla="val 6000"/>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5" name="TextBox 24"/>
          <p:cNvSpPr txBox="1"/>
          <p:nvPr/>
        </p:nvSpPr>
        <p:spPr>
          <a:xfrm>
            <a:off x="6912864" y="2322576"/>
            <a:ext cx="1737360" cy="768096"/>
          </a:xfrm>
          <a:prstGeom prst="rect">
            <a:avLst/>
          </a:prstGeom>
          <a:noFill/>
        </p:spPr>
        <p:txBody>
          <a:bodyPr wrap="square" anchor="ctr" lIns="0" rIns="0" tIns="0" bIns="0">
            <a:spAutoFit/>
          </a:bodyPr>
          <a:lstStyle/>
          <a:p>
            <a:pPr algn="ctr">
              <a:lnSpc>
                <a:spcPct val="105000"/>
              </a:lnSpc>
              <a:spcBef>
                <a:spcPts val="0"/>
              </a:spcBef>
              <a:spcAft>
                <a:spcPts val="0"/>
              </a:spcAft>
            </a:pPr>
            <a:r>
              <a:rPr sz="1150" b="1">
                <a:solidFill>
                  <a:srgbClr val="FFFFFF"/>
                </a:solidFill>
                <a:latin typeface="Arial"/>
                <a:ea typeface="Yu Gothic"/>
                <a:cs typeface="Yu Gothic"/>
              </a:rPr>
              <a:t>根拠付きの回答</a:t>
            </a:r>
          </a:p>
        </p:txBody>
      </p:sp>
      <p:sp>
        <p:nvSpPr>
          <p:cNvPr id="26" name="TextBox 25"/>
          <p:cNvSpPr txBox="1"/>
          <p:nvPr/>
        </p:nvSpPr>
        <p:spPr>
          <a:xfrm>
            <a:off x="365760" y="4334256"/>
            <a:ext cx="8412480" cy="329184"/>
          </a:xfrm>
          <a:prstGeom prst="rect">
            <a:avLst/>
          </a:prstGeom>
          <a:noFill/>
        </p:spPr>
        <p:txBody>
          <a:bodyPr wrap="square" anchor="t" lIns="0" rIns="0" tIns="0" bIns="0">
            <a:spAutoFit/>
          </a:bodyPr>
          <a:lstStyle/>
          <a:p>
            <a:pPr>
              <a:lnSpc>
                <a:spcPct val="105000"/>
              </a:lnSpc>
              <a:spcBef>
                <a:spcPts val="0"/>
              </a:spcBef>
              <a:spcAft>
                <a:spcPts val="0"/>
              </a:spcAft>
            </a:pPr>
            <a:r>
              <a:rPr sz="850" b="1">
                <a:solidFill>
                  <a:srgbClr val="11567F"/>
                </a:solidFill>
                <a:latin typeface="Arial"/>
                <a:ea typeface="Yu Gothic"/>
                <a:cs typeface="Yu Gothic"/>
              </a:rPr>
              <a:t>● </a:t>
            </a:r>
            <a:r>
              <a:rPr sz="850" b="0">
                <a:solidFill>
                  <a:srgbClr val="262626"/>
                </a:solidFill>
                <a:latin typeface="Arial"/>
                <a:ea typeface="Yu Gothic"/>
                <a:cs typeface="Yu Gothic"/>
              </a:rPr>
              <a:t>画面は Snowflake CoWork。参加者はチャットに日本語で書くだけです</a:t>
            </a:r>
          </a:p>
          <a:p>
            <a:pPr>
              <a:lnSpc>
                <a:spcPct val="105000"/>
              </a:lnSpc>
              <a:spcBef>
                <a:spcPts val="300"/>
              </a:spcBef>
              <a:spcAft>
                <a:spcPts val="0"/>
              </a:spcAft>
            </a:pPr>
            <a:r>
              <a:rPr sz="850" b="1">
                <a:solidFill>
                  <a:srgbClr val="11567F"/>
                </a:solidFill>
                <a:latin typeface="Arial"/>
                <a:ea typeface="Yu Gothic"/>
                <a:cs typeface="Yu Gothic"/>
              </a:rPr>
              <a:t>● </a:t>
            </a:r>
            <a:r>
              <a:rPr sz="850" b="0">
                <a:solidFill>
                  <a:srgbClr val="262626"/>
                </a:solidFill>
                <a:latin typeface="Arial"/>
                <a:ea typeface="Yu Gothic"/>
                <a:cs typeface="Yu Gothic"/>
              </a:rPr>
              <a:t>処理はすべて Snowflake の中で動きます。自社データを外部に出しません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60分後、これができています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本日つくるもの</a:t>
            </a:r>
          </a:p>
        </p:txBody>
      </p:sp>
      <p:sp>
        <p:nvSpPr>
          <p:cNvPr id="4" name="Rounded Rectangle 3"/>
          <p:cNvSpPr/>
          <p:nvPr/>
        </p:nvSpPr>
        <p:spPr>
          <a:xfrm>
            <a:off x="365760" y="1170432"/>
            <a:ext cx="4114800" cy="30358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502920" y="1325880"/>
            <a:ext cx="3840480" cy="2724911"/>
          </a:xfrm>
          <a:prstGeom prst="rect">
            <a:avLst/>
          </a:prstGeom>
          <a:noFill/>
        </p:spPr>
        <p:txBody>
          <a:bodyPr wrap="square" anchor="t" lIns="0" rIns="0" tIns="0" bIns="0">
            <a:spAutoFit/>
          </a:bodyPr>
          <a:lstStyle/>
          <a:p>
            <a:pPr>
              <a:lnSpc>
                <a:spcPct val="102000"/>
              </a:lnSpc>
              <a:spcBef>
                <a:spcPts val="0"/>
              </a:spcBef>
              <a:spcAft>
                <a:spcPts val="600"/>
              </a:spcAft>
            </a:pPr>
            <a:r>
              <a:rPr sz="1200" b="1">
                <a:solidFill>
                  <a:srgbClr val="11567F"/>
                </a:solidFill>
                <a:latin typeface="Arial"/>
                <a:ea typeface="Yu Gothic"/>
                <a:cs typeface="Yu Gothic"/>
              </a:rPr>
              <a:t>次期 事業計画資料（PowerPoint 7枚）</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1. タイトル</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2. 結論と要請 — 販促を止め、供給確保に投資する</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3. エリア実態 — 報告と数字のギャップ</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4. 真因 — 4つの事象は1本の連鎖である</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5. 反証 — 市場要因ではない</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6. 緊急度 — 次期も供給は確保できていない</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7. 施策と次アクション</a:t>
            </a:r>
          </a:p>
        </p:txBody>
      </p:sp>
      <p:sp>
        <p:nvSpPr>
          <p:cNvPr id="6" name="Rounded Rectangle 5"/>
          <p:cNvSpPr/>
          <p:nvPr/>
        </p:nvSpPr>
        <p:spPr>
          <a:xfrm>
            <a:off x="4617720" y="1170432"/>
            <a:ext cx="4114800" cy="932687"/>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Rectangle 6"/>
          <p:cNvSpPr/>
          <p:nvPr/>
        </p:nvSpPr>
        <p:spPr>
          <a:xfrm>
            <a:off x="4617720" y="1170432"/>
            <a:ext cx="54864" cy="932687"/>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4800600" y="1289304"/>
            <a:ext cx="3794760" cy="731519"/>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AIが自動で組み立てます</a:t>
            </a:r>
          </a:p>
          <a:p>
            <a:pPr>
              <a:lnSpc>
                <a:spcPct val="110000"/>
              </a:lnSpc>
              <a:spcBef>
                <a:spcPts val="0"/>
              </a:spcBef>
              <a:spcAft>
                <a:spcPts val="0"/>
              </a:spcAft>
            </a:pPr>
            <a:r>
              <a:rPr sz="900" b="0">
                <a:solidFill>
                  <a:srgbClr val="262626"/>
                </a:solidFill>
                <a:latin typeface="Arial"/>
                <a:ea typeface="Yu Gothic"/>
                <a:cs typeface="Yu Gothic"/>
              </a:rPr>
              <a:t>テンプレートを添付すると、配色とレイアウトを引き継いだ資料が生成されます</a:t>
            </a:r>
          </a:p>
        </p:txBody>
      </p:sp>
      <p:sp>
        <p:nvSpPr>
          <p:cNvPr id="9" name="Rounded Rectangle 8"/>
          <p:cNvSpPr/>
          <p:nvPr/>
        </p:nvSpPr>
        <p:spPr>
          <a:xfrm>
            <a:off x="4617720" y="2221991"/>
            <a:ext cx="4114800" cy="932687"/>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Rectangle 9"/>
          <p:cNvSpPr/>
          <p:nvPr/>
        </p:nvSpPr>
        <p:spPr>
          <a:xfrm>
            <a:off x="4617720" y="2221991"/>
            <a:ext cx="54864" cy="932687"/>
          </a:xfrm>
          <a:prstGeom prst="rect">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4800600" y="2340863"/>
            <a:ext cx="3794760" cy="731519"/>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数値と出典は自分で確かめたもの</a:t>
            </a:r>
          </a:p>
          <a:p>
            <a:pPr>
              <a:lnSpc>
                <a:spcPct val="110000"/>
              </a:lnSpc>
              <a:spcBef>
                <a:spcPts val="0"/>
              </a:spcBef>
              <a:spcAft>
                <a:spcPts val="0"/>
              </a:spcAft>
            </a:pPr>
            <a:r>
              <a:rPr sz="900" b="0">
                <a:solidFill>
                  <a:srgbClr val="262626"/>
                </a:solidFill>
                <a:latin typeface="Arial"/>
                <a:ea typeface="Yu Gothic"/>
                <a:cs typeface="Yu Gothic"/>
              </a:rPr>
              <a:t>この資料に載る数値は、すべて本日みなさんが画面で確認した結果です</a:t>
            </a:r>
          </a:p>
        </p:txBody>
      </p:sp>
      <p:sp>
        <p:nvSpPr>
          <p:cNvPr id="12" name="Rounded Rectangle 11"/>
          <p:cNvSpPr/>
          <p:nvPr/>
        </p:nvSpPr>
        <p:spPr>
          <a:xfrm>
            <a:off x="4617720" y="3273552"/>
            <a:ext cx="4114800" cy="932687"/>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Rectangle 12"/>
          <p:cNvSpPr/>
          <p:nvPr/>
        </p:nvSpPr>
        <p:spPr>
          <a:xfrm>
            <a:off x="4617720" y="3273552"/>
            <a:ext cx="54864" cy="932687"/>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TextBox 13"/>
          <p:cNvSpPr txBox="1"/>
          <p:nvPr/>
        </p:nvSpPr>
        <p:spPr>
          <a:xfrm>
            <a:off x="4800600" y="3392424"/>
            <a:ext cx="3794760" cy="731519"/>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生成が終わらない場合</a:t>
            </a:r>
          </a:p>
          <a:p>
            <a:pPr>
              <a:lnSpc>
                <a:spcPct val="110000"/>
              </a:lnSpc>
              <a:spcBef>
                <a:spcPts val="0"/>
              </a:spcBef>
              <a:spcAft>
                <a:spcPts val="0"/>
              </a:spcAft>
            </a:pPr>
            <a:r>
              <a:rPr sz="900" b="0">
                <a:solidFill>
                  <a:srgbClr val="262626"/>
                </a:solidFill>
                <a:latin typeface="Arial"/>
                <a:ea typeface="Yu Gothic"/>
                <a:cs typeface="Yu Gothic"/>
              </a:rPr>
              <a:t>完成版を配布します。手順書のリンクからダウンロードしてください</a:t>
            </a:r>
          </a:p>
        </p:txBody>
      </p:sp>
      <p:sp>
        <p:nvSpPr>
          <p:cNvPr id="15" name="TextBox 14"/>
          <p:cNvSpPr txBox="1"/>
          <p:nvPr/>
        </p:nvSpPr>
        <p:spPr>
          <a:xfrm>
            <a:off x="365760" y="4279392"/>
            <a:ext cx="8412480" cy="274320"/>
          </a:xfrm>
          <a:prstGeom prst="rect">
            <a:avLst/>
          </a:prstGeom>
          <a:noFill/>
        </p:spPr>
        <p:txBody>
          <a:bodyPr wrap="square" anchor="t" lIns="0" rIns="0" tIns="0" bIns="0">
            <a:spAutoFit/>
          </a:bodyPr>
          <a:lstStyle/>
          <a:p>
            <a:pPr>
              <a:lnSpc>
                <a:spcPct val="102000"/>
              </a:lnSpc>
              <a:spcBef>
                <a:spcPts val="0"/>
              </a:spcBef>
              <a:spcAft>
                <a:spcPts val="0"/>
              </a:spcAft>
            </a:pPr>
            <a:r>
              <a:rPr sz="750" b="0">
                <a:solidFill>
                  <a:srgbClr val="5B5B5B"/>
                </a:solidFill>
                <a:latin typeface="Arial"/>
                <a:ea typeface="Yu Gothic"/>
                <a:cs typeface="Yu Gothic"/>
              </a:rPr>
              <a:t>※ 登場する企業・人物・数値はすべて架空です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みなさんは、架空の小売企業「クレストリヴェルタ」のエリア事業責任者です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本日のシナリオ</a:t>
            </a:r>
          </a:p>
        </p:txBody>
      </p:sp>
      <p:sp>
        <p:nvSpPr>
          <p:cNvPr id="4" name="Rounded Rectangle 3"/>
          <p:cNvSpPr/>
          <p:nvPr/>
        </p:nvSpPr>
        <p:spPr>
          <a:xfrm>
            <a:off x="365760" y="1170432"/>
            <a:ext cx="411480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502920" y="1325880"/>
            <a:ext cx="3840480" cy="3182111"/>
          </a:xfrm>
          <a:prstGeom prst="rect">
            <a:avLst/>
          </a:prstGeom>
          <a:noFill/>
        </p:spPr>
        <p:txBody>
          <a:bodyPr wrap="square" anchor="t" lIns="0" rIns="0" tIns="0" bIns="0">
            <a:spAutoFit/>
          </a:bodyPr>
          <a:lstStyle/>
          <a:p>
            <a:pPr>
              <a:lnSpc>
                <a:spcPct val="102000"/>
              </a:lnSpc>
              <a:spcBef>
                <a:spcPts val="0"/>
              </a:spcBef>
              <a:spcAft>
                <a:spcPts val="600"/>
              </a:spcAft>
            </a:pPr>
            <a:r>
              <a:rPr sz="1200" b="1">
                <a:solidFill>
                  <a:srgbClr val="11567F"/>
                </a:solidFill>
                <a:latin typeface="Arial"/>
                <a:ea typeface="Yu Gothic"/>
                <a:cs typeface="Yu Gothic"/>
              </a:rPr>
              <a:t>置かれている状況</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担当エリアの店舗から、月次の業績報告が上がってきた</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報告はいずれも「計画どおり」「影響は軽微」と書かれている</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次期の事業計画を、上に上げる資料としてまとめなければならない</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しかし報告書だけを読んで判断してよいのか、確信が持てない</a:t>
            </a:r>
          </a:p>
        </p:txBody>
      </p:sp>
      <p:sp>
        <p:nvSpPr>
          <p:cNvPr id="6" name="Rounded Rectangle 5"/>
          <p:cNvSpPr/>
          <p:nvPr/>
        </p:nvSpPr>
        <p:spPr>
          <a:xfrm>
            <a:off x="4617720" y="1170432"/>
            <a:ext cx="4114800" cy="941832"/>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Rectangle 6"/>
          <p:cNvSpPr/>
          <p:nvPr/>
        </p:nvSpPr>
        <p:spPr>
          <a:xfrm>
            <a:off x="4617720" y="1170432"/>
            <a:ext cx="54864" cy="941832"/>
          </a:xfrm>
          <a:prstGeom prst="rect">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4800600" y="1289304"/>
            <a:ext cx="3794760" cy="740664"/>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あなたの役割</a:t>
            </a:r>
          </a:p>
          <a:p>
            <a:pPr>
              <a:lnSpc>
                <a:spcPct val="110000"/>
              </a:lnSpc>
              <a:spcBef>
                <a:spcPts val="0"/>
              </a:spcBef>
              <a:spcAft>
                <a:spcPts val="0"/>
              </a:spcAft>
            </a:pPr>
            <a:r>
              <a:rPr sz="900" b="0">
                <a:solidFill>
                  <a:srgbClr val="262626"/>
                </a:solidFill>
                <a:latin typeface="Arial"/>
                <a:ea typeface="Yu Gothic"/>
                <a:cs typeface="Yu Gothic"/>
              </a:rPr>
              <a:t>自分で異常を探すのではなく、上がってきた報告を検証する立場です</a:t>
            </a:r>
          </a:p>
        </p:txBody>
      </p:sp>
      <p:sp>
        <p:nvSpPr>
          <p:cNvPr id="9" name="Rounded Rectangle 8"/>
          <p:cNvSpPr/>
          <p:nvPr/>
        </p:nvSpPr>
        <p:spPr>
          <a:xfrm>
            <a:off x="4617720" y="2231136"/>
            <a:ext cx="4114800" cy="941832"/>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Rectangle 9"/>
          <p:cNvSpPr/>
          <p:nvPr/>
        </p:nvSpPr>
        <p:spPr>
          <a:xfrm>
            <a:off x="4617720" y="2231136"/>
            <a:ext cx="54864" cy="941832"/>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4800600" y="2350008"/>
            <a:ext cx="3794760" cy="740664"/>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使えるもの</a:t>
            </a:r>
          </a:p>
          <a:p>
            <a:pPr>
              <a:lnSpc>
                <a:spcPct val="110000"/>
              </a:lnSpc>
              <a:spcBef>
                <a:spcPts val="0"/>
              </a:spcBef>
              <a:spcAft>
                <a:spcPts val="0"/>
              </a:spcAft>
            </a:pPr>
            <a:r>
              <a:rPr sz="900" b="0">
                <a:solidFill>
                  <a:srgbClr val="262626"/>
                </a:solidFill>
                <a:latin typeface="Arial"/>
                <a:ea typeface="Yu Gothic"/>
                <a:cs typeface="Yu Gothic"/>
              </a:rPr>
              <a:t>社内の売上データ・報告書・顧客レビュー・社内文書、そして手元のファイル</a:t>
            </a:r>
          </a:p>
        </p:txBody>
      </p:sp>
      <p:sp>
        <p:nvSpPr>
          <p:cNvPr id="12" name="Rounded Rectangle 11"/>
          <p:cNvSpPr/>
          <p:nvPr/>
        </p:nvSpPr>
        <p:spPr>
          <a:xfrm>
            <a:off x="4617720" y="3291840"/>
            <a:ext cx="4114800" cy="941832"/>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Rectangle 12"/>
          <p:cNvSpPr/>
          <p:nvPr/>
        </p:nvSpPr>
        <p:spPr>
          <a:xfrm>
            <a:off x="4617720" y="3291840"/>
            <a:ext cx="54864" cy="941832"/>
          </a:xfrm>
          <a:prstGeom prst="rect">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TextBox 13"/>
          <p:cNvSpPr txBox="1"/>
          <p:nvPr/>
        </p:nvSpPr>
        <p:spPr>
          <a:xfrm>
            <a:off x="4800600" y="3410712"/>
            <a:ext cx="3794760" cy="740664"/>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最後に出すもの</a:t>
            </a:r>
          </a:p>
          <a:p>
            <a:pPr>
              <a:lnSpc>
                <a:spcPct val="110000"/>
              </a:lnSpc>
              <a:spcBef>
                <a:spcPts val="0"/>
              </a:spcBef>
              <a:spcAft>
                <a:spcPts val="0"/>
              </a:spcAft>
            </a:pPr>
            <a:r>
              <a:rPr sz="900" b="0">
                <a:solidFill>
                  <a:srgbClr val="262626"/>
                </a:solidFill>
                <a:latin typeface="Arial"/>
                <a:ea typeface="Yu Gothic"/>
                <a:cs typeface="Yu Gothic"/>
              </a:rPr>
              <a:t>次期の事業計画資料。根拠と出典が追える状態で仕上げます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5つの情報源のうち2つは社内データに存在しません。だからチャットに添付します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どこにある情報を、どう参照しているか</a:t>
            </a:r>
          </a:p>
        </p:txBody>
      </p:sp>
      <p:sp>
        <p:nvSpPr>
          <p:cNvPr id="4" name="Rounded Rectangle 3"/>
          <p:cNvSpPr/>
          <p:nvPr/>
        </p:nvSpPr>
        <p:spPr>
          <a:xfrm>
            <a:off x="2395728" y="1060704"/>
            <a:ext cx="6382512" cy="2944368"/>
          </a:xfrm>
          <a:prstGeom prst="roundRect">
            <a:avLst>
              <a:gd name="adj" fmla="val 6000"/>
            </a:avLst>
          </a:prstGeom>
          <a:noFill/>
          <a:ln w="952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2523744" y="1124712"/>
            <a:ext cx="6126480" cy="182880"/>
          </a:xfrm>
          <a:prstGeom prst="rect">
            <a:avLst/>
          </a:prstGeom>
          <a:noFill/>
        </p:spPr>
        <p:txBody>
          <a:bodyPr wrap="square" anchor="t" lIns="0" rIns="0" tIns="0" bIns="0">
            <a:spAutoFit/>
          </a:bodyPr>
          <a:lstStyle/>
          <a:p>
            <a:pPr algn="l">
              <a:lnSpc>
                <a:spcPct val="105000"/>
              </a:lnSpc>
              <a:spcBef>
                <a:spcPts val="0"/>
              </a:spcBef>
              <a:spcAft>
                <a:spcPts val="0"/>
              </a:spcAft>
            </a:pPr>
            <a:r>
              <a:rPr sz="850" b="1">
                <a:solidFill>
                  <a:srgbClr val="29B5E8"/>
                </a:solidFill>
                <a:latin typeface="Arial"/>
                <a:ea typeface="Yu Gothic"/>
                <a:cs typeface="Yu Gothic"/>
              </a:rPr>
              <a:t>Snowflake アカウント内 ｜ 処理もデータも外に出ません</a:t>
            </a:r>
          </a:p>
        </p:txBody>
      </p:sp>
      <p:sp>
        <p:nvSpPr>
          <p:cNvPr id="6" name="Rounded Rectangle 5"/>
          <p:cNvSpPr/>
          <p:nvPr/>
        </p:nvSpPr>
        <p:spPr>
          <a:xfrm>
            <a:off x="365760" y="1545336"/>
            <a:ext cx="1700784" cy="1975104"/>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TextBox 6"/>
          <p:cNvSpPr txBox="1"/>
          <p:nvPr/>
        </p:nvSpPr>
        <p:spPr>
          <a:xfrm>
            <a:off x="475488" y="1627632"/>
            <a:ext cx="1481328" cy="201168"/>
          </a:xfrm>
          <a:prstGeom prst="rect">
            <a:avLst/>
          </a:prstGeom>
          <a:noFill/>
        </p:spPr>
        <p:txBody>
          <a:bodyPr wrap="square" anchor="t" lIns="0" rIns="0" tIns="0" bIns="0">
            <a:spAutoFit/>
          </a:bodyPr>
          <a:lstStyle/>
          <a:p>
            <a:pPr algn="l">
              <a:lnSpc>
                <a:spcPct val="105000"/>
              </a:lnSpc>
              <a:spcBef>
                <a:spcPts val="0"/>
              </a:spcBef>
              <a:spcAft>
                <a:spcPts val="0"/>
              </a:spcAft>
            </a:pPr>
            <a:r>
              <a:rPr sz="850" b="1">
                <a:solidFill>
                  <a:srgbClr val="5B5B5B"/>
                </a:solidFill>
                <a:latin typeface="Arial"/>
                <a:ea typeface="Yu Gothic"/>
                <a:cs typeface="Yu Gothic"/>
              </a:rPr>
              <a:t>参加者の手元（PC）</a:t>
            </a:r>
          </a:p>
        </p:txBody>
      </p:sp>
      <p:sp>
        <p:nvSpPr>
          <p:cNvPr id="8" name="Rounded Rectangle 7"/>
          <p:cNvSpPr/>
          <p:nvPr/>
        </p:nvSpPr>
        <p:spPr>
          <a:xfrm>
            <a:off x="475488" y="1874519"/>
            <a:ext cx="1481328" cy="475488"/>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Rectangle 8"/>
          <p:cNvSpPr/>
          <p:nvPr/>
        </p:nvSpPr>
        <p:spPr>
          <a:xfrm>
            <a:off x="475488" y="1874519"/>
            <a:ext cx="50292" cy="475488"/>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TextBox 9"/>
          <p:cNvSpPr txBox="1"/>
          <p:nvPr/>
        </p:nvSpPr>
        <p:spPr>
          <a:xfrm>
            <a:off x="621792" y="1938527"/>
            <a:ext cx="1243584" cy="347472"/>
          </a:xfrm>
          <a:prstGeom prst="rect">
            <a:avLst/>
          </a:prstGeom>
          <a:noFill/>
        </p:spPr>
        <p:txBody>
          <a:bodyPr wrap="square" anchor="ctr" lIns="0" rIns="0" tIns="0" bIns="0">
            <a:spAutoFit/>
          </a:bodyPr>
          <a:lstStyle/>
          <a:p>
            <a:pPr>
              <a:lnSpc>
                <a:spcPct val="100000"/>
              </a:lnSpc>
              <a:spcBef>
                <a:spcPts val="0"/>
              </a:spcBef>
              <a:spcAft>
                <a:spcPts val="0"/>
              </a:spcAft>
            </a:pPr>
            <a:r>
              <a:rPr sz="850" b="1">
                <a:solidFill>
                  <a:srgbClr val="11567F"/>
                </a:solidFill>
                <a:latin typeface="Arial"/>
                <a:ea typeface="Yu Gothic"/>
                <a:cs typeface="Yu Gothic"/>
              </a:rPr>
              <a:t>店舗速報 Excel</a:t>
            </a:r>
          </a:p>
          <a:p>
            <a:pPr>
              <a:lnSpc>
                <a:spcPct val="100000"/>
              </a:lnSpc>
              <a:spcBef>
                <a:spcPts val="100"/>
              </a:spcBef>
              <a:spcAft>
                <a:spcPts val="0"/>
              </a:spcAft>
            </a:pPr>
            <a:r>
              <a:rPr sz="750" b="0">
                <a:solidFill>
                  <a:srgbClr val="5B5B5B"/>
                </a:solidFill>
                <a:latin typeface="Arial"/>
                <a:ea typeface="Yu Gothic"/>
                <a:cs typeface="Yu Gothic"/>
              </a:rPr>
              <a:t>実習3 ｜ 今も続いているか</a:t>
            </a:r>
          </a:p>
        </p:txBody>
      </p:sp>
      <p:sp>
        <p:nvSpPr>
          <p:cNvPr id="11" name="Rounded Rectangle 10"/>
          <p:cNvSpPr/>
          <p:nvPr/>
        </p:nvSpPr>
        <p:spPr>
          <a:xfrm>
            <a:off x="475488" y="2441448"/>
            <a:ext cx="1481328" cy="475488"/>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475488" y="2441448"/>
            <a:ext cx="50292" cy="475488"/>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621792" y="2505456"/>
            <a:ext cx="1243584" cy="347472"/>
          </a:xfrm>
          <a:prstGeom prst="rect">
            <a:avLst/>
          </a:prstGeom>
          <a:noFill/>
        </p:spPr>
        <p:txBody>
          <a:bodyPr wrap="square" anchor="ctr" lIns="0" rIns="0" tIns="0" bIns="0">
            <a:spAutoFit/>
          </a:bodyPr>
          <a:lstStyle/>
          <a:p>
            <a:pPr>
              <a:lnSpc>
                <a:spcPct val="100000"/>
              </a:lnSpc>
              <a:spcBef>
                <a:spcPts val="0"/>
              </a:spcBef>
              <a:spcAft>
                <a:spcPts val="0"/>
              </a:spcAft>
            </a:pPr>
            <a:r>
              <a:rPr sz="750" b="1">
                <a:solidFill>
                  <a:srgbClr val="11567F"/>
                </a:solidFill>
                <a:latin typeface="Arial"/>
                <a:ea typeface="Yu Gothic"/>
                <a:cs typeface="Yu Gothic"/>
              </a:rPr>
              <a:t>競合の決算資料 PDF</a:t>
            </a:r>
          </a:p>
          <a:p>
            <a:pPr>
              <a:lnSpc>
                <a:spcPct val="100000"/>
              </a:lnSpc>
              <a:spcBef>
                <a:spcPts val="100"/>
              </a:spcBef>
              <a:spcAft>
                <a:spcPts val="0"/>
              </a:spcAft>
            </a:pPr>
            <a:r>
              <a:rPr sz="660" b="0">
                <a:solidFill>
                  <a:srgbClr val="5B5B5B"/>
                </a:solidFill>
                <a:latin typeface="Arial"/>
                <a:ea typeface="Yu Gothic"/>
                <a:cs typeface="Yu Gothic"/>
              </a:rPr>
              <a:t>実習4 ｜ 市場のせいではないか</a:t>
            </a:r>
          </a:p>
        </p:txBody>
      </p:sp>
      <p:sp>
        <p:nvSpPr>
          <p:cNvPr id="14" name="Rounded Rectangle 13"/>
          <p:cNvSpPr/>
          <p:nvPr/>
        </p:nvSpPr>
        <p:spPr>
          <a:xfrm>
            <a:off x="475488" y="3008376"/>
            <a:ext cx="1481328" cy="475488"/>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5" name="Rectangle 14"/>
          <p:cNvSpPr/>
          <p:nvPr/>
        </p:nvSpPr>
        <p:spPr>
          <a:xfrm>
            <a:off x="475488" y="3008376"/>
            <a:ext cx="50292" cy="475488"/>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TextBox 15"/>
          <p:cNvSpPr txBox="1"/>
          <p:nvPr/>
        </p:nvSpPr>
        <p:spPr>
          <a:xfrm>
            <a:off x="621792" y="3072384"/>
            <a:ext cx="1243584" cy="347472"/>
          </a:xfrm>
          <a:prstGeom prst="rect">
            <a:avLst/>
          </a:prstGeom>
          <a:noFill/>
        </p:spPr>
        <p:txBody>
          <a:bodyPr wrap="square" anchor="ctr" lIns="0" rIns="0" tIns="0" bIns="0">
            <a:spAutoFit/>
          </a:bodyPr>
          <a:lstStyle/>
          <a:p>
            <a:pPr>
              <a:lnSpc>
                <a:spcPct val="100000"/>
              </a:lnSpc>
              <a:spcBef>
                <a:spcPts val="0"/>
              </a:spcBef>
              <a:spcAft>
                <a:spcPts val="0"/>
              </a:spcAft>
            </a:pPr>
            <a:r>
              <a:rPr sz="750" b="1">
                <a:solidFill>
                  <a:srgbClr val="11567F"/>
                </a:solidFill>
                <a:latin typeface="Arial"/>
                <a:ea typeface="Yu Gothic"/>
                <a:cs typeface="Yu Gothic"/>
              </a:rPr>
              <a:t>ブランドテンプレート PPTX</a:t>
            </a:r>
          </a:p>
          <a:p>
            <a:pPr>
              <a:lnSpc>
                <a:spcPct val="100000"/>
              </a:lnSpc>
              <a:spcBef>
                <a:spcPts val="100"/>
              </a:spcBef>
              <a:spcAft>
                <a:spcPts val="0"/>
              </a:spcAft>
            </a:pPr>
            <a:r>
              <a:rPr sz="660" b="0">
                <a:solidFill>
                  <a:srgbClr val="5B5B5B"/>
                </a:solidFill>
                <a:latin typeface="Arial"/>
                <a:ea typeface="Yu Gothic"/>
                <a:cs typeface="Yu Gothic"/>
              </a:rPr>
              <a:t>実習5 ｜ 資料の体裁</a:t>
            </a:r>
          </a:p>
        </p:txBody>
      </p:sp>
      <p:sp>
        <p:nvSpPr>
          <p:cNvPr id="17" name="Right Arrow 16"/>
          <p:cNvSpPr/>
          <p:nvPr/>
        </p:nvSpPr>
        <p:spPr>
          <a:xfrm>
            <a:off x="1847088" y="2441448"/>
            <a:ext cx="420624" cy="182880"/>
          </a:xfrm>
          <a:prstGeom prst="rightArrow">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TextBox 17"/>
          <p:cNvSpPr txBox="1"/>
          <p:nvPr/>
        </p:nvSpPr>
        <p:spPr>
          <a:xfrm>
            <a:off x="1773936" y="2221992"/>
            <a:ext cx="566928" cy="182880"/>
          </a:xfrm>
          <a:prstGeom prst="rect">
            <a:avLst/>
          </a:prstGeom>
          <a:noFill/>
        </p:spPr>
        <p:txBody>
          <a:bodyPr wrap="square" anchor="t" lIns="0" rIns="0" tIns="0" bIns="0">
            <a:spAutoFit/>
          </a:bodyPr>
          <a:lstStyle/>
          <a:p>
            <a:pPr algn="ctr">
              <a:lnSpc>
                <a:spcPct val="105000"/>
              </a:lnSpc>
              <a:spcBef>
                <a:spcPts val="0"/>
              </a:spcBef>
              <a:spcAft>
                <a:spcPts val="0"/>
              </a:spcAft>
            </a:pPr>
            <a:r>
              <a:rPr sz="800" b="1">
                <a:solidFill>
                  <a:srgbClr val="FF9F36"/>
                </a:solidFill>
                <a:latin typeface="Arial"/>
                <a:ea typeface="Yu Gothic"/>
                <a:cs typeface="Yu Gothic"/>
              </a:rPr>
              <a:t>添付</a:t>
            </a:r>
          </a:p>
        </p:txBody>
      </p:sp>
      <p:sp>
        <p:nvSpPr>
          <p:cNvPr id="19" name="Rounded Rectangle 18"/>
          <p:cNvSpPr/>
          <p:nvPr/>
        </p:nvSpPr>
        <p:spPr>
          <a:xfrm>
            <a:off x="2523744" y="1901952"/>
            <a:ext cx="1316736" cy="1408176"/>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TextBox 19"/>
          <p:cNvSpPr txBox="1"/>
          <p:nvPr/>
        </p:nvSpPr>
        <p:spPr>
          <a:xfrm>
            <a:off x="2615184" y="1993392"/>
            <a:ext cx="1133856" cy="1225296"/>
          </a:xfrm>
          <a:prstGeom prst="rect">
            <a:avLst/>
          </a:prstGeom>
          <a:noFill/>
        </p:spPr>
        <p:txBody>
          <a:bodyPr wrap="square" anchor="ctr" lIns="0" rIns="0" tIns="0" bIns="0">
            <a:spAutoFit/>
          </a:bodyPr>
          <a:lstStyle/>
          <a:p>
            <a:pPr algn="ctr">
              <a:lnSpc>
                <a:spcPct val="105000"/>
              </a:lnSpc>
              <a:spcBef>
                <a:spcPts val="0"/>
              </a:spcBef>
              <a:spcAft>
                <a:spcPts val="0"/>
              </a:spcAft>
            </a:pPr>
            <a:r>
              <a:rPr sz="800" b="0">
                <a:solidFill>
                  <a:srgbClr val="71D3DC"/>
                </a:solidFill>
                <a:latin typeface="Arial"/>
                <a:ea typeface="Yu Gothic"/>
                <a:cs typeface="Yu Gothic"/>
              </a:rPr>
              <a:t>Snowflake CoWork</a:t>
            </a:r>
          </a:p>
          <a:p>
            <a:pPr algn="ctr">
              <a:lnSpc>
                <a:spcPct val="105000"/>
              </a:lnSpc>
              <a:spcBef>
                <a:spcPts val="300"/>
              </a:spcBef>
              <a:spcAft>
                <a:spcPts val="0"/>
              </a:spcAft>
            </a:pPr>
            <a:r>
              <a:rPr sz="1100" b="1">
                <a:solidFill>
                  <a:srgbClr val="FFFFFF"/>
                </a:solidFill>
                <a:latin typeface="Arial"/>
                <a:ea typeface="Yu Gothic"/>
                <a:cs typeface="Yu Gothic"/>
              </a:rPr>
              <a:t>Cortex Agent</a:t>
            </a:r>
          </a:p>
          <a:p>
            <a:pPr algn="ctr">
              <a:lnSpc>
                <a:spcPct val="100000"/>
              </a:lnSpc>
              <a:spcBef>
                <a:spcPts val="300"/>
              </a:spcBef>
              <a:spcAft>
                <a:spcPts val="0"/>
              </a:spcAft>
            </a:pPr>
            <a:r>
              <a:rPr sz="750" b="0">
                <a:solidFill>
                  <a:srgbClr val="FFFFFF"/>
                </a:solidFill>
                <a:latin typeface="Arial"/>
                <a:ea typeface="Yu Gothic"/>
                <a:cs typeface="Yu Gothic"/>
              </a:rPr>
              <a:t>質問に応じて右のツールを選ぶ</a:t>
            </a:r>
          </a:p>
        </p:txBody>
      </p:sp>
      <p:sp>
        <p:nvSpPr>
          <p:cNvPr id="21" name="Right Arrow 20"/>
          <p:cNvSpPr/>
          <p:nvPr/>
        </p:nvSpPr>
        <p:spPr>
          <a:xfrm>
            <a:off x="3877056" y="2542032"/>
            <a:ext cx="548640" cy="128016"/>
          </a:xfrm>
          <a:prstGeom prst="rightArrow">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2" name="Rounded Rectangle 21"/>
          <p:cNvSpPr/>
          <p:nvPr/>
        </p:nvSpPr>
        <p:spPr>
          <a:xfrm>
            <a:off x="3968496" y="1408176"/>
            <a:ext cx="1700784" cy="4572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3" name="Rectangle 22"/>
          <p:cNvSpPr/>
          <p:nvPr/>
        </p:nvSpPr>
        <p:spPr>
          <a:xfrm>
            <a:off x="3968496" y="1408176"/>
            <a:ext cx="50292" cy="45720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TextBox 23"/>
          <p:cNvSpPr txBox="1"/>
          <p:nvPr/>
        </p:nvSpPr>
        <p:spPr>
          <a:xfrm>
            <a:off x="4114800" y="1472184"/>
            <a:ext cx="1463040" cy="329184"/>
          </a:xfrm>
          <a:prstGeom prst="rect">
            <a:avLst/>
          </a:prstGeom>
          <a:noFill/>
        </p:spPr>
        <p:txBody>
          <a:bodyPr wrap="square" anchor="ctr" lIns="0" rIns="0" tIns="0" bIns="0">
            <a:spAutoFit/>
          </a:bodyPr>
          <a:lstStyle/>
          <a:p>
            <a:pPr>
              <a:lnSpc>
                <a:spcPct val="100000"/>
              </a:lnSpc>
              <a:spcBef>
                <a:spcPts val="0"/>
              </a:spcBef>
              <a:spcAft>
                <a:spcPts val="0"/>
              </a:spcAft>
            </a:pPr>
            <a:r>
              <a:rPr sz="900" b="1">
                <a:solidFill>
                  <a:srgbClr val="11567F"/>
                </a:solidFill>
                <a:latin typeface="Arial"/>
                <a:ea typeface="Yu Gothic"/>
                <a:cs typeface="Yu Gothic"/>
              </a:rPr>
              <a:t>Cortex Analyst</a:t>
            </a:r>
          </a:p>
          <a:p>
            <a:pPr>
              <a:lnSpc>
                <a:spcPct val="100000"/>
              </a:lnSpc>
              <a:spcBef>
                <a:spcPts val="100"/>
              </a:spcBef>
              <a:spcAft>
                <a:spcPts val="0"/>
              </a:spcAft>
            </a:pPr>
            <a:r>
              <a:rPr sz="750" b="0">
                <a:solidFill>
                  <a:srgbClr val="5B5B5B"/>
                </a:solidFill>
                <a:latin typeface="Arial"/>
                <a:ea typeface="Yu Gothic"/>
                <a:cs typeface="Yu Gothic"/>
              </a:rPr>
              <a:t>Semantic View 経由</a:t>
            </a:r>
          </a:p>
        </p:txBody>
      </p:sp>
      <p:sp>
        <p:nvSpPr>
          <p:cNvPr id="25" name="Right Arrow 24"/>
          <p:cNvSpPr/>
          <p:nvPr/>
        </p:nvSpPr>
        <p:spPr>
          <a:xfrm>
            <a:off x="5715000" y="1581912"/>
            <a:ext cx="201168" cy="109728"/>
          </a:xfrm>
          <a:prstGeom prst="rightArrow">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6" name="Rounded Rectangle 25"/>
          <p:cNvSpPr/>
          <p:nvPr/>
        </p:nvSpPr>
        <p:spPr>
          <a:xfrm>
            <a:off x="6053328" y="1408176"/>
            <a:ext cx="2578608" cy="457200"/>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7" name="TextBox 26"/>
          <p:cNvSpPr txBox="1"/>
          <p:nvPr/>
        </p:nvSpPr>
        <p:spPr>
          <a:xfrm>
            <a:off x="6144768" y="1472184"/>
            <a:ext cx="2395727" cy="329184"/>
          </a:xfrm>
          <a:prstGeom prst="rect">
            <a:avLst/>
          </a:prstGeom>
          <a:noFill/>
        </p:spPr>
        <p:txBody>
          <a:bodyPr wrap="square" anchor="ctr" lIns="0" rIns="0" tIns="0" bIns="0">
            <a:spAutoFit/>
          </a:bodyPr>
          <a:lstStyle/>
          <a:p>
            <a:pPr>
              <a:lnSpc>
                <a:spcPct val="100000"/>
              </a:lnSpc>
              <a:spcBef>
                <a:spcPts val="0"/>
              </a:spcBef>
              <a:spcAft>
                <a:spcPts val="0"/>
              </a:spcAft>
            </a:pPr>
            <a:r>
              <a:rPr sz="850" b="1">
                <a:solidFill>
                  <a:srgbClr val="262626"/>
                </a:solidFill>
                <a:latin typeface="Arial"/>
                <a:ea typeface="Yu Gothic"/>
                <a:cs typeface="Yu Gothic"/>
              </a:rPr>
              <a:t>① 売上データ</a:t>
            </a:r>
          </a:p>
          <a:p>
            <a:pPr>
              <a:lnSpc>
                <a:spcPct val="100000"/>
              </a:lnSpc>
              <a:spcBef>
                <a:spcPts val="100"/>
              </a:spcBef>
              <a:spcAft>
                <a:spcPts val="0"/>
              </a:spcAft>
            </a:pPr>
            <a:r>
              <a:rPr sz="750" b="0">
                <a:solidFill>
                  <a:srgbClr val="5B5B5B"/>
                </a:solidFill>
                <a:latin typeface="Arial"/>
                <a:ea typeface="Yu Gothic"/>
                <a:cs typeface="Yu Gothic"/>
              </a:rPr>
              <a:t>12店舗 × 12商品 × 180日 ｜ 何が起きたか</a:t>
            </a:r>
          </a:p>
        </p:txBody>
      </p:sp>
      <p:sp>
        <p:nvSpPr>
          <p:cNvPr id="28" name="Rounded Rectangle 27"/>
          <p:cNvSpPr/>
          <p:nvPr/>
        </p:nvSpPr>
        <p:spPr>
          <a:xfrm>
            <a:off x="3968496" y="1956816"/>
            <a:ext cx="1700784" cy="4572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9" name="Rectangle 28"/>
          <p:cNvSpPr/>
          <p:nvPr/>
        </p:nvSpPr>
        <p:spPr>
          <a:xfrm>
            <a:off x="3968496" y="1956816"/>
            <a:ext cx="50292" cy="457200"/>
          </a:xfrm>
          <a:prstGeom prst="rect">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0" name="TextBox 29"/>
          <p:cNvSpPr txBox="1"/>
          <p:nvPr/>
        </p:nvSpPr>
        <p:spPr>
          <a:xfrm>
            <a:off x="4114800" y="2020824"/>
            <a:ext cx="1463040" cy="329184"/>
          </a:xfrm>
          <a:prstGeom prst="rect">
            <a:avLst/>
          </a:prstGeom>
          <a:noFill/>
        </p:spPr>
        <p:txBody>
          <a:bodyPr wrap="square" anchor="ctr" lIns="0" rIns="0" tIns="0" bIns="0">
            <a:spAutoFit/>
          </a:bodyPr>
          <a:lstStyle/>
          <a:p>
            <a:pPr>
              <a:lnSpc>
                <a:spcPct val="100000"/>
              </a:lnSpc>
              <a:spcBef>
                <a:spcPts val="0"/>
              </a:spcBef>
              <a:spcAft>
                <a:spcPts val="0"/>
              </a:spcAft>
            </a:pPr>
            <a:r>
              <a:rPr sz="900" b="1">
                <a:solidFill>
                  <a:srgbClr val="11567F"/>
                </a:solidFill>
                <a:latin typeface="Arial"/>
                <a:ea typeface="Yu Gothic"/>
                <a:cs typeface="Yu Gothic"/>
              </a:rPr>
              <a:t>Cortex Search ×3</a:t>
            </a:r>
          </a:p>
          <a:p>
            <a:pPr>
              <a:lnSpc>
                <a:spcPct val="100000"/>
              </a:lnSpc>
              <a:spcBef>
                <a:spcPts val="100"/>
              </a:spcBef>
              <a:spcAft>
                <a:spcPts val="0"/>
              </a:spcAft>
            </a:pPr>
            <a:r>
              <a:rPr sz="750" b="0">
                <a:solidFill>
                  <a:srgbClr val="5B5B5B"/>
                </a:solidFill>
                <a:latin typeface="Arial"/>
                <a:ea typeface="Yu Gothic"/>
                <a:cs typeface="Yu Gothic"/>
              </a:rPr>
              <a:t>文書を検索</a:t>
            </a:r>
          </a:p>
        </p:txBody>
      </p:sp>
      <p:sp>
        <p:nvSpPr>
          <p:cNvPr id="31" name="Right Arrow 30"/>
          <p:cNvSpPr/>
          <p:nvPr/>
        </p:nvSpPr>
        <p:spPr>
          <a:xfrm>
            <a:off x="5715000" y="2130552"/>
            <a:ext cx="201168" cy="109728"/>
          </a:xfrm>
          <a:prstGeom prst="rightArrow">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2" name="Rounded Rectangle 31"/>
          <p:cNvSpPr/>
          <p:nvPr/>
        </p:nvSpPr>
        <p:spPr>
          <a:xfrm>
            <a:off x="6053328" y="1956816"/>
            <a:ext cx="2578608" cy="457200"/>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3" name="TextBox 32"/>
          <p:cNvSpPr txBox="1"/>
          <p:nvPr/>
        </p:nvSpPr>
        <p:spPr>
          <a:xfrm>
            <a:off x="6144768" y="2020824"/>
            <a:ext cx="2395727" cy="329184"/>
          </a:xfrm>
          <a:prstGeom prst="rect">
            <a:avLst/>
          </a:prstGeom>
          <a:noFill/>
        </p:spPr>
        <p:txBody>
          <a:bodyPr wrap="square" anchor="ctr" lIns="0" rIns="0" tIns="0" bIns="0">
            <a:spAutoFit/>
          </a:bodyPr>
          <a:lstStyle/>
          <a:p>
            <a:pPr>
              <a:lnSpc>
                <a:spcPct val="100000"/>
              </a:lnSpc>
              <a:spcBef>
                <a:spcPts val="0"/>
              </a:spcBef>
              <a:spcAft>
                <a:spcPts val="0"/>
              </a:spcAft>
            </a:pPr>
            <a:r>
              <a:rPr sz="800" b="1">
                <a:solidFill>
                  <a:srgbClr val="262626"/>
                </a:solidFill>
                <a:latin typeface="Arial"/>
                <a:ea typeface="Yu Gothic"/>
                <a:cs typeface="Yu Gothic"/>
              </a:rPr>
              <a:t>② 店長の月次報告 4件　③ 顧客レビュー 624件</a:t>
            </a:r>
          </a:p>
          <a:p>
            <a:pPr>
              <a:lnSpc>
                <a:spcPct val="100000"/>
              </a:lnSpc>
              <a:spcBef>
                <a:spcPts val="100"/>
              </a:spcBef>
              <a:spcAft>
                <a:spcPts val="0"/>
              </a:spcAft>
            </a:pPr>
            <a:r>
              <a:rPr sz="700" b="0">
                <a:solidFill>
                  <a:srgbClr val="5B5B5B"/>
                </a:solidFill>
                <a:latin typeface="Arial"/>
                <a:ea typeface="Yu Gothic"/>
                <a:cs typeface="Yu Gothic"/>
              </a:rPr>
              <a:t>＋ 社内文書 132件 ｜ どう報告されたか / なぜ起きたか</a:t>
            </a:r>
          </a:p>
        </p:txBody>
      </p:sp>
      <p:sp>
        <p:nvSpPr>
          <p:cNvPr id="34" name="Rounded Rectangle 33"/>
          <p:cNvSpPr/>
          <p:nvPr/>
        </p:nvSpPr>
        <p:spPr>
          <a:xfrm>
            <a:off x="3968496" y="2505456"/>
            <a:ext cx="1700784" cy="4572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5" name="Rectangle 34"/>
          <p:cNvSpPr/>
          <p:nvPr/>
        </p:nvSpPr>
        <p:spPr>
          <a:xfrm>
            <a:off x="3968496" y="2505456"/>
            <a:ext cx="50292" cy="457200"/>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6" name="TextBox 35"/>
          <p:cNvSpPr txBox="1"/>
          <p:nvPr/>
        </p:nvSpPr>
        <p:spPr>
          <a:xfrm>
            <a:off x="4114800" y="2569464"/>
            <a:ext cx="1463040" cy="329184"/>
          </a:xfrm>
          <a:prstGeom prst="rect">
            <a:avLst/>
          </a:prstGeom>
          <a:noFill/>
        </p:spPr>
        <p:txBody>
          <a:bodyPr wrap="square" anchor="ctr" lIns="0" rIns="0" tIns="0" bIns="0">
            <a:spAutoFit/>
          </a:bodyPr>
          <a:lstStyle/>
          <a:p>
            <a:pPr>
              <a:lnSpc>
                <a:spcPct val="100000"/>
              </a:lnSpc>
              <a:spcBef>
                <a:spcPts val="0"/>
              </a:spcBef>
              <a:spcAft>
                <a:spcPts val="0"/>
              </a:spcAft>
            </a:pPr>
            <a:r>
              <a:rPr sz="900" b="1">
                <a:solidFill>
                  <a:srgbClr val="11567F"/>
                </a:solidFill>
                <a:latin typeface="Arial"/>
                <a:ea typeface="Yu Gothic"/>
                <a:cs typeface="Yu Gothic"/>
              </a:rPr>
              <a:t>コード実行</a:t>
            </a:r>
          </a:p>
          <a:p>
            <a:pPr>
              <a:lnSpc>
                <a:spcPct val="100000"/>
              </a:lnSpc>
              <a:spcBef>
                <a:spcPts val="100"/>
              </a:spcBef>
              <a:spcAft>
                <a:spcPts val="0"/>
              </a:spcAft>
            </a:pPr>
            <a:r>
              <a:rPr sz="750" b="0">
                <a:solidFill>
                  <a:srgbClr val="5B5B5B"/>
                </a:solidFill>
                <a:latin typeface="Arial"/>
                <a:ea typeface="Yu Gothic"/>
                <a:cs typeface="Yu Gothic"/>
              </a:rPr>
              <a:t>添付を読む・資料を作る</a:t>
            </a:r>
          </a:p>
        </p:txBody>
      </p:sp>
      <p:sp>
        <p:nvSpPr>
          <p:cNvPr id="37" name="Right Arrow 36"/>
          <p:cNvSpPr/>
          <p:nvPr/>
        </p:nvSpPr>
        <p:spPr>
          <a:xfrm>
            <a:off x="5715000" y="2679192"/>
            <a:ext cx="201168" cy="109728"/>
          </a:xfrm>
          <a:prstGeom prst="rightArrow">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8" name="Rounded Rectangle 37"/>
          <p:cNvSpPr/>
          <p:nvPr/>
        </p:nvSpPr>
        <p:spPr>
          <a:xfrm>
            <a:off x="6053328" y="2505456"/>
            <a:ext cx="2578608" cy="457200"/>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9" name="TextBox 38"/>
          <p:cNvSpPr txBox="1"/>
          <p:nvPr/>
        </p:nvSpPr>
        <p:spPr>
          <a:xfrm>
            <a:off x="6144768" y="2569464"/>
            <a:ext cx="2395727" cy="329184"/>
          </a:xfrm>
          <a:prstGeom prst="rect">
            <a:avLst/>
          </a:prstGeom>
          <a:noFill/>
        </p:spPr>
        <p:txBody>
          <a:bodyPr wrap="square" anchor="ctr" lIns="0" rIns="0" tIns="0" bIns="0">
            <a:spAutoFit/>
          </a:bodyPr>
          <a:lstStyle/>
          <a:p>
            <a:pPr>
              <a:lnSpc>
                <a:spcPct val="100000"/>
              </a:lnSpc>
              <a:spcBef>
                <a:spcPts val="0"/>
              </a:spcBef>
              <a:spcAft>
                <a:spcPts val="0"/>
              </a:spcAft>
            </a:pPr>
            <a:r>
              <a:rPr sz="700" b="1">
                <a:solidFill>
                  <a:srgbClr val="262626"/>
                </a:solidFill>
                <a:latin typeface="Arial"/>
                <a:ea typeface="Yu Gothic"/>
                <a:cs typeface="Yu Gothic"/>
              </a:rPr>
              <a:t>④ 店舗速報 Excel　⑤ 競合の決算資料 PDF</a:t>
            </a:r>
          </a:p>
          <a:p>
            <a:pPr>
              <a:lnSpc>
                <a:spcPct val="100000"/>
              </a:lnSpc>
              <a:spcBef>
                <a:spcPts val="100"/>
              </a:spcBef>
              <a:spcAft>
                <a:spcPts val="0"/>
              </a:spcAft>
            </a:pPr>
            <a:r>
              <a:rPr sz="620" b="0">
                <a:solidFill>
                  <a:srgbClr val="5B5B5B"/>
                </a:solidFill>
                <a:latin typeface="Arial"/>
                <a:ea typeface="Yu Gothic"/>
                <a:cs typeface="Yu Gothic"/>
              </a:rPr>
              <a:t>手元から添付したファイル ｜ 今も続いているか / 市場要因か</a:t>
            </a:r>
          </a:p>
        </p:txBody>
      </p:sp>
      <p:sp>
        <p:nvSpPr>
          <p:cNvPr id="40" name="Rounded Rectangle 39"/>
          <p:cNvSpPr/>
          <p:nvPr/>
        </p:nvSpPr>
        <p:spPr>
          <a:xfrm>
            <a:off x="3968496" y="3054096"/>
            <a:ext cx="1700784" cy="4572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1" name="Rectangle 40"/>
          <p:cNvSpPr/>
          <p:nvPr/>
        </p:nvSpPr>
        <p:spPr>
          <a:xfrm>
            <a:off x="3968496" y="3054096"/>
            <a:ext cx="50292" cy="457200"/>
          </a:xfrm>
          <a:prstGeom prst="rect">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2" name="TextBox 41"/>
          <p:cNvSpPr txBox="1"/>
          <p:nvPr/>
        </p:nvSpPr>
        <p:spPr>
          <a:xfrm>
            <a:off x="4114800" y="3118103"/>
            <a:ext cx="1463040" cy="329184"/>
          </a:xfrm>
          <a:prstGeom prst="rect">
            <a:avLst/>
          </a:prstGeom>
          <a:noFill/>
        </p:spPr>
        <p:txBody>
          <a:bodyPr wrap="square" anchor="ctr" lIns="0" rIns="0" tIns="0" bIns="0">
            <a:spAutoFit/>
          </a:bodyPr>
          <a:lstStyle/>
          <a:p>
            <a:pPr>
              <a:lnSpc>
                <a:spcPct val="100000"/>
              </a:lnSpc>
              <a:spcBef>
                <a:spcPts val="0"/>
              </a:spcBef>
              <a:spcAft>
                <a:spcPts val="0"/>
              </a:spcAft>
            </a:pPr>
            <a:r>
              <a:rPr sz="900" b="1">
                <a:solidFill>
                  <a:srgbClr val="11567F"/>
                </a:solidFill>
                <a:latin typeface="Arial"/>
                <a:ea typeface="Yu Gothic"/>
                <a:cs typeface="Yu Gothic"/>
              </a:rPr>
              <a:t>Web検索</a:t>
            </a:r>
          </a:p>
          <a:p>
            <a:pPr>
              <a:lnSpc>
                <a:spcPct val="100000"/>
              </a:lnSpc>
              <a:spcBef>
                <a:spcPts val="100"/>
              </a:spcBef>
              <a:spcAft>
                <a:spcPts val="0"/>
              </a:spcAft>
            </a:pPr>
            <a:r>
              <a:rPr sz="750" b="0">
                <a:solidFill>
                  <a:srgbClr val="5B5B5B"/>
                </a:solidFill>
                <a:latin typeface="Arial"/>
                <a:ea typeface="Yu Gothic"/>
                <a:cs typeface="Yu Gothic"/>
              </a:rPr>
              <a:t>付録③のみ</a:t>
            </a:r>
          </a:p>
        </p:txBody>
      </p:sp>
      <p:sp>
        <p:nvSpPr>
          <p:cNvPr id="43" name="Right Arrow 42"/>
          <p:cNvSpPr/>
          <p:nvPr/>
        </p:nvSpPr>
        <p:spPr>
          <a:xfrm>
            <a:off x="5715000" y="3227832"/>
            <a:ext cx="201168" cy="109728"/>
          </a:xfrm>
          <a:prstGeom prst="rightArrow">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4" name="Rounded Rectangle 43"/>
          <p:cNvSpPr/>
          <p:nvPr/>
        </p:nvSpPr>
        <p:spPr>
          <a:xfrm>
            <a:off x="6053328" y="3054096"/>
            <a:ext cx="2578608" cy="457200"/>
          </a:xfrm>
          <a:prstGeom prst="roundRect">
            <a:avLst>
              <a:gd name="adj" fmla="val 6000"/>
            </a:avLst>
          </a:prstGeom>
          <a:solidFill>
            <a:srgbClr val="F2F9FD"/>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5" name="TextBox 44"/>
          <p:cNvSpPr txBox="1"/>
          <p:nvPr/>
        </p:nvSpPr>
        <p:spPr>
          <a:xfrm>
            <a:off x="6144768" y="3118103"/>
            <a:ext cx="2395727" cy="329184"/>
          </a:xfrm>
          <a:prstGeom prst="rect">
            <a:avLst/>
          </a:prstGeom>
          <a:noFill/>
        </p:spPr>
        <p:txBody>
          <a:bodyPr wrap="square" anchor="ctr" lIns="0" rIns="0" tIns="0" bIns="0">
            <a:spAutoFit/>
          </a:bodyPr>
          <a:lstStyle/>
          <a:p>
            <a:pPr>
              <a:lnSpc>
                <a:spcPct val="100000"/>
              </a:lnSpc>
              <a:spcBef>
                <a:spcPts val="0"/>
              </a:spcBef>
              <a:spcAft>
                <a:spcPts val="0"/>
              </a:spcAft>
            </a:pPr>
            <a:r>
              <a:rPr sz="850" b="1">
                <a:solidFill>
                  <a:srgbClr val="262626"/>
                </a:solidFill>
                <a:latin typeface="Arial"/>
                <a:ea typeface="Yu Gothic"/>
                <a:cs typeface="Yu Gothic"/>
              </a:rPr>
              <a:t>公開Web</a:t>
            </a:r>
          </a:p>
          <a:p>
            <a:pPr>
              <a:lnSpc>
                <a:spcPct val="100000"/>
              </a:lnSpc>
              <a:spcBef>
                <a:spcPts val="100"/>
              </a:spcBef>
              <a:spcAft>
                <a:spcPts val="0"/>
              </a:spcAft>
            </a:pPr>
            <a:r>
              <a:rPr sz="750" b="0">
                <a:solidFill>
                  <a:srgbClr val="5B5B5B"/>
                </a:solidFill>
                <a:latin typeface="Arial"/>
                <a:ea typeface="Yu Gothic"/>
                <a:cs typeface="Yu Gothic"/>
              </a:rPr>
              <a:t>外部通信あり。実習1〜5では使いません</a:t>
            </a:r>
          </a:p>
        </p:txBody>
      </p:sp>
      <p:sp>
        <p:nvSpPr>
          <p:cNvPr id="46" name="Rounded Rectangle 45"/>
          <p:cNvSpPr/>
          <p:nvPr/>
        </p:nvSpPr>
        <p:spPr>
          <a:xfrm>
            <a:off x="365760" y="4187952"/>
            <a:ext cx="2926080" cy="457200"/>
          </a:xfrm>
          <a:prstGeom prst="roundRect">
            <a:avLst>
              <a:gd name="adj" fmla="val 6000"/>
            </a:avLst>
          </a:prstGeom>
          <a:solidFill>
            <a:srgbClr val="FFFFFF"/>
          </a:solid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7" name="TextBox 46"/>
          <p:cNvSpPr txBox="1"/>
          <p:nvPr/>
        </p:nvSpPr>
        <p:spPr>
          <a:xfrm>
            <a:off x="475488" y="4242816"/>
            <a:ext cx="2706624" cy="347472"/>
          </a:xfrm>
          <a:prstGeom prst="rect">
            <a:avLst/>
          </a:prstGeom>
          <a:noFill/>
        </p:spPr>
        <p:txBody>
          <a:bodyPr wrap="square" anchor="ctr" lIns="0" rIns="0" tIns="0" bIns="0">
            <a:spAutoFit/>
          </a:bodyPr>
          <a:lstStyle/>
          <a:p>
            <a:pPr>
              <a:lnSpc>
                <a:spcPct val="100000"/>
              </a:lnSpc>
              <a:spcBef>
                <a:spcPts val="0"/>
              </a:spcBef>
              <a:spcAft>
                <a:spcPts val="0"/>
              </a:spcAft>
            </a:pPr>
            <a:r>
              <a:rPr sz="850" b="1">
                <a:solidFill>
                  <a:srgbClr val="7D44CF"/>
                </a:solidFill>
                <a:latin typeface="Arial"/>
                <a:ea typeface="Yu Gothic"/>
                <a:cs typeface="Yu Gothic"/>
              </a:rPr>
              <a:t>AWS S3（外部ステージ）</a:t>
            </a:r>
          </a:p>
          <a:p>
            <a:pPr>
              <a:lnSpc>
                <a:spcPct val="100000"/>
              </a:lnSpc>
              <a:spcBef>
                <a:spcPts val="100"/>
              </a:spcBef>
              <a:spcAft>
                <a:spcPts val="0"/>
              </a:spcAft>
            </a:pPr>
            <a:r>
              <a:rPr sz="750" b="0">
                <a:solidFill>
                  <a:srgbClr val="5B5B5B"/>
                </a:solidFill>
                <a:latin typeface="Arial"/>
                <a:ea typeface="Yu Gothic"/>
                <a:cs typeface="Yu Gothic"/>
              </a:rPr>
              <a:t>月次業績報告 PDF 4件</a:t>
            </a:r>
          </a:p>
        </p:txBody>
      </p:sp>
      <p:sp>
        <p:nvSpPr>
          <p:cNvPr id="48" name="Up Arrow 47"/>
          <p:cNvSpPr/>
          <p:nvPr/>
        </p:nvSpPr>
        <p:spPr>
          <a:xfrm>
            <a:off x="2304288" y="3986784"/>
            <a:ext cx="164592" cy="201168"/>
          </a:xfrm>
          <a:prstGeom prst="upArrow">
            <a:avLst/>
          </a:prstGeom>
          <a:noFill/>
          <a:ln w="12700">
            <a:solidFill>
              <a:srgbClr val="7D44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9" name="TextBox 48"/>
          <p:cNvSpPr txBox="1"/>
          <p:nvPr/>
        </p:nvSpPr>
        <p:spPr>
          <a:xfrm>
            <a:off x="3145536" y="4206240"/>
            <a:ext cx="5632703" cy="420624"/>
          </a:xfrm>
          <a:prstGeom prst="rect">
            <a:avLst/>
          </a:prstGeom>
          <a:noFill/>
        </p:spPr>
        <p:txBody>
          <a:bodyPr wrap="square" anchor="t" lIns="0" rIns="0" tIns="0" bIns="0">
            <a:spAutoFit/>
          </a:bodyPr>
          <a:lstStyle/>
          <a:p>
            <a:pPr algn="l">
              <a:lnSpc>
                <a:spcPct val="105000"/>
              </a:lnSpc>
              <a:spcBef>
                <a:spcPts val="0"/>
              </a:spcBef>
              <a:spcAft>
                <a:spcPts val="0"/>
              </a:spcAft>
            </a:pPr>
            <a:r>
              <a:rPr sz="800" b="0">
                <a:solidFill>
                  <a:srgbClr val="5B5B5B"/>
                </a:solidFill>
                <a:latin typeface="Arial"/>
                <a:ea typeface="Yu Gothic"/>
                <a:cs typeface="Yu Gothic"/>
              </a:rPr>
              <a:t>PDFの本文は、事前に AI_PARSE_DOCUMENT で読み取ってSnowflake内のテーブルに取り込んであります。当日みなさんがアップロードする作業はありません。</a:t>
            </a:r>
          </a:p>
        </p:txBody>
      </p:sp>
      <p:sp>
        <p:nvSpPr>
          <p:cNvPr id="50" name="TextBox 49"/>
          <p:cNvSpPr txBox="1"/>
          <p:nvPr/>
        </p:nvSpPr>
        <p:spPr>
          <a:xfrm>
            <a:off x="365760" y="4828032"/>
            <a:ext cx="8412480" cy="219456"/>
          </a:xfrm>
          <a:prstGeom prst="rect">
            <a:avLst/>
          </a:prstGeom>
          <a:noFill/>
        </p:spPr>
        <p:txBody>
          <a:bodyPr wrap="square" anchor="t" lIns="0" rIns="0" tIns="0" bIns="0">
            <a:spAutoFit/>
          </a:bodyPr>
          <a:lstStyle/>
          <a:p>
            <a:pPr algn="l">
              <a:lnSpc>
                <a:spcPct val="105000"/>
              </a:lnSpc>
              <a:spcBef>
                <a:spcPts val="0"/>
              </a:spcBef>
              <a:spcAft>
                <a:spcPts val="0"/>
              </a:spcAft>
            </a:pPr>
            <a:r>
              <a:rPr sz="750" b="0">
                <a:solidFill>
                  <a:srgbClr val="5B5B5B"/>
                </a:solidFill>
                <a:latin typeface="Arial"/>
                <a:ea typeface="Yu Gothic"/>
                <a:cs typeface="Yu Gothic"/>
              </a:rPr>
              <a:t>④⑤は社内データに存在しないため、チャットに添付します。添付したファイルはその会話の中だけで使われます。売上・返品・粗利などの数値は、必ずSnowflake内のデータから集計されます。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セットアップ作業はありません。ログインしてAgentを選ぶだけです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環境と画面の確認</a:t>
            </a:r>
          </a:p>
        </p:txBody>
      </p:sp>
      <p:sp>
        <p:nvSpPr>
          <p:cNvPr id="4" name="Rounded Rectangle 3"/>
          <p:cNvSpPr/>
          <p:nvPr/>
        </p:nvSpPr>
        <p:spPr>
          <a:xfrm>
            <a:off x="365760" y="1170432"/>
            <a:ext cx="4114800" cy="30358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TextBox 4"/>
          <p:cNvSpPr txBox="1"/>
          <p:nvPr/>
        </p:nvSpPr>
        <p:spPr>
          <a:xfrm>
            <a:off x="502920" y="1325880"/>
            <a:ext cx="3840480" cy="2724911"/>
          </a:xfrm>
          <a:prstGeom prst="rect">
            <a:avLst/>
          </a:prstGeom>
          <a:noFill/>
        </p:spPr>
        <p:txBody>
          <a:bodyPr wrap="square" anchor="t" lIns="0" rIns="0" tIns="0" bIns="0">
            <a:spAutoFit/>
          </a:bodyPr>
          <a:lstStyle/>
          <a:p>
            <a:pPr>
              <a:lnSpc>
                <a:spcPct val="102000"/>
              </a:lnSpc>
              <a:spcBef>
                <a:spcPts val="0"/>
              </a:spcBef>
              <a:spcAft>
                <a:spcPts val="600"/>
              </a:spcAft>
            </a:pPr>
            <a:r>
              <a:rPr sz="1200" b="1">
                <a:solidFill>
                  <a:srgbClr val="11567F"/>
                </a:solidFill>
                <a:latin typeface="Arial"/>
                <a:ea typeface="Yu Gothic"/>
                <a:cs typeface="Yu Gothic"/>
              </a:rPr>
              <a:t>3ステップで準備完了</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配布されたURLからログインする</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画面左のメニューから Snowflake CoWork を開く</a:t>
            </a:r>
          </a:p>
          <a:p>
            <a:pPr>
              <a:lnSpc>
                <a:spcPct val="115000"/>
              </a:lnSpc>
              <a:spcBef>
                <a:spcPts val="500"/>
              </a:spcBef>
              <a:spcAft>
                <a:spcPts val="0"/>
              </a:spcAft>
            </a:pPr>
            <a:r>
              <a:rPr sz="900" b="1">
                <a:solidFill>
                  <a:srgbClr val="29B5E8"/>
                </a:solidFill>
                <a:latin typeface="Arial"/>
                <a:ea typeface="Yu Gothic"/>
                <a:cs typeface="Yu Gothic"/>
              </a:rPr>
              <a:t>● </a:t>
            </a:r>
            <a:r>
              <a:rPr sz="950" b="0">
                <a:solidFill>
                  <a:srgbClr val="262626"/>
                </a:solidFill>
                <a:latin typeface="Arial"/>
                <a:ea typeface="Yu Gothic"/>
                <a:cs typeface="Yu Gothic"/>
              </a:rPr>
              <a:t>Agent から「クレストリヴェルタ 事業判断アシスタント ①〜③」のいずれかを選ぶ</a:t>
            </a:r>
          </a:p>
        </p:txBody>
      </p:sp>
      <p:sp>
        <p:nvSpPr>
          <p:cNvPr id="6" name="Rounded Rectangle 5"/>
          <p:cNvSpPr/>
          <p:nvPr/>
        </p:nvSpPr>
        <p:spPr>
          <a:xfrm>
            <a:off x="4617720" y="1170432"/>
            <a:ext cx="4114800" cy="932687"/>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7" name="Rectangle 6"/>
          <p:cNvSpPr/>
          <p:nvPr/>
        </p:nvSpPr>
        <p:spPr>
          <a:xfrm>
            <a:off x="4617720" y="1170432"/>
            <a:ext cx="54864" cy="932687"/>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4800600" y="1289304"/>
            <a:ext cx="3794760" cy="731519"/>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① 報告と数字</a:t>
            </a:r>
          </a:p>
          <a:p>
            <a:pPr>
              <a:lnSpc>
                <a:spcPct val="110000"/>
              </a:lnSpc>
              <a:spcBef>
                <a:spcPts val="0"/>
              </a:spcBef>
              <a:spcAft>
                <a:spcPts val="0"/>
              </a:spcAft>
            </a:pPr>
            <a:r>
              <a:rPr sz="900" b="0">
                <a:solidFill>
                  <a:srgbClr val="262626"/>
                </a:solidFill>
                <a:latin typeface="Arial"/>
                <a:ea typeface="Yu Gothic"/>
                <a:cs typeface="Yu Gothic"/>
              </a:rPr>
              <a:t>実習1と実習2で使います。まずはこれを選んでください</a:t>
            </a:r>
          </a:p>
        </p:txBody>
      </p:sp>
      <p:sp>
        <p:nvSpPr>
          <p:cNvPr id="9" name="Rounded Rectangle 8"/>
          <p:cNvSpPr/>
          <p:nvPr/>
        </p:nvSpPr>
        <p:spPr>
          <a:xfrm>
            <a:off x="4617720" y="2221991"/>
            <a:ext cx="4114800" cy="932687"/>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Rectangle 9"/>
          <p:cNvSpPr/>
          <p:nvPr/>
        </p:nvSpPr>
        <p:spPr>
          <a:xfrm>
            <a:off x="4617720" y="2221991"/>
            <a:ext cx="54864" cy="932687"/>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4800600" y="2340863"/>
            <a:ext cx="3794760" cy="731519"/>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② 添付資料</a:t>
            </a:r>
          </a:p>
          <a:p>
            <a:pPr>
              <a:lnSpc>
                <a:spcPct val="110000"/>
              </a:lnSpc>
              <a:spcBef>
                <a:spcPts val="0"/>
              </a:spcBef>
              <a:spcAft>
                <a:spcPts val="0"/>
              </a:spcAft>
            </a:pPr>
            <a:r>
              <a:rPr sz="900" b="0">
                <a:solidFill>
                  <a:srgbClr val="262626"/>
                </a:solidFill>
                <a:latin typeface="Arial"/>
                <a:ea typeface="Yu Gothic"/>
                <a:cs typeface="Yu Gothic"/>
              </a:rPr>
              <a:t>実習3・4・5で使います。ファイルを添付する実習用です</a:t>
            </a:r>
          </a:p>
        </p:txBody>
      </p:sp>
      <p:sp>
        <p:nvSpPr>
          <p:cNvPr id="12" name="Rounded Rectangle 11"/>
          <p:cNvSpPr/>
          <p:nvPr/>
        </p:nvSpPr>
        <p:spPr>
          <a:xfrm>
            <a:off x="4617720" y="3273552"/>
            <a:ext cx="4114800" cy="932687"/>
          </a:xfrm>
          <a:prstGeom prst="roundRect">
            <a:avLst>
              <a:gd name="adj" fmla="val 6000"/>
            </a:avLst>
          </a:prstGeom>
          <a:noFill/>
          <a:ln w="9525">
            <a:solidFill>
              <a:srgbClr val="DDE6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Rectangle 12"/>
          <p:cNvSpPr/>
          <p:nvPr/>
        </p:nvSpPr>
        <p:spPr>
          <a:xfrm>
            <a:off x="4617720" y="3273552"/>
            <a:ext cx="54864" cy="932687"/>
          </a:xfrm>
          <a:prstGeom prst="rect">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TextBox 13"/>
          <p:cNvSpPr txBox="1"/>
          <p:nvPr/>
        </p:nvSpPr>
        <p:spPr>
          <a:xfrm>
            <a:off x="4800600" y="3392424"/>
            <a:ext cx="3794760" cy="731519"/>
          </a:xfrm>
          <a:prstGeom prst="rect">
            <a:avLst/>
          </a:prstGeom>
          <a:noFill/>
        </p:spPr>
        <p:txBody>
          <a:bodyPr wrap="square" anchor="t" lIns="0" rIns="0" tIns="0" bIns="0">
            <a:spAutoFit/>
          </a:bodyPr>
          <a:lstStyle/>
          <a:p>
            <a:pPr>
              <a:lnSpc>
                <a:spcPct val="102000"/>
              </a:lnSpc>
              <a:spcBef>
                <a:spcPts val="0"/>
              </a:spcBef>
              <a:spcAft>
                <a:spcPts val="300"/>
              </a:spcAft>
            </a:pPr>
            <a:r>
              <a:rPr sz="1100" b="1">
                <a:solidFill>
                  <a:srgbClr val="11567F"/>
                </a:solidFill>
                <a:latin typeface="Arial"/>
                <a:ea typeface="Yu Gothic"/>
                <a:cs typeface="Yu Gothic"/>
              </a:rPr>
              <a:t>③ 付録</a:t>
            </a:r>
          </a:p>
          <a:p>
            <a:pPr>
              <a:lnSpc>
                <a:spcPct val="110000"/>
              </a:lnSpc>
              <a:spcBef>
                <a:spcPts val="0"/>
              </a:spcBef>
              <a:spcAft>
                <a:spcPts val="0"/>
              </a:spcAft>
            </a:pPr>
            <a:r>
              <a:rPr sz="900" b="0">
                <a:solidFill>
                  <a:srgbClr val="262626"/>
                </a:solidFill>
                <a:latin typeface="Arial"/>
                <a:ea typeface="Yu Gothic"/>
                <a:cs typeface="Yu Gothic"/>
              </a:rPr>
              <a:t>時間が余ったとき、自由に試すための質問例が入っています</a:t>
            </a:r>
          </a:p>
        </p:txBody>
      </p:sp>
      <p:sp>
        <p:nvSpPr>
          <p:cNvPr id="15" name="TextBox 14"/>
          <p:cNvSpPr txBox="1"/>
          <p:nvPr/>
        </p:nvSpPr>
        <p:spPr>
          <a:xfrm>
            <a:off x="365760" y="4279392"/>
            <a:ext cx="8412480" cy="274320"/>
          </a:xfrm>
          <a:prstGeom prst="rect">
            <a:avLst/>
          </a:prstGeom>
          <a:noFill/>
        </p:spPr>
        <p:txBody>
          <a:bodyPr wrap="square" anchor="t" lIns="0" rIns="0" tIns="0" bIns="0">
            <a:spAutoFit/>
          </a:bodyPr>
          <a:lstStyle/>
          <a:p>
            <a:pPr>
              <a:lnSpc>
                <a:spcPct val="102000"/>
              </a:lnSpc>
              <a:spcBef>
                <a:spcPts val="0"/>
              </a:spcBef>
              <a:spcAft>
                <a:spcPts val="0"/>
              </a:spcAft>
            </a:pPr>
            <a:r>
              <a:rPr sz="750" b="0">
                <a:solidFill>
                  <a:srgbClr val="5B5B5B"/>
                </a:solidFill>
                <a:latin typeface="Arial"/>
                <a:ea typeface="Yu Gothic"/>
                <a:cs typeface="Yu Gothic"/>
              </a:rPr>
              <a:t>データとAgentはすでに準備済みです ｜ 困ったら手を挙げてください。会場を巡回しています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まず、部下から上がってきた報告に何が書かれているかを把握します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実習1-1 ｜ 報告書の内容を整理する</a:t>
            </a:r>
          </a:p>
        </p:txBody>
      </p:sp>
      <p:sp>
        <p:nvSpPr>
          <p:cNvPr id="4" name="Rounded Rectangle 3"/>
          <p:cNvSpPr/>
          <p:nvPr/>
        </p:nvSpPr>
        <p:spPr>
          <a:xfrm>
            <a:off x="365760" y="1115568"/>
            <a:ext cx="5102352" cy="3566160"/>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15568"/>
            <a:ext cx="54864" cy="356616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TextBox 5"/>
          <p:cNvSpPr txBox="1"/>
          <p:nvPr/>
        </p:nvSpPr>
        <p:spPr>
          <a:xfrm>
            <a:off x="566928" y="1225295"/>
            <a:ext cx="4736592" cy="3346704"/>
          </a:xfrm>
          <a:prstGeom prst="rect">
            <a:avLst/>
          </a:prstGeom>
          <a:noFill/>
        </p:spPr>
        <p:txBody>
          <a:bodyPr wrap="square" anchor="t" lIns="0" rIns="0" tIns="0" bIns="0">
            <a:spAutoFit/>
          </a:bodyPr>
          <a:lstStyle/>
          <a:p>
            <a:pPr>
              <a:lnSpc>
                <a:spcPct val="122000"/>
              </a:lnSpc>
              <a:spcBef>
                <a:spcPts val="0"/>
              </a:spcBef>
              <a:spcAft>
                <a:spcPts val="0"/>
              </a:spcAft>
            </a:pPr>
            <a:r>
              <a:rPr sz="1100" b="0">
                <a:solidFill>
                  <a:srgbClr val="FFFFFF"/>
                </a:solidFill>
                <a:latin typeface="Arial"/>
                <a:ea typeface="Yu Gothic"/>
                <a:cs typeface="Yu Gothic"/>
              </a:rPr>
              <a:t>各店舗の店長から届いた月次業績報告の内容を整理してください。</a:t>
            </a:r>
          </a:p>
          <a:p>
            <a:pPr>
              <a:lnSpc>
                <a:spcPct val="122000"/>
              </a:lnSpc>
              <a:spcBef>
                <a:spcPts val="0"/>
              </a:spcBef>
              <a:spcAft>
                <a:spcPts val="0"/>
              </a:spcAft>
            </a:pPr>
            <a:r>
              <a:rPr sz="1100" b="0">
                <a:solidFill>
                  <a:srgbClr val="FFFFFF"/>
                </a:solidFill>
                <a:latin typeface="Arial"/>
                <a:ea typeface="Yu Gothic"/>
                <a:cs typeface="Yu Gothic"/>
              </a:rPr>
              <a:t>どの店舗のどの商品について、何が報告されているかを表にしてください。</a:t>
            </a:r>
          </a:p>
        </p:txBody>
      </p:sp>
      <p:sp>
        <p:nvSpPr>
          <p:cNvPr id="7" name="Rounded Rectangle 6"/>
          <p:cNvSpPr/>
          <p:nvPr/>
        </p:nvSpPr>
        <p:spPr>
          <a:xfrm>
            <a:off x="5650992" y="1115568"/>
            <a:ext cx="3127248" cy="3566160"/>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5797296" y="1225295"/>
            <a:ext cx="2834640" cy="3346704"/>
          </a:xfrm>
          <a:prstGeom prst="rect">
            <a:avLst/>
          </a:prstGeom>
          <a:noFill/>
        </p:spPr>
        <p:txBody>
          <a:bodyPr wrap="square" anchor="t" lIns="0" rIns="0" tIns="0" bIns="0">
            <a:spAutoFit/>
          </a:bodyPr>
          <a:lstStyle/>
          <a:p>
            <a:pPr>
              <a:lnSpc>
                <a:spcPct val="102000"/>
              </a:lnSpc>
              <a:spcBef>
                <a:spcPts val="0"/>
              </a:spcBef>
              <a:spcAft>
                <a:spcPts val="400"/>
              </a:spcAft>
            </a:pPr>
            <a:r>
              <a:rPr sz="1000" b="1">
                <a:solidFill>
                  <a:srgbClr val="11567F"/>
                </a:solidFill>
                <a:latin typeface="Arial"/>
                <a:ea typeface="Yu Gothic"/>
                <a:cs typeface="Yu Gothic"/>
              </a:rPr>
              <a:t>見るポイント</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呼ばれたツールは manager_report_search だけか</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報告は4件（東京ベイ / 横浜みなと×2 / 名古屋ささしま）拾えたか</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出典が付いているか</a:t>
            </a:r>
          </a:p>
          <a:p>
            <a:pPr>
              <a:lnSpc>
                <a:spcPct val="112000"/>
              </a:lnSpc>
              <a:spcBef>
                <a:spcPts val="500"/>
              </a:spcBef>
              <a:spcAft>
                <a:spcPts val="0"/>
              </a:spcAft>
            </a:pPr>
            <a:r>
              <a:rPr sz="850" b="1">
                <a:solidFill>
                  <a:srgbClr val="29B5E8"/>
                </a:solidFill>
                <a:latin typeface="Arial"/>
                <a:ea typeface="Yu Gothic"/>
                <a:cs typeface="Yu Gothic"/>
              </a:rPr>
              <a:t>注目　</a:t>
            </a:r>
            <a:r>
              <a:rPr sz="850" b="0">
                <a:solidFill>
                  <a:srgbClr val="262626"/>
                </a:solidFill>
                <a:latin typeface="Arial"/>
                <a:ea typeface="Yu Gothic"/>
                <a:cs typeface="Yu Gothic"/>
              </a:rPr>
              <a:t>横浜みなと店 × クレストリフレッシュウォーターが「計画どおり」「影響は軽微」と報告されている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報告書に書かれていない指標を、AIに見つけさせます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実習1-2 ｜ 数字と突き合わせる</a:t>
            </a:r>
          </a:p>
        </p:txBody>
      </p:sp>
      <p:sp>
        <p:nvSpPr>
          <p:cNvPr id="4" name="Rounded Rectangle 3"/>
          <p:cNvSpPr/>
          <p:nvPr/>
        </p:nvSpPr>
        <p:spPr>
          <a:xfrm>
            <a:off x="365760" y="1115568"/>
            <a:ext cx="5102352" cy="3566160"/>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15568"/>
            <a:ext cx="54864" cy="356616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TextBox 5"/>
          <p:cNvSpPr txBox="1"/>
          <p:nvPr/>
        </p:nvSpPr>
        <p:spPr>
          <a:xfrm>
            <a:off x="566928" y="1225295"/>
            <a:ext cx="4736592" cy="3346704"/>
          </a:xfrm>
          <a:prstGeom prst="rect">
            <a:avLst/>
          </a:prstGeom>
          <a:noFill/>
        </p:spPr>
        <p:txBody>
          <a:bodyPr wrap="square" anchor="t" lIns="0" rIns="0" tIns="0" bIns="0">
            <a:spAutoFit/>
          </a:bodyPr>
          <a:lstStyle/>
          <a:p>
            <a:pPr>
              <a:lnSpc>
                <a:spcPct val="122000"/>
              </a:lnSpc>
              <a:spcBef>
                <a:spcPts val="0"/>
              </a:spcBef>
              <a:spcAft>
                <a:spcPts val="0"/>
              </a:spcAft>
            </a:pPr>
            <a:r>
              <a:rPr sz="1100" b="0">
                <a:solidFill>
                  <a:srgbClr val="FFFFFF"/>
                </a:solidFill>
                <a:latin typeface="Arial"/>
                <a:ea typeface="Yu Gothic"/>
                <a:cs typeface="Yu Gothic"/>
              </a:rPr>
              <a:t>いま整理した報告内容を、直近90日の売上データと突き合わせてください。</a:t>
            </a:r>
          </a:p>
          <a:p>
            <a:pPr>
              <a:lnSpc>
                <a:spcPct val="122000"/>
              </a:lnSpc>
              <a:spcBef>
                <a:spcPts val="0"/>
              </a:spcBef>
              <a:spcAft>
                <a:spcPts val="0"/>
              </a:spcAft>
            </a:pPr>
            <a:r>
              <a:rPr sz="1100" b="0">
                <a:solidFill>
                  <a:srgbClr val="FFFFFF"/>
                </a:solidFill>
                <a:latin typeface="Arial"/>
                <a:ea typeface="Yu Gothic"/>
                <a:cs typeface="Yu Gothic"/>
              </a:rPr>
              <a:t>報告書で触れられていない指標があれば、それを明示してください。</a:t>
            </a:r>
          </a:p>
        </p:txBody>
      </p:sp>
      <p:sp>
        <p:nvSpPr>
          <p:cNvPr id="7" name="Rounded Rectangle 6"/>
          <p:cNvSpPr/>
          <p:nvPr/>
        </p:nvSpPr>
        <p:spPr>
          <a:xfrm>
            <a:off x="5650992" y="1115568"/>
            <a:ext cx="3127248" cy="3566160"/>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5797296" y="1225295"/>
            <a:ext cx="2834640" cy="3346704"/>
          </a:xfrm>
          <a:prstGeom prst="rect">
            <a:avLst/>
          </a:prstGeom>
          <a:noFill/>
        </p:spPr>
        <p:txBody>
          <a:bodyPr wrap="square" anchor="t" lIns="0" rIns="0" tIns="0" bIns="0">
            <a:spAutoFit/>
          </a:bodyPr>
          <a:lstStyle/>
          <a:p>
            <a:pPr>
              <a:lnSpc>
                <a:spcPct val="102000"/>
              </a:lnSpc>
              <a:spcBef>
                <a:spcPts val="0"/>
              </a:spcBef>
              <a:spcAft>
                <a:spcPts val="400"/>
              </a:spcAft>
            </a:pPr>
            <a:r>
              <a:rPr sz="1000" b="1">
                <a:solidFill>
                  <a:srgbClr val="11567F"/>
                </a:solidFill>
                <a:latin typeface="Arial"/>
                <a:ea typeface="Yu Gothic"/>
                <a:cs typeface="Yu Gothic"/>
              </a:rPr>
              <a:t>見るポイント</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今回は数値のツール（Cortex Analyst）が選ばれている</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報告書に行が存在しない指標が挙がっているか</a:t>
            </a:r>
          </a:p>
          <a:p>
            <a:pPr>
              <a:lnSpc>
                <a:spcPct val="112000"/>
              </a:lnSpc>
              <a:spcBef>
                <a:spcPts val="500"/>
              </a:spcBef>
              <a:spcAft>
                <a:spcPts val="0"/>
              </a:spcAft>
            </a:pPr>
            <a:r>
              <a:rPr sz="850" b="1">
                <a:solidFill>
                  <a:srgbClr val="29B5E8"/>
                </a:solidFill>
                <a:latin typeface="Arial"/>
                <a:ea typeface="Yu Gothic"/>
                <a:cs typeface="Yu Gothic"/>
              </a:rPr>
              <a:t>3指標　</a:t>
            </a:r>
            <a:r>
              <a:rPr sz="850" b="0">
                <a:solidFill>
                  <a:srgbClr val="262626"/>
                </a:solidFill>
                <a:latin typeface="Arial"/>
                <a:ea typeface="Yu Gothic"/>
                <a:cs typeface="Yu Gothic"/>
              </a:rPr>
              <a:t>返品率 / 粗利率 / 需要充足率</a:t>
            </a:r>
          </a:p>
          <a:p>
            <a:pPr>
              <a:lnSpc>
                <a:spcPct val="112000"/>
              </a:lnSpc>
              <a:spcBef>
                <a:spcPts val="500"/>
              </a:spcBef>
              <a:spcAft>
                <a:spcPts val="0"/>
              </a:spcAft>
            </a:pPr>
            <a:r>
              <a:rPr sz="850" b="1">
                <a:solidFill>
                  <a:srgbClr val="29B5E8"/>
                </a:solidFill>
                <a:latin typeface="Arial"/>
                <a:ea typeface="Yu Gothic"/>
                <a:cs typeface="Yu Gothic"/>
              </a:rPr>
              <a:t>書き分け　</a:t>
            </a:r>
            <a:r>
              <a:rPr sz="850" b="0">
                <a:solidFill>
                  <a:srgbClr val="262626"/>
                </a:solidFill>
                <a:latin typeface="Arial"/>
                <a:ea typeface="Yu Gothic"/>
                <a:cs typeface="Yu Gothic"/>
              </a:rPr>
              <a:t>「報告が嘘」ではなく「報告されていない」になっているか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差がどれだけ大きいのかを、他店舗と並べて見ます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実習1-3 ｜ グラフにする</a:t>
            </a:r>
          </a:p>
        </p:txBody>
      </p:sp>
      <p:sp>
        <p:nvSpPr>
          <p:cNvPr id="4" name="Rounded Rectangle 3"/>
          <p:cNvSpPr/>
          <p:nvPr/>
        </p:nvSpPr>
        <p:spPr>
          <a:xfrm>
            <a:off x="365760" y="1115568"/>
            <a:ext cx="5102352" cy="3566160"/>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15568"/>
            <a:ext cx="54864" cy="356616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TextBox 5"/>
          <p:cNvSpPr txBox="1"/>
          <p:nvPr/>
        </p:nvSpPr>
        <p:spPr>
          <a:xfrm>
            <a:off x="566928" y="1225295"/>
            <a:ext cx="4736592" cy="3346704"/>
          </a:xfrm>
          <a:prstGeom prst="rect">
            <a:avLst/>
          </a:prstGeom>
          <a:noFill/>
        </p:spPr>
        <p:txBody>
          <a:bodyPr wrap="square" anchor="t" lIns="0" rIns="0" tIns="0" bIns="0">
            <a:spAutoFit/>
          </a:bodyPr>
          <a:lstStyle/>
          <a:p>
            <a:pPr>
              <a:lnSpc>
                <a:spcPct val="122000"/>
              </a:lnSpc>
              <a:spcBef>
                <a:spcPts val="0"/>
              </a:spcBef>
              <a:spcAft>
                <a:spcPts val="0"/>
              </a:spcAft>
            </a:pPr>
            <a:r>
              <a:rPr sz="1100" b="0">
                <a:solidFill>
                  <a:srgbClr val="FFFFFF"/>
                </a:solidFill>
                <a:latin typeface="Arial"/>
                <a:ea typeface="Yu Gothic"/>
                <a:cs typeface="Yu Gothic"/>
              </a:rPr>
              <a:t>報告されていない3指標について、問題のある店舗商品と他店舗を比較する</a:t>
            </a:r>
          </a:p>
          <a:p>
            <a:pPr>
              <a:lnSpc>
                <a:spcPct val="122000"/>
              </a:lnSpc>
              <a:spcBef>
                <a:spcPts val="0"/>
              </a:spcBef>
              <a:spcAft>
                <a:spcPts val="0"/>
              </a:spcAft>
            </a:pPr>
            <a:r>
              <a:rPr sz="1100" b="0">
                <a:solidFill>
                  <a:srgbClr val="FFFFFF"/>
                </a:solidFill>
                <a:latin typeface="Arial"/>
                <a:ea typeface="Yu Gothic"/>
                <a:cs typeface="Yu Gothic"/>
              </a:rPr>
              <a:t>グラフを作ってください。</a:t>
            </a:r>
          </a:p>
        </p:txBody>
      </p:sp>
      <p:sp>
        <p:nvSpPr>
          <p:cNvPr id="7" name="Rounded Rectangle 6"/>
          <p:cNvSpPr/>
          <p:nvPr/>
        </p:nvSpPr>
        <p:spPr>
          <a:xfrm>
            <a:off x="5650992" y="1115568"/>
            <a:ext cx="3127248" cy="3566160"/>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5797296" y="1225295"/>
            <a:ext cx="2834640" cy="3346704"/>
          </a:xfrm>
          <a:prstGeom prst="rect">
            <a:avLst/>
          </a:prstGeom>
          <a:noFill/>
        </p:spPr>
        <p:txBody>
          <a:bodyPr wrap="square" anchor="t" lIns="0" rIns="0" tIns="0" bIns="0">
            <a:spAutoFit/>
          </a:bodyPr>
          <a:lstStyle/>
          <a:p>
            <a:pPr>
              <a:lnSpc>
                <a:spcPct val="102000"/>
              </a:lnSpc>
              <a:spcBef>
                <a:spcPts val="0"/>
              </a:spcBef>
              <a:spcAft>
                <a:spcPts val="400"/>
              </a:spcAft>
            </a:pPr>
            <a:r>
              <a:rPr sz="1000" b="1">
                <a:solidFill>
                  <a:srgbClr val="11567F"/>
                </a:solidFill>
                <a:latin typeface="Arial"/>
                <a:ea typeface="Yu Gothic"/>
                <a:cs typeface="Yu Gothic"/>
              </a:rPr>
              <a:t>見るポイント</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data_to_chart が呼ばれているか</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1つのグラフにまとまっているか（分割されていないか）</a:t>
            </a:r>
          </a:p>
          <a:p>
            <a:pPr>
              <a:lnSpc>
                <a:spcPct val="112000"/>
              </a:lnSpc>
              <a:spcBef>
                <a:spcPts val="500"/>
              </a:spcBef>
              <a:spcAft>
                <a:spcPts val="0"/>
              </a:spcAft>
            </a:pPr>
            <a:r>
              <a:rPr sz="850" b="1">
                <a:solidFill>
                  <a:srgbClr val="29B5E8"/>
                </a:solidFill>
                <a:latin typeface="Arial"/>
                <a:ea typeface="Yu Gothic"/>
                <a:cs typeface="Yu Gothic"/>
              </a:rPr>
              <a:t>見方　</a:t>
            </a:r>
            <a:r>
              <a:rPr sz="850" b="0">
                <a:solidFill>
                  <a:srgbClr val="262626"/>
                </a:solidFill>
                <a:latin typeface="Arial"/>
                <a:ea typeface="Yu Gothic"/>
                <a:cs typeface="Yu Gothic"/>
              </a:rPr>
              <a:t>横浜みなと店の棒だけが他店と違う形になる</a:t>
            </a:r>
          </a:p>
          <a:p>
            <a:pPr>
              <a:lnSpc>
                <a:spcPct val="112000"/>
              </a:lnSpc>
              <a:spcBef>
                <a:spcPts val="500"/>
              </a:spcBef>
              <a:spcAft>
                <a:spcPts val="0"/>
              </a:spcAft>
            </a:pPr>
            <a:r>
              <a:rPr sz="850" b="1">
                <a:solidFill>
                  <a:srgbClr val="29B5E8"/>
                </a:solidFill>
                <a:latin typeface="Arial"/>
                <a:ea typeface="Yu Gothic"/>
                <a:cs typeface="Yu Gothic"/>
              </a:rPr>
              <a:t>補足　</a:t>
            </a:r>
            <a:r>
              <a:rPr sz="850" b="0">
                <a:solidFill>
                  <a:srgbClr val="262626"/>
                </a:solidFill>
                <a:latin typeface="Arial"/>
                <a:ea typeface="Yu Gothic"/>
                <a:cs typeface="Yu Gothic"/>
              </a:rPr>
              <a:t>チャートは画面上で種類を変えられます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実習1の気づき</a:t>
            </a:r>
          </a:p>
        </p:txBody>
      </p:sp>
      <p:sp>
        <p:nvSpPr>
          <p:cNvPr id="4" name="Rounded Rectangle 3"/>
          <p:cNvSpPr/>
          <p:nvPr/>
        </p:nvSpPr>
        <p:spPr>
          <a:xfrm>
            <a:off x="365760" y="1170432"/>
            <a:ext cx="8412480" cy="932688"/>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64008" cy="932688"/>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TextBox 5"/>
          <p:cNvSpPr txBox="1"/>
          <p:nvPr/>
        </p:nvSpPr>
        <p:spPr>
          <a:xfrm>
            <a:off x="621792" y="1261872"/>
            <a:ext cx="7955279" cy="749808"/>
          </a:xfrm>
          <a:prstGeom prst="rect">
            <a:avLst/>
          </a:prstGeom>
          <a:noFill/>
        </p:spPr>
        <p:txBody>
          <a:bodyPr wrap="square" anchor="ctr" lIns="0" rIns="0" tIns="0" bIns="0">
            <a:spAutoFit/>
          </a:bodyPr>
          <a:lstStyle/>
          <a:p>
            <a:pPr>
              <a:lnSpc>
                <a:spcPct val="105000"/>
              </a:lnSpc>
              <a:spcBef>
                <a:spcPts val="0"/>
              </a:spcBef>
              <a:spcAft>
                <a:spcPts val="0"/>
              </a:spcAft>
            </a:pPr>
            <a:r>
              <a:rPr sz="1900" b="1">
                <a:solidFill>
                  <a:srgbClr val="11567F"/>
                </a:solidFill>
                <a:latin typeface="Arial"/>
                <a:ea typeface="Yu Gothic"/>
                <a:cs typeface="Yu Gothic"/>
              </a:rPr>
              <a:t>報告書は、嘘を書いていない。書いていないだけ</a:t>
            </a:r>
          </a:p>
        </p:txBody>
      </p:sp>
      <p:sp>
        <p:nvSpPr>
          <p:cNvPr id="7" name="TextBox 6"/>
          <p:cNvSpPr txBox="1"/>
          <p:nvPr/>
        </p:nvSpPr>
        <p:spPr>
          <a:xfrm>
            <a:off x="420624" y="2286000"/>
            <a:ext cx="8302752" cy="1975104"/>
          </a:xfrm>
          <a:prstGeom prst="rect">
            <a:avLst/>
          </a:prstGeom>
          <a:noFill/>
        </p:spPr>
        <p:txBody>
          <a:bodyPr wrap="square" anchor="t" lIns="0" rIns="0" tIns="0" bIns="0">
            <a:spAutoFit/>
          </a:bodyPr>
          <a:lstStyle/>
          <a:p>
            <a:pPr>
              <a:lnSpc>
                <a:spcPct val="116000"/>
              </a:lnSpc>
              <a:spcBef>
                <a:spcPts val="0"/>
              </a:spcBef>
              <a:spcAft>
                <a:spcPts val="0"/>
              </a:spcAft>
            </a:pPr>
            <a:r>
              <a:rPr sz="1100" b="1">
                <a:solidFill>
                  <a:srgbClr val="FF9F36"/>
                </a:solidFill>
                <a:latin typeface="Arial"/>
                <a:ea typeface="Yu Gothic"/>
                <a:cs typeface="Yu Gothic"/>
              </a:rPr>
              <a:t>数字　</a:t>
            </a:r>
            <a:r>
              <a:rPr sz="1100" b="0">
                <a:solidFill>
                  <a:srgbClr val="262626"/>
                </a:solidFill>
                <a:latin typeface="Arial"/>
                <a:ea typeface="Yu Gothic"/>
                <a:cs typeface="Yu Gothic"/>
              </a:rPr>
              <a:t>横浜みなと店 × クレストリフレッシュウォーターの計画達成率は 98%。報告は「影響は軽微」</a:t>
            </a:r>
          </a:p>
          <a:p>
            <a:pPr>
              <a:lnSpc>
                <a:spcPct val="116000"/>
              </a:lnSpc>
              <a:spcBef>
                <a:spcPts val="700"/>
              </a:spcBef>
              <a:spcAft>
                <a:spcPts val="0"/>
              </a:spcAft>
            </a:pPr>
            <a:r>
              <a:rPr sz="1100" b="1">
                <a:solidFill>
                  <a:srgbClr val="FF9F36"/>
                </a:solidFill>
                <a:latin typeface="Arial"/>
                <a:ea typeface="Yu Gothic"/>
                <a:cs typeface="Yu Gothic"/>
              </a:rPr>
              <a:t>しかし　</a:t>
            </a:r>
            <a:r>
              <a:rPr sz="1100" b="0">
                <a:solidFill>
                  <a:srgbClr val="262626"/>
                </a:solidFill>
                <a:latin typeface="Arial"/>
                <a:ea typeface="Yu Gothic"/>
                <a:cs typeface="Yu Gothic"/>
              </a:rPr>
              <a:t>返品率・需要充足率・粗利率は、報告書のどこにも書かれていない</a:t>
            </a:r>
          </a:p>
          <a:p>
            <a:pPr>
              <a:lnSpc>
                <a:spcPct val="116000"/>
              </a:lnSpc>
              <a:spcBef>
                <a:spcPts val="700"/>
              </a:spcBef>
              <a:spcAft>
                <a:spcPts val="0"/>
              </a:spcAft>
            </a:pPr>
            <a:r>
              <a:rPr sz="1100" b="1">
                <a:solidFill>
                  <a:srgbClr val="FF9F36"/>
                </a:solidFill>
                <a:latin typeface="Arial"/>
                <a:ea typeface="Yu Gothic"/>
                <a:cs typeface="Yu Gothic"/>
              </a:rPr>
              <a:t>実測値　</a:t>
            </a:r>
            <a:r>
              <a:rPr sz="1100" b="0">
                <a:solidFill>
                  <a:srgbClr val="262626"/>
                </a:solidFill>
                <a:latin typeface="Arial"/>
                <a:ea typeface="Yu Gothic"/>
                <a:cs typeface="Yu Gothic"/>
              </a:rPr>
              <a:t>返品率 4.3%（他店は約1.2%）／ 需要充足率 89.0%（他店は約100%）</a:t>
            </a:r>
          </a:p>
        </p:txBody>
      </p:sp>
      <p:sp>
        <p:nvSpPr>
          <p:cNvPr id="8" name="Rounded Rectangle 7"/>
          <p:cNvSpPr/>
          <p:nvPr/>
        </p:nvSpPr>
        <p:spPr>
          <a:xfrm>
            <a:off x="365760" y="4297680"/>
            <a:ext cx="8412480" cy="384048"/>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30352" y="4352544"/>
            <a:ext cx="8083296" cy="274320"/>
          </a:xfrm>
          <a:prstGeom prst="rect">
            <a:avLst/>
          </a:prstGeom>
          <a:noFill/>
        </p:spPr>
        <p:txBody>
          <a:bodyPr wrap="square" anchor="ctr" lIns="0" rIns="0" tIns="0" bIns="0">
            <a:spAutoFit/>
          </a:bodyPr>
          <a:lstStyle/>
          <a:p>
            <a:pPr>
              <a:lnSpc>
                <a:spcPct val="102000"/>
              </a:lnSpc>
              <a:spcBef>
                <a:spcPts val="0"/>
              </a:spcBef>
              <a:spcAft>
                <a:spcPts val="0"/>
              </a:spcAft>
            </a:pPr>
            <a:r>
              <a:rPr sz="1100" b="1">
                <a:solidFill>
                  <a:srgbClr val="FFFFFF"/>
                </a:solidFill>
                <a:latin typeface="Arial"/>
                <a:ea typeface="Yu Gothic"/>
                <a:cs typeface="Yu Gothic"/>
              </a:rPr>
              <a:t>売上だけを見て、報告書だけを読んでいると、異常に気づけない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4つの事象が1本の連鎖であることを言わせます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実習2 ｜ 真因と反証</a:t>
            </a:r>
          </a:p>
        </p:txBody>
      </p:sp>
      <p:sp>
        <p:nvSpPr>
          <p:cNvPr id="4" name="Rounded Rectangle 3"/>
          <p:cNvSpPr/>
          <p:nvPr/>
        </p:nvSpPr>
        <p:spPr>
          <a:xfrm>
            <a:off x="365760" y="1115568"/>
            <a:ext cx="5102352" cy="1728216"/>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15568"/>
            <a:ext cx="54864" cy="1728216"/>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TextBox 5"/>
          <p:cNvSpPr txBox="1"/>
          <p:nvPr/>
        </p:nvSpPr>
        <p:spPr>
          <a:xfrm>
            <a:off x="566928" y="1225295"/>
            <a:ext cx="4736592" cy="1508760"/>
          </a:xfrm>
          <a:prstGeom prst="rect">
            <a:avLst/>
          </a:prstGeom>
          <a:noFill/>
        </p:spPr>
        <p:txBody>
          <a:bodyPr wrap="square" anchor="t" lIns="0" rIns="0" tIns="0" bIns="0">
            <a:spAutoFit/>
          </a:bodyPr>
          <a:lstStyle/>
          <a:p>
            <a:pPr>
              <a:lnSpc>
                <a:spcPct val="122000"/>
              </a:lnSpc>
              <a:spcBef>
                <a:spcPts val="0"/>
              </a:spcBef>
              <a:spcAft>
                <a:spcPts val="0"/>
              </a:spcAft>
            </a:pPr>
            <a:r>
              <a:rPr sz="1100" b="0">
                <a:solidFill>
                  <a:srgbClr val="FFFFFF"/>
                </a:solidFill>
                <a:latin typeface="Arial"/>
                <a:ea typeface="Yu Gothic"/>
                <a:cs typeface="Yu Gothic"/>
              </a:rPr>
              <a:t>横浜みなと店のクレストリフレッシュウォーターについて、顧客レビューと</a:t>
            </a:r>
          </a:p>
          <a:p>
            <a:pPr>
              <a:lnSpc>
                <a:spcPct val="122000"/>
              </a:lnSpc>
              <a:spcBef>
                <a:spcPts val="0"/>
              </a:spcBef>
              <a:spcAft>
                <a:spcPts val="0"/>
              </a:spcAft>
            </a:pPr>
            <a:r>
              <a:rPr sz="1100" b="0">
                <a:solidFill>
                  <a:srgbClr val="FFFFFF"/>
                </a:solidFill>
                <a:latin typeface="Arial"/>
                <a:ea typeface="Yu Gothic"/>
                <a:cs typeface="Yu Gothic"/>
              </a:rPr>
              <a:t>社内文書から返品が増えた理由を調べ、反証も示してください。</a:t>
            </a:r>
          </a:p>
        </p:txBody>
      </p:sp>
      <p:sp>
        <p:nvSpPr>
          <p:cNvPr id="7" name="Rounded Rectangle 6"/>
          <p:cNvSpPr/>
          <p:nvPr/>
        </p:nvSpPr>
        <p:spPr>
          <a:xfrm>
            <a:off x="365760" y="2953512"/>
            <a:ext cx="5102352" cy="1728216"/>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Rectangle 7"/>
          <p:cNvSpPr/>
          <p:nvPr/>
        </p:nvSpPr>
        <p:spPr>
          <a:xfrm>
            <a:off x="365760" y="2953512"/>
            <a:ext cx="54864" cy="1728216"/>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66928" y="3063240"/>
            <a:ext cx="4736592" cy="1508760"/>
          </a:xfrm>
          <a:prstGeom prst="rect">
            <a:avLst/>
          </a:prstGeom>
          <a:noFill/>
        </p:spPr>
        <p:txBody>
          <a:bodyPr wrap="square" anchor="t" lIns="0" rIns="0" tIns="0" bIns="0">
            <a:spAutoFit/>
          </a:bodyPr>
          <a:lstStyle/>
          <a:p>
            <a:pPr>
              <a:lnSpc>
                <a:spcPct val="122000"/>
              </a:lnSpc>
              <a:spcBef>
                <a:spcPts val="0"/>
              </a:spcBef>
              <a:spcAft>
                <a:spcPts val="0"/>
              </a:spcAft>
            </a:pPr>
            <a:r>
              <a:rPr sz="1100" b="0">
                <a:solidFill>
                  <a:srgbClr val="FFFFFF"/>
                </a:solidFill>
                <a:latin typeface="Arial"/>
                <a:ea typeface="Yu Gothic"/>
                <a:cs typeface="Yu Gothic"/>
              </a:rPr>
              <a:t>東京ベイ店では同じ販促で問題が起きなかった理由を教えてください。</a:t>
            </a:r>
          </a:p>
          <a:p>
            <a:pPr>
              <a:lnSpc>
                <a:spcPct val="122000"/>
              </a:lnSpc>
              <a:spcBef>
                <a:spcPts val="0"/>
              </a:spcBef>
              <a:spcAft>
                <a:spcPts val="0"/>
              </a:spcAft>
            </a:pPr>
            <a:r>
              <a:rPr sz="1100" b="0">
                <a:solidFill>
                  <a:srgbClr val="FFFFFF"/>
                </a:solidFill>
                <a:latin typeface="Arial"/>
                <a:ea typeface="Yu Gothic"/>
                <a:cs typeface="Yu Gothic"/>
              </a:rPr>
              <a:t>人手不足や価格が主因だという見方は、データで裏づけられますか。</a:t>
            </a:r>
          </a:p>
        </p:txBody>
      </p:sp>
      <p:sp>
        <p:nvSpPr>
          <p:cNvPr id="10" name="Rounded Rectangle 9"/>
          <p:cNvSpPr/>
          <p:nvPr/>
        </p:nvSpPr>
        <p:spPr>
          <a:xfrm>
            <a:off x="5650992" y="1115568"/>
            <a:ext cx="3127248" cy="3566160"/>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5797296" y="1225295"/>
            <a:ext cx="2834640" cy="3346704"/>
          </a:xfrm>
          <a:prstGeom prst="rect">
            <a:avLst/>
          </a:prstGeom>
          <a:noFill/>
        </p:spPr>
        <p:txBody>
          <a:bodyPr wrap="square" anchor="t" lIns="0" rIns="0" tIns="0" bIns="0">
            <a:spAutoFit/>
          </a:bodyPr>
          <a:lstStyle/>
          <a:p>
            <a:pPr>
              <a:lnSpc>
                <a:spcPct val="102000"/>
              </a:lnSpc>
              <a:spcBef>
                <a:spcPts val="0"/>
              </a:spcBef>
              <a:spcAft>
                <a:spcPts val="400"/>
              </a:spcAft>
            </a:pPr>
            <a:r>
              <a:rPr sz="1000" b="1">
                <a:solidFill>
                  <a:srgbClr val="11567F"/>
                </a:solidFill>
                <a:latin typeface="Arial"/>
                <a:ea typeface="Yu Gothic"/>
                <a:cs typeface="Yu Gothic"/>
              </a:rPr>
              <a:t>回答に次が含まれているか</a:t>
            </a:r>
          </a:p>
          <a:p>
            <a:pPr>
              <a:lnSpc>
                <a:spcPct val="112000"/>
              </a:lnSpc>
              <a:spcBef>
                <a:spcPts val="500"/>
              </a:spcBef>
              <a:spcAft>
                <a:spcPts val="0"/>
              </a:spcAft>
            </a:pPr>
            <a:r>
              <a:rPr sz="850" b="1">
                <a:solidFill>
                  <a:srgbClr val="29B5E8"/>
                </a:solidFill>
                <a:latin typeface="Arial"/>
                <a:ea typeface="Yu Gothic"/>
                <a:cs typeface="Yu Gothic"/>
              </a:rPr>
              <a:t>1　</a:t>
            </a:r>
            <a:r>
              <a:rPr sz="850" b="0">
                <a:solidFill>
                  <a:srgbClr val="262626"/>
                </a:solidFill>
                <a:latin typeface="Arial"/>
                <a:ea typeface="Yu Gothic"/>
                <a:cs typeface="Yu Gothic"/>
              </a:rPr>
              <a:t>供給が足りなかった（需要充足率 76%）</a:t>
            </a:r>
          </a:p>
          <a:p>
            <a:pPr>
              <a:lnSpc>
                <a:spcPct val="112000"/>
              </a:lnSpc>
              <a:spcBef>
                <a:spcPts val="500"/>
              </a:spcBef>
              <a:spcAft>
                <a:spcPts val="0"/>
              </a:spcAft>
            </a:pPr>
            <a:r>
              <a:rPr sz="850" b="1">
                <a:solidFill>
                  <a:srgbClr val="29B5E8"/>
                </a:solidFill>
                <a:latin typeface="Arial"/>
                <a:ea typeface="Yu Gothic"/>
                <a:cs typeface="Yu Gothic"/>
              </a:rPr>
              <a:t>2　</a:t>
            </a:r>
            <a:r>
              <a:rPr sz="850" b="0">
                <a:solidFill>
                  <a:srgbClr val="262626"/>
                </a:solidFill>
                <a:latin typeface="Arial"/>
                <a:ea typeface="Yu Gothic"/>
                <a:cs typeface="Yu Gothic"/>
              </a:rPr>
              <a:t>急ぎ入荷と値引きで押し込んだ</a:t>
            </a:r>
          </a:p>
          <a:p>
            <a:pPr>
              <a:lnSpc>
                <a:spcPct val="112000"/>
              </a:lnSpc>
              <a:spcBef>
                <a:spcPts val="500"/>
              </a:spcBef>
              <a:spcAft>
                <a:spcPts val="0"/>
              </a:spcAft>
            </a:pPr>
            <a:r>
              <a:rPr sz="850" b="1">
                <a:solidFill>
                  <a:srgbClr val="29B5E8"/>
                </a:solidFill>
                <a:latin typeface="Arial"/>
                <a:ea typeface="Yu Gothic"/>
                <a:cs typeface="Yu Gothic"/>
              </a:rPr>
              <a:t>3　</a:t>
            </a:r>
            <a:r>
              <a:rPr sz="850" b="0">
                <a:solidFill>
                  <a:srgbClr val="262626"/>
                </a:solidFill>
                <a:latin typeface="Arial"/>
                <a:ea typeface="Yu Gothic"/>
                <a:cs typeface="Yu Gothic"/>
              </a:rPr>
              <a:t>外装つぶれ・賞味期限で品質が落ちた</a:t>
            </a:r>
          </a:p>
          <a:p>
            <a:pPr>
              <a:lnSpc>
                <a:spcPct val="112000"/>
              </a:lnSpc>
              <a:spcBef>
                <a:spcPts val="500"/>
              </a:spcBef>
              <a:spcAft>
                <a:spcPts val="0"/>
              </a:spcAft>
            </a:pPr>
            <a:r>
              <a:rPr sz="850" b="1">
                <a:solidFill>
                  <a:srgbClr val="29B5E8"/>
                </a:solidFill>
                <a:latin typeface="Arial"/>
                <a:ea typeface="Yu Gothic"/>
                <a:cs typeface="Yu Gothic"/>
              </a:rPr>
              <a:t>4　</a:t>
            </a:r>
            <a:r>
              <a:rPr sz="850" b="0">
                <a:solidFill>
                  <a:srgbClr val="262626"/>
                </a:solidFill>
                <a:latin typeface="Arial"/>
                <a:ea typeface="Yu Gothic"/>
                <a:cs typeface="Yu Gothic"/>
              </a:rPr>
              <a:t>その結果、返品と低評価が増えた</a:t>
            </a:r>
          </a:p>
          <a:p>
            <a:pPr>
              <a:lnSpc>
                <a:spcPct val="112000"/>
              </a:lnSpc>
              <a:spcBef>
                <a:spcPts val="500"/>
              </a:spcBef>
              <a:spcAft>
                <a:spcPts val="0"/>
              </a:spcAft>
            </a:pPr>
            <a:r>
              <a:rPr sz="850" b="1">
                <a:solidFill>
                  <a:srgbClr val="29B5E8"/>
                </a:solidFill>
                <a:latin typeface="Arial"/>
                <a:ea typeface="Yu Gothic"/>
                <a:cs typeface="Yu Gothic"/>
              </a:rPr>
              <a:t>5　</a:t>
            </a:r>
            <a:r>
              <a:rPr sz="850" b="0">
                <a:solidFill>
                  <a:srgbClr val="262626"/>
                </a:solidFill>
                <a:latin typeface="Arial"/>
                <a:ea typeface="Yu Gothic"/>
                <a:cs typeface="Yu Gothic"/>
              </a:rPr>
              <a:t>人手不足と価格は主因ではない（反証）</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店長の「継続したい」を却下する根拠は、社内データには存在しません</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実習3 ｜ 手元のExcelを突き合わせる</a:t>
            </a:r>
          </a:p>
        </p:txBody>
      </p:sp>
      <p:sp>
        <p:nvSpPr>
          <p:cNvPr id="4" name="Rounded Rectangle 3"/>
          <p:cNvSpPr/>
          <p:nvPr/>
        </p:nvSpPr>
        <p:spPr>
          <a:xfrm>
            <a:off x="365760" y="1115568"/>
            <a:ext cx="8412480" cy="310896"/>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ounded Rectangle 4"/>
          <p:cNvSpPr/>
          <p:nvPr/>
        </p:nvSpPr>
        <p:spPr>
          <a:xfrm>
            <a:off x="438912" y="1170432"/>
            <a:ext cx="566928" cy="201168"/>
          </a:xfrm>
          <a:prstGeom prst="roundRect">
            <a:avLst>
              <a:gd name="adj" fmla="val 50000"/>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手順</a:t>
            </a:r>
          </a:p>
        </p:txBody>
      </p:sp>
      <p:sp>
        <p:nvSpPr>
          <p:cNvPr id="6" name="TextBox 5"/>
          <p:cNvSpPr txBox="1"/>
          <p:nvPr/>
        </p:nvSpPr>
        <p:spPr>
          <a:xfrm>
            <a:off x="1097280" y="1179576"/>
            <a:ext cx="7552944" cy="201168"/>
          </a:xfrm>
          <a:prstGeom prst="rect">
            <a:avLst/>
          </a:prstGeom>
          <a:noFill/>
        </p:spPr>
        <p:txBody>
          <a:bodyPr wrap="square" anchor="ctr" lIns="0" rIns="0" tIns="0" bIns="0">
            <a:spAutoFit/>
          </a:bodyPr>
          <a:lstStyle/>
          <a:p>
            <a:pPr algn="l">
              <a:lnSpc>
                <a:spcPct val="105000"/>
              </a:lnSpc>
              <a:spcBef>
                <a:spcPts val="0"/>
              </a:spcBef>
              <a:spcAft>
                <a:spcPts val="0"/>
              </a:spcAft>
            </a:pPr>
            <a:r>
              <a:rPr sz="950" b="1">
                <a:solidFill>
                  <a:srgbClr val="262626"/>
                </a:solidFill>
                <a:latin typeface="Arial"/>
                <a:ea typeface="Yu Gothic"/>
                <a:cs typeface="Yu Gothic"/>
              </a:rPr>
              <a:t>入力欄の ＋ から 店舗速報_入荷見込と返品クレーム_YYYYMM.xlsx を添付する</a:t>
            </a:r>
          </a:p>
        </p:txBody>
      </p:sp>
      <p:sp>
        <p:nvSpPr>
          <p:cNvPr id="7" name="Rounded Rectangle 6"/>
          <p:cNvSpPr/>
          <p:nvPr/>
        </p:nvSpPr>
        <p:spPr>
          <a:xfrm>
            <a:off x="365760" y="1517904"/>
            <a:ext cx="5102352" cy="3163824"/>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Rectangle 7"/>
          <p:cNvSpPr/>
          <p:nvPr/>
        </p:nvSpPr>
        <p:spPr>
          <a:xfrm>
            <a:off x="365760" y="1517904"/>
            <a:ext cx="54864" cy="316382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66928" y="1627631"/>
            <a:ext cx="4736592" cy="2944368"/>
          </a:xfrm>
          <a:prstGeom prst="rect">
            <a:avLst/>
          </a:prstGeom>
          <a:noFill/>
        </p:spPr>
        <p:txBody>
          <a:bodyPr wrap="square" anchor="t" lIns="0" rIns="0" tIns="0" bIns="0">
            <a:spAutoFit/>
          </a:bodyPr>
          <a:lstStyle/>
          <a:p>
            <a:pPr>
              <a:lnSpc>
                <a:spcPct val="122000"/>
              </a:lnSpc>
              <a:spcBef>
                <a:spcPts val="0"/>
              </a:spcBef>
              <a:spcAft>
                <a:spcPts val="0"/>
              </a:spcAft>
            </a:pPr>
            <a:r>
              <a:rPr sz="1100" b="0">
                <a:solidFill>
                  <a:srgbClr val="FFFFFF"/>
                </a:solidFill>
                <a:latin typeface="Arial"/>
                <a:ea typeface="Yu Gothic"/>
                <a:cs typeface="Yu Gothic"/>
              </a:rPr>
              <a:t>添付した店舗速報を読み取ってください。</a:t>
            </a:r>
          </a:p>
          <a:p>
            <a:pPr>
              <a:lnSpc>
                <a:spcPct val="122000"/>
              </a:lnSpc>
              <a:spcBef>
                <a:spcPts val="0"/>
              </a:spcBef>
              <a:spcAft>
                <a:spcPts val="0"/>
              </a:spcAft>
            </a:pPr>
            <a:r>
              <a:rPr sz="1100" b="0">
                <a:solidFill>
                  <a:srgbClr val="FFFFFF"/>
                </a:solidFill>
                <a:latin typeface="Arial"/>
                <a:ea typeface="Yu Gothic"/>
                <a:cs typeface="Yu Gothic"/>
              </a:rPr>
              <a:t>横浜みなと店のクレストリフレッシュウォーターについて、次期4週間の供給は</a:t>
            </a:r>
          </a:p>
          <a:p>
            <a:pPr>
              <a:lnSpc>
                <a:spcPct val="122000"/>
              </a:lnSpc>
              <a:spcBef>
                <a:spcPts val="0"/>
              </a:spcBef>
              <a:spcAft>
                <a:spcPts val="0"/>
              </a:spcAft>
            </a:pPr>
            <a:r>
              <a:rPr sz="1100" b="0">
                <a:solidFill>
                  <a:srgbClr val="FFFFFF"/>
                </a:solidFill>
                <a:latin typeface="Arial"/>
                <a:ea typeface="Yu Gothic"/>
                <a:cs typeface="Yu Gothic"/>
              </a:rPr>
              <a:t>確保できていますか。また、返品とクレームは現在も発生していますか。</a:t>
            </a:r>
          </a:p>
          <a:p>
            <a:pPr>
              <a:lnSpc>
                <a:spcPct val="122000"/>
              </a:lnSpc>
              <a:spcBef>
                <a:spcPts val="0"/>
              </a:spcBef>
              <a:spcAft>
                <a:spcPts val="0"/>
              </a:spcAft>
            </a:pPr>
            <a:r>
              <a:rPr sz="1100" b="0">
                <a:solidFill>
                  <a:srgbClr val="FFFFFF"/>
                </a:solidFill>
                <a:latin typeface="Arial"/>
                <a:ea typeface="Yu Gothic"/>
                <a:cs typeface="Yu Gothic"/>
              </a:rPr>
              <a:t>店長からの「次月も同様の施策を継続したい」という要請は妥当か、判断してください。</a:t>
            </a:r>
          </a:p>
        </p:txBody>
      </p:sp>
      <p:sp>
        <p:nvSpPr>
          <p:cNvPr id="10" name="Rounded Rectangle 9"/>
          <p:cNvSpPr/>
          <p:nvPr/>
        </p:nvSpPr>
        <p:spPr>
          <a:xfrm>
            <a:off x="5650992" y="1517904"/>
            <a:ext cx="3127248" cy="3163824"/>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5797296" y="1627631"/>
            <a:ext cx="2834640" cy="2944368"/>
          </a:xfrm>
          <a:prstGeom prst="rect">
            <a:avLst/>
          </a:prstGeom>
          <a:noFill/>
        </p:spPr>
        <p:txBody>
          <a:bodyPr wrap="square" anchor="t" lIns="0" rIns="0" tIns="0" bIns="0">
            <a:spAutoFit/>
          </a:bodyPr>
          <a:lstStyle/>
          <a:p>
            <a:pPr>
              <a:lnSpc>
                <a:spcPct val="102000"/>
              </a:lnSpc>
              <a:spcBef>
                <a:spcPts val="0"/>
              </a:spcBef>
              <a:spcAft>
                <a:spcPts val="400"/>
              </a:spcAft>
            </a:pPr>
            <a:r>
              <a:rPr sz="1000" b="1">
                <a:solidFill>
                  <a:srgbClr val="11567F"/>
                </a:solidFill>
                <a:latin typeface="Arial"/>
                <a:ea typeface="Yu Gothic"/>
                <a:cs typeface="Yu Gothic"/>
              </a:rPr>
              <a:t>見るポイント</a:t>
            </a:r>
          </a:p>
          <a:p>
            <a:pPr>
              <a:lnSpc>
                <a:spcPct val="112000"/>
              </a:lnSpc>
              <a:spcBef>
                <a:spcPts val="500"/>
              </a:spcBef>
              <a:spcAft>
                <a:spcPts val="0"/>
              </a:spcAft>
            </a:pPr>
            <a:r>
              <a:rPr sz="850" b="1">
                <a:solidFill>
                  <a:srgbClr val="29B5E8"/>
                </a:solidFill>
                <a:latin typeface="Arial"/>
                <a:ea typeface="Yu Gothic"/>
                <a:cs typeface="Yu Gothic"/>
              </a:rPr>
              <a:t>見どころ　</a:t>
            </a:r>
            <a:r>
              <a:rPr sz="850" b="0">
                <a:solidFill>
                  <a:srgbClr val="262626"/>
                </a:solidFill>
                <a:latin typeface="Arial"/>
                <a:ea typeface="Yu Gothic"/>
                <a:cs typeface="Yu Gothic"/>
              </a:rPr>
              <a:t>却下の根拠は社内データに無く、手元のExcelにしかない</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4週分の確保率（72% → 74% → 78% → 80%）を読めているか</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返品38件・クレーム12件が直近1週間の実績だと分かるか</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名古屋ささしま店は改善済みだと区別できているか</a:t>
            </a:r>
          </a:p>
          <a:p>
            <a:pPr>
              <a:lnSpc>
                <a:spcPct val="112000"/>
              </a:lnSpc>
              <a:spcBef>
                <a:spcPts val="500"/>
              </a:spcBef>
              <a:spcAft>
                <a:spcPts val="0"/>
              </a:spcAft>
            </a:pPr>
            <a:r>
              <a:rPr sz="850" b="1">
                <a:solidFill>
                  <a:srgbClr val="29B5E8"/>
                </a:solidFill>
                <a:latin typeface="Arial"/>
                <a:ea typeface="Yu Gothic"/>
                <a:cs typeface="Yu Gothic"/>
              </a:rPr>
              <a:t>確認点　</a:t>
            </a:r>
            <a:r>
              <a:rPr sz="850" b="0">
                <a:solidFill>
                  <a:srgbClr val="262626"/>
                </a:solidFill>
                <a:latin typeface="Arial"/>
                <a:ea typeface="Yu Gothic"/>
                <a:cs typeface="Yu Gothic"/>
              </a:rPr>
              <a:t>社内データ由来と添付ファイル由来を区別しているか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「市場が悪かった」という言い訳を封じます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実習4 ｜ 競合の決算資料を添付する</a:t>
            </a:r>
          </a:p>
        </p:txBody>
      </p:sp>
      <p:sp>
        <p:nvSpPr>
          <p:cNvPr id="4" name="Rounded Rectangle 3"/>
          <p:cNvSpPr/>
          <p:nvPr/>
        </p:nvSpPr>
        <p:spPr>
          <a:xfrm>
            <a:off x="365760" y="1115568"/>
            <a:ext cx="8412480" cy="310896"/>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ounded Rectangle 4"/>
          <p:cNvSpPr/>
          <p:nvPr/>
        </p:nvSpPr>
        <p:spPr>
          <a:xfrm>
            <a:off x="438912" y="1170432"/>
            <a:ext cx="566928" cy="201168"/>
          </a:xfrm>
          <a:prstGeom prst="roundRect">
            <a:avLst>
              <a:gd name="adj" fmla="val 50000"/>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手順</a:t>
            </a:r>
          </a:p>
        </p:txBody>
      </p:sp>
      <p:sp>
        <p:nvSpPr>
          <p:cNvPr id="6" name="TextBox 5"/>
          <p:cNvSpPr txBox="1"/>
          <p:nvPr/>
        </p:nvSpPr>
        <p:spPr>
          <a:xfrm>
            <a:off x="1097280" y="1179576"/>
            <a:ext cx="7552944" cy="201168"/>
          </a:xfrm>
          <a:prstGeom prst="rect">
            <a:avLst/>
          </a:prstGeom>
          <a:noFill/>
        </p:spPr>
        <p:txBody>
          <a:bodyPr wrap="square" anchor="ctr" lIns="0" rIns="0" tIns="0" bIns="0">
            <a:spAutoFit/>
          </a:bodyPr>
          <a:lstStyle/>
          <a:p>
            <a:pPr algn="l">
              <a:lnSpc>
                <a:spcPct val="105000"/>
              </a:lnSpc>
              <a:spcBef>
                <a:spcPts val="0"/>
              </a:spcBef>
              <a:spcAft>
                <a:spcPts val="0"/>
              </a:spcAft>
            </a:pPr>
            <a:r>
              <a:rPr sz="950" b="1">
                <a:solidFill>
                  <a:srgbClr val="262626"/>
                </a:solidFill>
                <a:latin typeface="Arial"/>
                <a:ea typeface="Yu Gothic"/>
                <a:cs typeface="Yu Gothic"/>
              </a:rPr>
              <a:t>競合_アオゾラマート_決算説明資料.pdf を添付する</a:t>
            </a:r>
          </a:p>
        </p:txBody>
      </p:sp>
      <p:sp>
        <p:nvSpPr>
          <p:cNvPr id="7" name="Rounded Rectangle 6"/>
          <p:cNvSpPr/>
          <p:nvPr/>
        </p:nvSpPr>
        <p:spPr>
          <a:xfrm>
            <a:off x="365760" y="1517904"/>
            <a:ext cx="5102352" cy="3163824"/>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Rectangle 7"/>
          <p:cNvSpPr/>
          <p:nvPr/>
        </p:nvSpPr>
        <p:spPr>
          <a:xfrm>
            <a:off x="365760" y="1517904"/>
            <a:ext cx="54864" cy="316382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66928" y="1627631"/>
            <a:ext cx="4736592" cy="2944368"/>
          </a:xfrm>
          <a:prstGeom prst="rect">
            <a:avLst/>
          </a:prstGeom>
          <a:noFill/>
        </p:spPr>
        <p:txBody>
          <a:bodyPr wrap="square" anchor="t" lIns="0" rIns="0" tIns="0" bIns="0">
            <a:spAutoFit/>
          </a:bodyPr>
          <a:lstStyle/>
          <a:p>
            <a:pPr>
              <a:lnSpc>
                <a:spcPct val="122000"/>
              </a:lnSpc>
              <a:spcBef>
                <a:spcPts val="0"/>
              </a:spcBef>
              <a:spcAft>
                <a:spcPts val="0"/>
              </a:spcAft>
            </a:pPr>
            <a:r>
              <a:rPr sz="1100" b="0">
                <a:solidFill>
                  <a:srgbClr val="FFFFFF"/>
                </a:solidFill>
                <a:latin typeface="Arial"/>
                <a:ea typeface="Yu Gothic"/>
                <a:cs typeface="Yu Gothic"/>
              </a:rPr>
              <a:t>添付した競合他社の決算説明資料を読み取り、当社の状況と比較してください。</a:t>
            </a:r>
          </a:p>
          <a:p>
            <a:pPr>
              <a:lnSpc>
                <a:spcPct val="122000"/>
              </a:lnSpc>
              <a:spcBef>
                <a:spcPts val="0"/>
              </a:spcBef>
              <a:spcAft>
                <a:spcPts val="0"/>
              </a:spcAft>
            </a:pPr>
            <a:r>
              <a:rPr sz="1100" b="0">
                <a:solidFill>
                  <a:srgbClr val="FFFFFF"/>
                </a:solidFill>
                <a:latin typeface="Arial"/>
                <a:ea typeface="Yu Gothic"/>
                <a:cs typeface="Yu Gothic"/>
              </a:rPr>
              <a:t>当社の問題は市場全体の要因によるものだと言えますか。</a:t>
            </a:r>
          </a:p>
        </p:txBody>
      </p:sp>
      <p:sp>
        <p:nvSpPr>
          <p:cNvPr id="10" name="Rounded Rectangle 9"/>
          <p:cNvSpPr/>
          <p:nvPr/>
        </p:nvSpPr>
        <p:spPr>
          <a:xfrm>
            <a:off x="5650992" y="1517904"/>
            <a:ext cx="3127248" cy="3163824"/>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5797296" y="1627631"/>
            <a:ext cx="2834640" cy="2944368"/>
          </a:xfrm>
          <a:prstGeom prst="rect">
            <a:avLst/>
          </a:prstGeom>
          <a:noFill/>
        </p:spPr>
        <p:txBody>
          <a:bodyPr wrap="square" anchor="t" lIns="0" rIns="0" tIns="0" bIns="0">
            <a:spAutoFit/>
          </a:bodyPr>
          <a:lstStyle/>
          <a:p>
            <a:pPr>
              <a:lnSpc>
                <a:spcPct val="102000"/>
              </a:lnSpc>
              <a:spcBef>
                <a:spcPts val="0"/>
              </a:spcBef>
              <a:spcAft>
                <a:spcPts val="400"/>
              </a:spcAft>
            </a:pPr>
            <a:r>
              <a:rPr sz="1000" b="1">
                <a:solidFill>
                  <a:srgbClr val="11567F"/>
                </a:solidFill>
                <a:latin typeface="Arial"/>
                <a:ea typeface="Yu Gothic"/>
                <a:cs typeface="Yu Gothic"/>
              </a:rPr>
              <a:t>見るポイント</a:t>
            </a:r>
          </a:p>
          <a:p>
            <a:pPr>
              <a:lnSpc>
                <a:spcPct val="112000"/>
              </a:lnSpc>
              <a:spcBef>
                <a:spcPts val="500"/>
              </a:spcBef>
              <a:spcAft>
                <a:spcPts val="0"/>
              </a:spcAft>
            </a:pPr>
            <a:r>
              <a:rPr sz="850" b="1">
                <a:solidFill>
                  <a:srgbClr val="29B5E8"/>
                </a:solidFill>
                <a:latin typeface="Arial"/>
                <a:ea typeface="Yu Gothic"/>
                <a:cs typeface="Yu Gothic"/>
              </a:rPr>
              <a:t>読み取り　</a:t>
            </a:r>
            <a:r>
              <a:rPr sz="850" b="0">
                <a:solidFill>
                  <a:srgbClr val="262626"/>
                </a:solidFill>
                <a:latin typeface="Arial"/>
                <a:ea typeface="Yu Gothic"/>
                <a:cs typeface="Yu Gothic"/>
              </a:rPr>
              <a:t>競合の成長率 12.4% ／ 欠品率 0.8%</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競合は伸びている → 市場要因ではないという反証になる</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架空企業の資料であることを明記しているか</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出典が添付ファイルとして示されているか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ここまでの分析結果が、そのまま資料になります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実習5 ｜ 事業計画資料を生成する</a:t>
            </a:r>
          </a:p>
        </p:txBody>
      </p:sp>
      <p:sp>
        <p:nvSpPr>
          <p:cNvPr id="4" name="Rounded Rectangle 3"/>
          <p:cNvSpPr/>
          <p:nvPr/>
        </p:nvSpPr>
        <p:spPr>
          <a:xfrm>
            <a:off x="365760" y="1115568"/>
            <a:ext cx="8412480" cy="310896"/>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ounded Rectangle 4"/>
          <p:cNvSpPr/>
          <p:nvPr/>
        </p:nvSpPr>
        <p:spPr>
          <a:xfrm>
            <a:off x="438912" y="1170432"/>
            <a:ext cx="566928" cy="201168"/>
          </a:xfrm>
          <a:prstGeom prst="roundRect">
            <a:avLst>
              <a:gd name="adj" fmla="val 50000"/>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手順</a:t>
            </a:r>
          </a:p>
        </p:txBody>
      </p:sp>
      <p:sp>
        <p:nvSpPr>
          <p:cNvPr id="6" name="TextBox 5"/>
          <p:cNvSpPr txBox="1"/>
          <p:nvPr/>
        </p:nvSpPr>
        <p:spPr>
          <a:xfrm>
            <a:off x="1097280" y="1179576"/>
            <a:ext cx="7552944" cy="201168"/>
          </a:xfrm>
          <a:prstGeom prst="rect">
            <a:avLst/>
          </a:prstGeom>
          <a:noFill/>
        </p:spPr>
        <p:txBody>
          <a:bodyPr wrap="square" anchor="ctr" lIns="0" rIns="0" tIns="0" bIns="0">
            <a:spAutoFit/>
          </a:bodyPr>
          <a:lstStyle/>
          <a:p>
            <a:pPr algn="l">
              <a:lnSpc>
                <a:spcPct val="105000"/>
              </a:lnSpc>
              <a:spcBef>
                <a:spcPts val="0"/>
              </a:spcBef>
              <a:spcAft>
                <a:spcPts val="0"/>
              </a:spcAft>
            </a:pPr>
            <a:r>
              <a:rPr sz="950" b="1">
                <a:solidFill>
                  <a:srgbClr val="262626"/>
                </a:solidFill>
                <a:latin typeface="Arial"/>
                <a:ea typeface="Yu Gothic"/>
                <a:cs typeface="Yu Gothic"/>
              </a:rPr>
              <a:t>クレストリヴェルタ_ブランドテンプレート.pptx を添付する（前の添付を消した場合は3ファイルすべて添付し直す）</a:t>
            </a:r>
          </a:p>
        </p:txBody>
      </p:sp>
      <p:sp>
        <p:nvSpPr>
          <p:cNvPr id="7" name="Rounded Rectangle 6"/>
          <p:cNvSpPr/>
          <p:nvPr/>
        </p:nvSpPr>
        <p:spPr>
          <a:xfrm>
            <a:off x="365760" y="1517904"/>
            <a:ext cx="5102352" cy="3163824"/>
          </a:xfrm>
          <a:prstGeom prst="roundRect">
            <a:avLst>
              <a:gd name="adj" fmla="val 6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Rectangle 7"/>
          <p:cNvSpPr/>
          <p:nvPr/>
        </p:nvSpPr>
        <p:spPr>
          <a:xfrm>
            <a:off x="365760" y="1517904"/>
            <a:ext cx="54864" cy="3163824"/>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566928" y="1627631"/>
            <a:ext cx="4736592" cy="2944368"/>
          </a:xfrm>
          <a:prstGeom prst="rect">
            <a:avLst/>
          </a:prstGeom>
          <a:noFill/>
        </p:spPr>
        <p:txBody>
          <a:bodyPr wrap="square" anchor="t" lIns="0" rIns="0" tIns="0" bIns="0">
            <a:spAutoFit/>
          </a:bodyPr>
          <a:lstStyle/>
          <a:p>
            <a:pPr>
              <a:lnSpc>
                <a:spcPct val="122000"/>
              </a:lnSpc>
              <a:spcBef>
                <a:spcPts val="0"/>
              </a:spcBef>
              <a:spcAft>
                <a:spcPts val="0"/>
              </a:spcAft>
            </a:pPr>
            <a:r>
              <a:rPr sz="1100" b="0">
                <a:solidFill>
                  <a:srgbClr val="FFFFFF"/>
                </a:solidFill>
                <a:latin typeface="Arial"/>
                <a:ea typeface="Yu Gothic"/>
                <a:cs typeface="Yu Gothic"/>
              </a:rPr>
              <a:t>これまでの分析結果をもとに、次期の事業計画資料をPowerPointで作成してください。</a:t>
            </a:r>
          </a:p>
          <a:p>
            <a:pPr>
              <a:lnSpc>
                <a:spcPct val="122000"/>
              </a:lnSpc>
              <a:spcBef>
                <a:spcPts val="0"/>
              </a:spcBef>
              <a:spcAft>
                <a:spcPts val="0"/>
              </a:spcAft>
            </a:pPr>
            <a:r>
              <a:rPr sz="1100" b="0">
                <a:solidFill>
                  <a:srgbClr val="FFFFFF"/>
                </a:solidFill>
                <a:latin typeface="Arial"/>
                <a:ea typeface="Yu Gothic"/>
                <a:cs typeface="Yu Gothic"/>
              </a:rPr>
              <a:t>添付したテンプレートのデザインを使ってください。</a:t>
            </a:r>
          </a:p>
          <a:p>
            <a:pPr>
              <a:lnSpc>
                <a:spcPct val="122000"/>
              </a:lnSpc>
              <a:spcBef>
                <a:spcPts val="0"/>
              </a:spcBef>
              <a:spcAft>
                <a:spcPts val="0"/>
              </a:spcAft>
            </a:pPr>
            <a:r>
              <a:rPr sz="1100" b="0">
                <a:solidFill>
                  <a:srgbClr val="FFFFFF"/>
                </a:solidFill>
                <a:latin typeface="Arial"/>
                <a:ea typeface="Yu Gothic"/>
                <a:cs typeface="Yu Gothic"/>
              </a:rPr>
              <a:t> </a:t>
            </a:r>
          </a:p>
          <a:p>
            <a:pPr>
              <a:lnSpc>
                <a:spcPct val="122000"/>
              </a:lnSpc>
              <a:spcBef>
                <a:spcPts val="0"/>
              </a:spcBef>
              <a:spcAft>
                <a:spcPts val="0"/>
              </a:spcAft>
            </a:pPr>
            <a:r>
              <a:rPr sz="1100" b="0">
                <a:solidFill>
                  <a:srgbClr val="FFFFFF"/>
                </a:solidFill>
                <a:latin typeface="Arial"/>
                <a:ea typeface="Yu Gothic"/>
                <a:cs typeface="Yu Gothic"/>
              </a:rPr>
              <a:t>構成は次のとおりにしてください。</a:t>
            </a:r>
          </a:p>
          <a:p>
            <a:pPr>
              <a:lnSpc>
                <a:spcPct val="122000"/>
              </a:lnSpc>
              <a:spcBef>
                <a:spcPts val="0"/>
              </a:spcBef>
              <a:spcAft>
                <a:spcPts val="0"/>
              </a:spcAft>
            </a:pPr>
            <a:r>
              <a:rPr sz="1100" b="0">
                <a:solidFill>
                  <a:srgbClr val="FFFFFF"/>
                </a:solidFill>
                <a:latin typeface="Arial"/>
                <a:ea typeface="Yu Gothic"/>
                <a:cs typeface="Yu Gothic"/>
              </a:rPr>
              <a:t>1. タイトル</a:t>
            </a:r>
          </a:p>
          <a:p>
            <a:pPr>
              <a:lnSpc>
                <a:spcPct val="122000"/>
              </a:lnSpc>
              <a:spcBef>
                <a:spcPts val="0"/>
              </a:spcBef>
              <a:spcAft>
                <a:spcPts val="0"/>
              </a:spcAft>
            </a:pPr>
            <a:r>
              <a:rPr sz="1100" b="0">
                <a:solidFill>
                  <a:srgbClr val="FFFFFF"/>
                </a:solidFill>
                <a:latin typeface="Arial"/>
                <a:ea typeface="Yu Gothic"/>
                <a:cs typeface="Yu Gothic"/>
              </a:rPr>
              <a:t>2. 結論と要請</a:t>
            </a:r>
          </a:p>
          <a:p>
            <a:pPr>
              <a:lnSpc>
                <a:spcPct val="122000"/>
              </a:lnSpc>
              <a:spcBef>
                <a:spcPts val="0"/>
              </a:spcBef>
              <a:spcAft>
                <a:spcPts val="0"/>
              </a:spcAft>
            </a:pPr>
            <a:r>
              <a:rPr sz="1100" b="0">
                <a:solidFill>
                  <a:srgbClr val="FFFFFF"/>
                </a:solidFill>
                <a:latin typeface="Arial"/>
                <a:ea typeface="Yu Gothic"/>
                <a:cs typeface="Yu Gothic"/>
              </a:rPr>
              <a:t>3. エリア実態 - 報告と数字のギャップ</a:t>
            </a:r>
          </a:p>
          <a:p>
            <a:pPr>
              <a:lnSpc>
                <a:spcPct val="122000"/>
              </a:lnSpc>
              <a:spcBef>
                <a:spcPts val="0"/>
              </a:spcBef>
              <a:spcAft>
                <a:spcPts val="0"/>
              </a:spcAft>
            </a:pPr>
            <a:r>
              <a:rPr sz="1100" b="0">
                <a:solidFill>
                  <a:srgbClr val="FFFFFF"/>
                </a:solidFill>
                <a:latin typeface="Arial"/>
                <a:ea typeface="Yu Gothic"/>
                <a:cs typeface="Yu Gothic"/>
              </a:rPr>
              <a:t>4. 真因 - 4つの事象は1本の連鎖</a:t>
            </a:r>
          </a:p>
          <a:p>
            <a:pPr>
              <a:lnSpc>
                <a:spcPct val="122000"/>
              </a:lnSpc>
              <a:spcBef>
                <a:spcPts val="0"/>
              </a:spcBef>
              <a:spcAft>
                <a:spcPts val="0"/>
              </a:spcAft>
            </a:pPr>
            <a:r>
              <a:rPr sz="1100" b="0">
                <a:solidFill>
                  <a:srgbClr val="FFFFFF"/>
                </a:solidFill>
                <a:latin typeface="Arial"/>
                <a:ea typeface="Yu Gothic"/>
                <a:cs typeface="Yu Gothic"/>
              </a:rPr>
              <a:t>5. 反証 - 市場要因ではない</a:t>
            </a:r>
          </a:p>
          <a:p>
            <a:pPr>
              <a:lnSpc>
                <a:spcPct val="122000"/>
              </a:lnSpc>
              <a:spcBef>
                <a:spcPts val="0"/>
              </a:spcBef>
              <a:spcAft>
                <a:spcPts val="0"/>
              </a:spcAft>
            </a:pPr>
            <a:r>
              <a:rPr sz="1100" b="0">
                <a:solidFill>
                  <a:srgbClr val="FFFFFF"/>
                </a:solidFill>
                <a:latin typeface="Arial"/>
                <a:ea typeface="Yu Gothic"/>
                <a:cs typeface="Yu Gothic"/>
              </a:rPr>
              <a:t>6. 緊急度 - 次期も供給は確保できていない</a:t>
            </a:r>
          </a:p>
          <a:p>
            <a:pPr>
              <a:lnSpc>
                <a:spcPct val="122000"/>
              </a:lnSpc>
              <a:spcBef>
                <a:spcPts val="0"/>
              </a:spcBef>
              <a:spcAft>
                <a:spcPts val="0"/>
              </a:spcAft>
            </a:pPr>
            <a:r>
              <a:rPr sz="1100" b="0">
                <a:solidFill>
                  <a:srgbClr val="FFFFFF"/>
                </a:solidFill>
                <a:latin typeface="Arial"/>
                <a:ea typeface="Yu Gothic"/>
                <a:cs typeface="Yu Gothic"/>
              </a:rPr>
              <a:t>7. 施策と次アクション</a:t>
            </a:r>
          </a:p>
          <a:p>
            <a:pPr>
              <a:lnSpc>
                <a:spcPct val="122000"/>
              </a:lnSpc>
              <a:spcBef>
                <a:spcPts val="0"/>
              </a:spcBef>
              <a:spcAft>
                <a:spcPts val="0"/>
              </a:spcAft>
            </a:pPr>
            <a:r>
              <a:rPr sz="1100" b="0">
                <a:solidFill>
                  <a:srgbClr val="FFFFFF"/>
                </a:solidFill>
                <a:latin typeface="Arial"/>
                <a:ea typeface="Yu Gothic"/>
                <a:cs typeface="Yu Gothic"/>
              </a:rPr>
              <a:t> </a:t>
            </a:r>
          </a:p>
          <a:p>
            <a:pPr>
              <a:lnSpc>
                <a:spcPct val="122000"/>
              </a:lnSpc>
              <a:spcBef>
                <a:spcPts val="0"/>
              </a:spcBef>
              <a:spcAft>
                <a:spcPts val="0"/>
              </a:spcAft>
            </a:pPr>
            <a:r>
              <a:rPr sz="1100" b="0">
                <a:solidFill>
                  <a:srgbClr val="FFFFFF"/>
                </a:solidFill>
                <a:latin typeface="Arial"/>
                <a:ea typeface="Yu Gothic"/>
                <a:cs typeface="Yu Gothic"/>
              </a:rPr>
              <a:t>数値の出典を各スライドに明記してください。</a:t>
            </a:r>
          </a:p>
        </p:txBody>
      </p:sp>
      <p:sp>
        <p:nvSpPr>
          <p:cNvPr id="10" name="Rounded Rectangle 9"/>
          <p:cNvSpPr/>
          <p:nvPr/>
        </p:nvSpPr>
        <p:spPr>
          <a:xfrm>
            <a:off x="5650992" y="1517904"/>
            <a:ext cx="3127248" cy="3163824"/>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5797296" y="1627631"/>
            <a:ext cx="2834640" cy="2944368"/>
          </a:xfrm>
          <a:prstGeom prst="rect">
            <a:avLst/>
          </a:prstGeom>
          <a:noFill/>
        </p:spPr>
        <p:txBody>
          <a:bodyPr wrap="square" anchor="t" lIns="0" rIns="0" tIns="0" bIns="0">
            <a:spAutoFit/>
          </a:bodyPr>
          <a:lstStyle/>
          <a:p>
            <a:pPr>
              <a:lnSpc>
                <a:spcPct val="102000"/>
              </a:lnSpc>
              <a:spcBef>
                <a:spcPts val="0"/>
              </a:spcBef>
              <a:spcAft>
                <a:spcPts val="400"/>
              </a:spcAft>
            </a:pPr>
            <a:r>
              <a:rPr sz="1000" b="1">
                <a:solidFill>
                  <a:srgbClr val="11567F"/>
                </a:solidFill>
                <a:latin typeface="Arial"/>
                <a:ea typeface="Yu Gothic"/>
                <a:cs typeface="Yu Gothic"/>
              </a:rPr>
              <a:t>見るポイント</a:t>
            </a:r>
          </a:p>
          <a:p>
            <a:pPr>
              <a:lnSpc>
                <a:spcPct val="112000"/>
              </a:lnSpc>
              <a:spcBef>
                <a:spcPts val="500"/>
              </a:spcBef>
              <a:spcAft>
                <a:spcPts val="0"/>
              </a:spcAft>
            </a:pPr>
            <a:r>
              <a:rPr sz="850" b="1">
                <a:solidFill>
                  <a:srgbClr val="29B5E8"/>
                </a:solidFill>
                <a:latin typeface="Arial"/>
                <a:ea typeface="Yu Gothic"/>
                <a:cs typeface="Yu Gothic"/>
              </a:rPr>
              <a:t>操作　</a:t>
            </a:r>
            <a:r>
              <a:rPr sz="850" b="0">
                <a:solidFill>
                  <a:srgbClr val="262626"/>
                </a:solidFill>
                <a:latin typeface="Arial"/>
                <a:ea typeface="Yu Gothic"/>
                <a:cs typeface="Yu Gothic"/>
              </a:rPr>
              <a:t>実行の承認ボタンが出たら押してください</a:t>
            </a:r>
          </a:p>
          <a:p>
            <a:pPr>
              <a:lnSpc>
                <a:spcPct val="112000"/>
              </a:lnSpc>
              <a:spcBef>
                <a:spcPts val="500"/>
              </a:spcBef>
              <a:spcAft>
                <a:spcPts val="0"/>
              </a:spcAft>
            </a:pPr>
            <a:r>
              <a:rPr sz="850" b="1">
                <a:solidFill>
                  <a:srgbClr val="29B5E8"/>
                </a:solidFill>
                <a:latin typeface="Arial"/>
                <a:ea typeface="Yu Gothic"/>
                <a:cs typeface="Yu Gothic"/>
              </a:rPr>
              <a:t>□ </a:t>
            </a:r>
            <a:r>
              <a:rPr sz="850" b="0">
                <a:solidFill>
                  <a:srgbClr val="262626"/>
                </a:solidFill>
                <a:latin typeface="Arial"/>
                <a:ea typeface="Yu Gothic"/>
                <a:cs typeface="Yu Gothic"/>
              </a:rPr>
              <a:t>待ち時間が発生します</a:t>
            </a:r>
          </a:p>
          <a:p>
            <a:pPr>
              <a:lnSpc>
                <a:spcPct val="112000"/>
              </a:lnSpc>
              <a:spcBef>
                <a:spcPts val="500"/>
              </a:spcBef>
              <a:spcAft>
                <a:spcPts val="0"/>
              </a:spcAft>
            </a:pPr>
            <a:r>
              <a:rPr sz="850" b="1">
                <a:solidFill>
                  <a:srgbClr val="29B5E8"/>
                </a:solidFill>
                <a:latin typeface="Arial"/>
                <a:ea typeface="Yu Gothic"/>
                <a:cs typeface="Yu Gothic"/>
              </a:rPr>
              <a:t>終わらない場合　</a:t>
            </a:r>
            <a:r>
              <a:rPr sz="850" b="0">
                <a:solidFill>
                  <a:srgbClr val="262626"/>
                </a:solidFill>
                <a:latin typeface="Arial"/>
                <a:ea typeface="Yu Gothic"/>
                <a:cs typeface="Yu Gothic"/>
              </a:rPr>
              <a:t>手順書のリンクから完成版をダウンロードしてください</a:t>
            </a:r>
          </a:p>
          <a:p>
            <a:pPr>
              <a:lnSpc>
                <a:spcPct val="112000"/>
              </a:lnSpc>
              <a:spcBef>
                <a:spcPts val="500"/>
              </a:spcBef>
              <a:spcAft>
                <a:spcPts val="0"/>
              </a:spcAft>
            </a:pPr>
            <a:r>
              <a:rPr sz="850" b="1">
                <a:solidFill>
                  <a:srgbClr val="29B5E8"/>
                </a:solidFill>
                <a:latin typeface="Arial"/>
                <a:ea typeface="Yu Gothic"/>
                <a:cs typeface="Yu Gothic"/>
              </a:rPr>
              <a:t>確認　</a:t>
            </a:r>
            <a:r>
              <a:rPr sz="850" b="0">
                <a:solidFill>
                  <a:srgbClr val="262626"/>
                </a:solidFill>
                <a:latin typeface="Arial"/>
                <a:ea typeface="Yu Gothic"/>
                <a:cs typeface="Yu Gothic"/>
              </a:rPr>
              <a:t>テンプレートの配色が反映され、日本語が化けていないか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Agent③「付録」に候補として入っています。選んでクリックするだけで試せます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付録① ｜ 自由に試す質問例</a:t>
            </a:r>
          </a:p>
        </p:txBody>
      </p:sp>
      <p:sp>
        <p:nvSpPr>
          <p:cNvPr id="4" name="Rounded Rectangle 3"/>
          <p:cNvSpPr/>
          <p:nvPr/>
        </p:nvSpPr>
        <p:spPr>
          <a:xfrm>
            <a:off x="36576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2682240" cy="41148"/>
          </a:xfrm>
          <a:prstGeom prst="rect">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Oval 5"/>
          <p:cNvSpPr/>
          <p:nvPr/>
        </p:nvSpPr>
        <p:spPr>
          <a:xfrm>
            <a:off x="475488" y="1298448"/>
            <a:ext cx="237744" cy="237744"/>
          </a:xfrm>
          <a:prstGeom prst="ellipse">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A</a:t>
            </a:r>
          </a:p>
        </p:txBody>
      </p:sp>
      <p:sp>
        <p:nvSpPr>
          <p:cNvPr id="7" name="Rounded Rectangle 6"/>
          <p:cNvSpPr/>
          <p:nvPr/>
        </p:nvSpPr>
        <p:spPr>
          <a:xfrm>
            <a:off x="777240" y="1316736"/>
            <a:ext cx="868680" cy="201168"/>
          </a:xfrm>
          <a:prstGeom prst="roundRect">
            <a:avLst>
              <a:gd name="adj" fmla="val 50000"/>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顧客レビュー</a:t>
            </a:r>
          </a:p>
        </p:txBody>
      </p:sp>
      <p:sp>
        <p:nvSpPr>
          <p:cNvPr id="8" name="TextBox 7"/>
          <p:cNvSpPr txBox="1"/>
          <p:nvPr/>
        </p:nvSpPr>
        <p:spPr>
          <a:xfrm>
            <a:off x="47548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お客様の声から探る</a:t>
            </a:r>
          </a:p>
        </p:txBody>
      </p:sp>
      <p:sp>
        <p:nvSpPr>
          <p:cNvPr id="9" name="TextBox 8"/>
          <p:cNvSpPr txBox="1"/>
          <p:nvPr/>
        </p:nvSpPr>
        <p:spPr>
          <a:xfrm>
            <a:off x="47548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624件のレビューから、不満の中身を择り出します</a:t>
            </a:r>
          </a:p>
        </p:txBody>
      </p:sp>
      <p:sp>
        <p:nvSpPr>
          <p:cNvPr id="10" name="TextBox 9"/>
          <p:cNvSpPr txBox="1"/>
          <p:nvPr/>
        </p:nvSpPr>
        <p:spPr>
          <a:xfrm>
            <a:off x="47548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71D3DC"/>
                </a:solidFill>
                <a:latin typeface="Arial"/>
                <a:ea typeface="Yu Gothic"/>
                <a:cs typeface="Yu Gothic"/>
              </a:rPr>
              <a:t>● </a:t>
            </a:r>
            <a:r>
              <a:rPr sz="800" b="0">
                <a:solidFill>
                  <a:srgbClr val="262626"/>
                </a:solidFill>
                <a:latin typeface="Arial"/>
                <a:ea typeface="Yu Gothic"/>
                <a:cs typeface="Yu Gothic"/>
              </a:rPr>
              <a:t>評価が2以下のレビューで、不満の理由をよくあるものから順に整理してください。</a:t>
            </a:r>
          </a:p>
          <a:p>
            <a:pPr>
              <a:lnSpc>
                <a:spcPct val="102000"/>
              </a:lnSpc>
              <a:spcBef>
                <a:spcPts val="300"/>
              </a:spcBef>
              <a:spcAft>
                <a:spcPts val="0"/>
              </a:spcAft>
            </a:pPr>
            <a:r>
              <a:rPr sz="800" b="1">
                <a:solidFill>
                  <a:srgbClr val="71D3DC"/>
                </a:solidFill>
                <a:latin typeface="Arial"/>
                <a:ea typeface="Yu Gothic"/>
                <a:cs typeface="Yu Gothic"/>
              </a:rPr>
              <a:t>● </a:t>
            </a:r>
            <a:r>
              <a:rPr sz="800" b="0">
                <a:solidFill>
                  <a:srgbClr val="262626"/>
                </a:solidFill>
                <a:latin typeface="Arial"/>
                <a:ea typeface="Yu Gothic"/>
                <a:cs typeface="Yu Gothic"/>
              </a:rPr>
              <a:t>横浜みなと店のクレストリフレッシュウォーターについて、販促期間の前と後でレビューの内容がどう変わったか教えてください。</a:t>
            </a:r>
          </a:p>
          <a:p>
            <a:pPr>
              <a:lnSpc>
                <a:spcPct val="102000"/>
              </a:lnSpc>
              <a:spcBef>
                <a:spcPts val="300"/>
              </a:spcBef>
              <a:spcAft>
                <a:spcPts val="0"/>
              </a:spcAft>
            </a:pPr>
            <a:r>
              <a:rPr sz="800" b="1">
                <a:solidFill>
                  <a:srgbClr val="71D3DC"/>
                </a:solidFill>
                <a:latin typeface="Arial"/>
                <a:ea typeface="Yu Gothic"/>
                <a:cs typeface="Yu Gothic"/>
              </a:rPr>
              <a:t>● </a:t>
            </a:r>
            <a:r>
              <a:rPr sz="800" b="0">
                <a:solidFill>
                  <a:srgbClr val="262626"/>
                </a:solidFill>
                <a:latin typeface="Arial"/>
                <a:ea typeface="Yu Gothic"/>
                <a:cs typeface="Yu Gothic"/>
              </a:rPr>
              <a:t>商品そのものへの不満と、店舗の運用への不満を分けて整理してください。</a:t>
            </a:r>
          </a:p>
          <a:p>
            <a:pPr>
              <a:lnSpc>
                <a:spcPct val="102000"/>
              </a:lnSpc>
              <a:spcBef>
                <a:spcPts val="300"/>
              </a:spcBef>
              <a:spcAft>
                <a:spcPts val="0"/>
              </a:spcAft>
            </a:pPr>
            <a:r>
              <a:rPr sz="800" b="1">
                <a:solidFill>
                  <a:srgbClr val="71D3DC"/>
                </a:solidFill>
                <a:latin typeface="Arial"/>
                <a:ea typeface="Yu Gothic"/>
                <a:cs typeface="Yu Gothic"/>
              </a:rPr>
              <a:t>● </a:t>
            </a:r>
            <a:r>
              <a:rPr sz="800" b="0">
                <a:solidFill>
                  <a:srgbClr val="262626"/>
                </a:solidFill>
                <a:latin typeface="Arial"/>
                <a:ea typeface="Yu Gothic"/>
                <a:cs typeface="Yu Gothic"/>
              </a:rPr>
              <a:t>店舗ごとの平均評価スコアを比較してください。</a:t>
            </a:r>
          </a:p>
        </p:txBody>
      </p:sp>
      <p:sp>
        <p:nvSpPr>
          <p:cNvPr id="11" name="Rounded Rectangle 10"/>
          <p:cNvSpPr/>
          <p:nvPr/>
        </p:nvSpPr>
        <p:spPr>
          <a:xfrm>
            <a:off x="323088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3230880" y="1170432"/>
            <a:ext cx="2682240" cy="4114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Oval 12"/>
          <p:cNvSpPr/>
          <p:nvPr/>
        </p:nvSpPr>
        <p:spPr>
          <a:xfrm>
            <a:off x="3340608" y="1298448"/>
            <a:ext cx="237744" cy="237744"/>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B</a:t>
            </a:r>
          </a:p>
        </p:txBody>
      </p:sp>
      <p:sp>
        <p:nvSpPr>
          <p:cNvPr id="14" name="Rounded Rectangle 13"/>
          <p:cNvSpPr/>
          <p:nvPr/>
        </p:nvSpPr>
        <p:spPr>
          <a:xfrm>
            <a:off x="3642360" y="1316736"/>
            <a:ext cx="868680" cy="201168"/>
          </a:xfrm>
          <a:prstGeom prst="roundRect">
            <a:avLst>
              <a:gd name="adj" fmla="val 50000"/>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社内文書</a:t>
            </a:r>
          </a:p>
        </p:txBody>
      </p:sp>
      <p:sp>
        <p:nvSpPr>
          <p:cNvPr id="15" name="TextBox 14"/>
          <p:cNvSpPr txBox="1"/>
          <p:nvPr/>
        </p:nvSpPr>
        <p:spPr>
          <a:xfrm>
            <a:off x="334060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社内のルールと過去事例</a:t>
            </a:r>
          </a:p>
        </p:txBody>
      </p:sp>
      <p:sp>
        <p:nvSpPr>
          <p:cNvPr id="16" name="TextBox 15"/>
          <p:cNvSpPr txBox="1"/>
          <p:nvPr/>
        </p:nvSpPr>
        <p:spPr>
          <a:xfrm>
            <a:off x="334060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132件の日報・メモ・ポリシー・過去対応事例から探します</a:t>
            </a:r>
          </a:p>
        </p:txBody>
      </p:sp>
      <p:sp>
        <p:nvSpPr>
          <p:cNvPr id="17" name="TextBox 16"/>
          <p:cNvSpPr txBox="1"/>
          <p:nvPr/>
        </p:nvSpPr>
        <p:spPr>
          <a:xfrm>
            <a:off x="334060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販促で需要が大きく増えるとき、社内のルールでは何をしなければいけませんか。</a:t>
            </a:r>
          </a:p>
          <a:p>
            <a:pPr>
              <a:lnSpc>
                <a:spcPct val="102000"/>
              </a:lnSpc>
              <a:spcBef>
                <a:spcPts val="30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過去に同じような問題が起きたとき、どう対応して解決したか教えてください。</a:t>
            </a:r>
          </a:p>
          <a:p>
            <a:pPr>
              <a:lnSpc>
                <a:spcPct val="102000"/>
              </a:lnSpc>
              <a:spcBef>
                <a:spcPts val="30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名古屋ささしま店では問題が収束しています。何をしたからですか。</a:t>
            </a:r>
          </a:p>
          <a:p>
            <a:pPr>
              <a:lnSpc>
                <a:spcPct val="102000"/>
              </a:lnSpc>
              <a:spcBef>
                <a:spcPts val="300"/>
              </a:spcBef>
              <a:spcAft>
                <a:spcPts val="0"/>
              </a:spcAft>
            </a:pPr>
            <a:r>
              <a:rPr sz="800" b="1">
                <a:solidFill>
                  <a:srgbClr val="29B5E8"/>
                </a:solidFill>
                <a:latin typeface="Arial"/>
                <a:ea typeface="Yu Gothic"/>
                <a:cs typeface="Yu Gothic"/>
              </a:rPr>
              <a:t>● </a:t>
            </a:r>
            <a:r>
              <a:rPr sz="800" b="0">
                <a:solidFill>
                  <a:srgbClr val="262626"/>
                </a:solidFill>
                <a:latin typeface="Arial"/>
                <a:ea typeface="Yu Gothic"/>
                <a:cs typeface="Yu Gothic"/>
              </a:rPr>
              <a:t>店長からの報告書には、外装不良のことが書かれていますか。</a:t>
            </a:r>
          </a:p>
        </p:txBody>
      </p:sp>
      <p:sp>
        <p:nvSpPr>
          <p:cNvPr id="18" name="Rounded Rectangle 17"/>
          <p:cNvSpPr/>
          <p:nvPr/>
        </p:nvSpPr>
        <p:spPr>
          <a:xfrm>
            <a:off x="6096000" y="1170432"/>
            <a:ext cx="268224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Rectangle 18"/>
          <p:cNvSpPr/>
          <p:nvPr/>
        </p:nvSpPr>
        <p:spPr>
          <a:xfrm>
            <a:off x="6096000" y="1170432"/>
            <a:ext cx="2682240" cy="41148"/>
          </a:xfrm>
          <a:prstGeom prst="rect">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Oval 19"/>
          <p:cNvSpPr/>
          <p:nvPr/>
        </p:nvSpPr>
        <p:spPr>
          <a:xfrm>
            <a:off x="6205728" y="1298448"/>
            <a:ext cx="237744" cy="237744"/>
          </a:xfrm>
          <a:prstGeom prst="ellipse">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C</a:t>
            </a:r>
          </a:p>
        </p:txBody>
      </p:sp>
      <p:sp>
        <p:nvSpPr>
          <p:cNvPr id="21" name="Rounded Rectangle 20"/>
          <p:cNvSpPr/>
          <p:nvPr/>
        </p:nvSpPr>
        <p:spPr>
          <a:xfrm>
            <a:off x="6507480" y="1316736"/>
            <a:ext cx="868680" cy="201168"/>
          </a:xfrm>
          <a:prstGeom prst="roundRect">
            <a:avLst>
              <a:gd name="adj" fmla="val 50000"/>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横断</a:t>
            </a:r>
          </a:p>
        </p:txBody>
      </p:sp>
      <p:sp>
        <p:nvSpPr>
          <p:cNvPr id="22" name="TextBox 21"/>
          <p:cNvSpPr txBox="1"/>
          <p:nvPr/>
        </p:nvSpPr>
        <p:spPr>
          <a:xfrm>
            <a:off x="6205728" y="1600200"/>
            <a:ext cx="246278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数値と文書をまたいで聞く</a:t>
            </a:r>
          </a:p>
        </p:txBody>
      </p:sp>
      <p:sp>
        <p:nvSpPr>
          <p:cNvPr id="23" name="TextBox 22"/>
          <p:cNvSpPr txBox="1"/>
          <p:nvPr/>
        </p:nvSpPr>
        <p:spPr>
          <a:xfrm>
            <a:off x="6205728" y="2212848"/>
            <a:ext cx="246278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1つの質問でAnalystとSearchの両方が動きます</a:t>
            </a:r>
          </a:p>
        </p:txBody>
      </p:sp>
      <p:sp>
        <p:nvSpPr>
          <p:cNvPr id="24" name="TextBox 23"/>
          <p:cNvSpPr txBox="1"/>
          <p:nvPr/>
        </p:nvSpPr>
        <p:spPr>
          <a:xfrm>
            <a:off x="6205728" y="2697480"/>
            <a:ext cx="246278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7D44CF"/>
                </a:solidFill>
                <a:latin typeface="Arial"/>
                <a:ea typeface="Yu Gothic"/>
                <a:cs typeface="Yu Gothic"/>
              </a:rPr>
              <a:t>● </a:t>
            </a:r>
            <a:r>
              <a:rPr sz="800" b="0">
                <a:solidFill>
                  <a:srgbClr val="262626"/>
                </a:solidFill>
                <a:latin typeface="Arial"/>
                <a:ea typeface="Yu Gothic"/>
                <a:cs typeface="Yu Gothic"/>
              </a:rPr>
              <a:t>返品が多い商品と、その理由をお客様の声から教えてください。</a:t>
            </a:r>
          </a:p>
          <a:p>
            <a:pPr>
              <a:lnSpc>
                <a:spcPct val="102000"/>
              </a:lnSpc>
              <a:spcBef>
                <a:spcPts val="300"/>
              </a:spcBef>
              <a:spcAft>
                <a:spcPts val="0"/>
              </a:spcAft>
            </a:pPr>
            <a:r>
              <a:rPr sz="800" b="1">
                <a:solidFill>
                  <a:srgbClr val="7D44CF"/>
                </a:solidFill>
                <a:latin typeface="Arial"/>
                <a:ea typeface="Yu Gothic"/>
                <a:cs typeface="Yu Gothic"/>
              </a:rPr>
              <a:t>● </a:t>
            </a:r>
            <a:r>
              <a:rPr sz="800" b="0">
                <a:solidFill>
                  <a:srgbClr val="262626"/>
                </a:solidFill>
                <a:latin typeface="Arial"/>
                <a:ea typeface="Yu Gothic"/>
                <a:cs typeface="Yu Gothic"/>
              </a:rPr>
              <a:t>売上は計画どおりなのに、お客様の評価が下がっている店舗商品はありますか。</a:t>
            </a:r>
          </a:p>
          <a:p>
            <a:pPr>
              <a:lnSpc>
                <a:spcPct val="102000"/>
              </a:lnSpc>
              <a:spcBef>
                <a:spcPts val="300"/>
              </a:spcBef>
              <a:spcAft>
                <a:spcPts val="0"/>
              </a:spcAft>
            </a:pPr>
            <a:r>
              <a:rPr sz="800" b="1">
                <a:solidFill>
                  <a:srgbClr val="7D44CF"/>
                </a:solidFill>
                <a:latin typeface="Arial"/>
                <a:ea typeface="Yu Gothic"/>
                <a:cs typeface="Yu Gothic"/>
              </a:rPr>
              <a:t>● </a:t>
            </a:r>
            <a:r>
              <a:rPr sz="800" b="0">
                <a:solidFill>
                  <a:srgbClr val="262626"/>
                </a:solidFill>
                <a:latin typeface="Arial"/>
                <a:ea typeface="Yu Gothic"/>
                <a:cs typeface="Yu Gothic"/>
              </a:rPr>
              <a:t>関東エリアと中部エリアで、同じ商品の状況にどんな違いがありますか。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Web検索が使えるのは Agent③ だけです。実畲1〜5 では外部通信は発生しません</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付録② ｜ Web検索と、持ち帰り用の質問例</a:t>
            </a:r>
          </a:p>
        </p:txBody>
      </p:sp>
      <p:sp>
        <p:nvSpPr>
          <p:cNvPr id="4" name="Rounded Rectangle 3"/>
          <p:cNvSpPr/>
          <p:nvPr/>
        </p:nvSpPr>
        <p:spPr>
          <a:xfrm>
            <a:off x="365760" y="1170432"/>
            <a:ext cx="411480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4114800" cy="41148"/>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Oval 5"/>
          <p:cNvSpPr/>
          <p:nvPr/>
        </p:nvSpPr>
        <p:spPr>
          <a:xfrm>
            <a:off x="475488" y="1298448"/>
            <a:ext cx="237744" cy="237744"/>
          </a:xfrm>
          <a:prstGeom prst="ellipse">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E</a:t>
            </a:r>
          </a:p>
        </p:txBody>
      </p:sp>
      <p:sp>
        <p:nvSpPr>
          <p:cNvPr id="7" name="Rounded Rectangle 6"/>
          <p:cNvSpPr/>
          <p:nvPr/>
        </p:nvSpPr>
        <p:spPr>
          <a:xfrm>
            <a:off x="777240" y="1316736"/>
            <a:ext cx="868680" cy="201168"/>
          </a:xfrm>
          <a:prstGeom prst="roundRect">
            <a:avLst>
              <a:gd name="adj" fmla="val 50000"/>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Web検索</a:t>
            </a:r>
          </a:p>
        </p:txBody>
      </p:sp>
      <p:sp>
        <p:nvSpPr>
          <p:cNvPr id="8" name="TextBox 7"/>
          <p:cNvSpPr txBox="1"/>
          <p:nvPr/>
        </p:nvSpPr>
        <p:spPr>
          <a:xfrm>
            <a:off x="475488" y="1600200"/>
            <a:ext cx="389534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社外の文脈を確かめる</a:t>
            </a:r>
          </a:p>
        </p:txBody>
      </p:sp>
      <p:sp>
        <p:nvSpPr>
          <p:cNvPr id="9" name="TextBox 8"/>
          <p:cNvSpPr txBox="1"/>
          <p:nvPr/>
        </p:nvSpPr>
        <p:spPr>
          <a:xfrm>
            <a:off x="475488" y="2212848"/>
            <a:ext cx="389534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社内データに存在しない市場・気象・原材料価格などの外部情報を探します</a:t>
            </a:r>
          </a:p>
        </p:txBody>
      </p:sp>
      <p:sp>
        <p:nvSpPr>
          <p:cNvPr id="10" name="TextBox 9"/>
          <p:cNvSpPr txBox="1"/>
          <p:nvPr/>
        </p:nvSpPr>
        <p:spPr>
          <a:xfrm>
            <a:off x="475488" y="2697480"/>
            <a:ext cx="389534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FF9F36"/>
                </a:solidFill>
                <a:latin typeface="Arial"/>
                <a:ea typeface="Yu Gothic"/>
                <a:cs typeface="Yu Gothic"/>
              </a:rPr>
              <a:t>● </a:t>
            </a:r>
            <a:r>
              <a:rPr sz="800" b="0">
                <a:solidFill>
                  <a:srgbClr val="262626"/>
                </a:solidFill>
                <a:latin typeface="Arial"/>
                <a:ea typeface="Yu Gothic"/>
                <a:cs typeface="Yu Gothic"/>
              </a:rPr>
              <a:t>日本の清涼飲料市場について、直近の需要動向と価格改定の状況をWebで調べ、当社の販促判断の前提と矛盾がないか確認してください。</a:t>
            </a:r>
          </a:p>
          <a:p>
            <a:pPr>
              <a:lnSpc>
                <a:spcPct val="102000"/>
              </a:lnSpc>
              <a:spcBef>
                <a:spcPts val="300"/>
              </a:spcBef>
              <a:spcAft>
                <a:spcPts val="0"/>
              </a:spcAft>
            </a:pPr>
            <a:r>
              <a:rPr sz="800" b="1">
                <a:solidFill>
                  <a:srgbClr val="FF9F36"/>
                </a:solidFill>
                <a:latin typeface="Arial"/>
                <a:ea typeface="Yu Gothic"/>
                <a:cs typeface="Yu Gothic"/>
              </a:rPr>
              <a:t>● </a:t>
            </a:r>
            <a:r>
              <a:rPr sz="800" b="0">
                <a:solidFill>
                  <a:srgbClr val="262626"/>
                </a:solidFill>
                <a:latin typeface="Arial"/>
                <a:ea typeface="Yu Gothic"/>
                <a:cs typeface="Yu Gothic"/>
              </a:rPr>
              <a:t>猛暑が飲料の需要と店頭在庫にどのような影響を与えるかをWebで調べ、当社の欠品が季節要因で説明できるかを検討してください。</a:t>
            </a:r>
          </a:p>
          <a:p>
            <a:pPr>
              <a:lnSpc>
                <a:spcPct val="102000"/>
              </a:lnSpc>
              <a:spcBef>
                <a:spcPts val="300"/>
              </a:spcBef>
              <a:spcAft>
                <a:spcPts val="0"/>
              </a:spcAft>
            </a:pPr>
            <a:r>
              <a:rPr sz="800" b="1">
                <a:solidFill>
                  <a:srgbClr val="FF9F36"/>
                </a:solidFill>
                <a:latin typeface="Arial"/>
                <a:ea typeface="Yu Gothic"/>
                <a:cs typeface="Yu Gothic"/>
              </a:rPr>
              <a:t>● </a:t>
            </a:r>
            <a:r>
              <a:rPr sz="800" b="0">
                <a:solidFill>
                  <a:srgbClr val="262626"/>
                </a:solidFill>
                <a:latin typeface="Arial"/>
                <a:ea typeface="Yu Gothic"/>
                <a:cs typeface="Yu Gothic"/>
              </a:rPr>
              <a:t>食品小売の返品削減や入荷時検品の一般的な取り組みをWebで調べ、当社で実証済みの運用と比較してください。</a:t>
            </a:r>
          </a:p>
        </p:txBody>
      </p:sp>
      <p:sp>
        <p:nvSpPr>
          <p:cNvPr id="11" name="Rounded Rectangle 10"/>
          <p:cNvSpPr/>
          <p:nvPr/>
        </p:nvSpPr>
        <p:spPr>
          <a:xfrm>
            <a:off x="4663440" y="1170432"/>
            <a:ext cx="4114800" cy="3493007"/>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4663440" y="1170432"/>
            <a:ext cx="4114800" cy="41148"/>
          </a:xfrm>
          <a:prstGeom prst="rect">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Oval 12"/>
          <p:cNvSpPr/>
          <p:nvPr/>
        </p:nvSpPr>
        <p:spPr>
          <a:xfrm>
            <a:off x="4773168" y="1298448"/>
            <a:ext cx="237744" cy="237744"/>
          </a:xfrm>
          <a:prstGeom prst="ellipse">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Arial"/>
                <a:ea typeface="Yu Gothic"/>
                <a:cs typeface="Yu Gothic"/>
              </a:rPr>
              <a:t>D</a:t>
            </a:r>
          </a:p>
        </p:txBody>
      </p:sp>
      <p:sp>
        <p:nvSpPr>
          <p:cNvPr id="14" name="Rounded Rectangle 13"/>
          <p:cNvSpPr/>
          <p:nvPr/>
        </p:nvSpPr>
        <p:spPr>
          <a:xfrm>
            <a:off x="5074920" y="1316736"/>
            <a:ext cx="868680" cy="201168"/>
          </a:xfrm>
          <a:prstGeom prst="roundRect">
            <a:avLst>
              <a:gd name="adj" fmla="val 50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50" b="1">
                <a:solidFill>
                  <a:srgbClr val="FFFFFF"/>
                </a:solidFill>
                <a:latin typeface="Arial"/>
                <a:ea typeface="Yu Gothic"/>
                <a:cs typeface="Yu Gothic"/>
              </a:rPr>
              <a:t>持ち帰り</a:t>
            </a:r>
          </a:p>
        </p:txBody>
      </p:sp>
      <p:sp>
        <p:nvSpPr>
          <p:cNvPr id="15" name="TextBox 14"/>
          <p:cNvSpPr txBox="1"/>
          <p:nvPr/>
        </p:nvSpPr>
        <p:spPr>
          <a:xfrm>
            <a:off x="4773168" y="1600200"/>
            <a:ext cx="3895344" cy="566928"/>
          </a:xfrm>
          <a:prstGeom prst="rect">
            <a:avLst/>
          </a:prstGeom>
          <a:noFill/>
        </p:spPr>
        <p:txBody>
          <a:bodyPr wrap="square" anchor="t" lIns="0" rIns="0" tIns="0" bIns="0">
            <a:spAutoFit/>
          </a:bodyPr>
          <a:lstStyle/>
          <a:p>
            <a:pPr>
              <a:lnSpc>
                <a:spcPct val="92000"/>
              </a:lnSpc>
              <a:spcBef>
                <a:spcPts val="0"/>
              </a:spcBef>
              <a:spcAft>
                <a:spcPts val="0"/>
              </a:spcAft>
            </a:pPr>
            <a:r>
              <a:rPr sz="1300" b="1">
                <a:solidFill>
                  <a:srgbClr val="11567F"/>
                </a:solidFill>
                <a:latin typeface="Arial"/>
                <a:ea typeface="Yu Gothic"/>
                <a:cs typeface="Yu Gothic"/>
              </a:rPr>
              <a:t>セッション後に試す</a:t>
            </a:r>
          </a:p>
        </p:txBody>
      </p:sp>
      <p:sp>
        <p:nvSpPr>
          <p:cNvPr id="16" name="TextBox 15"/>
          <p:cNvSpPr txBox="1"/>
          <p:nvPr/>
        </p:nvSpPr>
        <p:spPr>
          <a:xfrm>
            <a:off x="4773168" y="2212848"/>
            <a:ext cx="3895344" cy="45720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262626"/>
                </a:solidFill>
                <a:latin typeface="Arial"/>
                <a:ea typeface="Yu Gothic"/>
                <a:cs typeface="Yu Gothic"/>
              </a:rPr>
              <a:t>帰ってからご自身のペースで。環境はセッション後もしばらく使えます</a:t>
            </a:r>
          </a:p>
        </p:txBody>
      </p:sp>
      <p:sp>
        <p:nvSpPr>
          <p:cNvPr id="17" name="TextBox 16"/>
          <p:cNvSpPr txBox="1"/>
          <p:nvPr/>
        </p:nvSpPr>
        <p:spPr>
          <a:xfrm>
            <a:off x="4773168" y="2697480"/>
            <a:ext cx="3895344" cy="1874519"/>
          </a:xfrm>
          <a:prstGeom prst="rect">
            <a:avLst/>
          </a:prstGeom>
          <a:noFill/>
        </p:spPr>
        <p:txBody>
          <a:bodyPr wrap="square" anchor="t" lIns="0" rIns="0" tIns="0" bIns="0">
            <a:spAutoFit/>
          </a:bodyPr>
          <a:lstStyle/>
          <a:p>
            <a:pPr>
              <a:lnSpc>
                <a:spcPct val="102000"/>
              </a:lnSpc>
              <a:spcBef>
                <a:spcPts val="0"/>
              </a:spcBef>
              <a:spcAft>
                <a:spcPts val="0"/>
              </a:spcAft>
            </a:pPr>
            <a:r>
              <a:rPr sz="800" b="1">
                <a:solidFill>
                  <a:srgbClr val="11567F"/>
                </a:solidFill>
                <a:latin typeface="Arial"/>
                <a:ea typeface="Yu Gothic"/>
                <a:cs typeface="Yu Gothic"/>
              </a:rPr>
              <a:t>● </a:t>
            </a:r>
            <a:r>
              <a:rPr sz="800" b="0">
                <a:solidFill>
                  <a:srgbClr val="262626"/>
                </a:solidFill>
                <a:latin typeface="Arial"/>
                <a:ea typeface="Yu Gothic"/>
                <a:cs typeface="Yu Gothic"/>
              </a:rPr>
              <a:t>評価が高い店舗の運用を、他店舗に展開できる形で整理してください。</a:t>
            </a:r>
          </a:p>
          <a:p>
            <a:pPr>
              <a:lnSpc>
                <a:spcPct val="102000"/>
              </a:lnSpc>
              <a:spcBef>
                <a:spcPts val="300"/>
              </a:spcBef>
              <a:spcAft>
                <a:spcPts val="0"/>
              </a:spcAft>
            </a:pPr>
            <a:r>
              <a:rPr sz="800" b="1">
                <a:solidFill>
                  <a:srgbClr val="11567F"/>
                </a:solidFill>
                <a:latin typeface="Arial"/>
                <a:ea typeface="Yu Gothic"/>
                <a:cs typeface="Yu Gothic"/>
              </a:rPr>
              <a:t>● </a:t>
            </a:r>
            <a:r>
              <a:rPr sz="800" b="0">
                <a:solidFill>
                  <a:srgbClr val="262626"/>
                </a:solidFill>
                <a:latin typeface="Arial"/>
                <a:ea typeface="Yu Gothic"/>
                <a:cs typeface="Yu Gothic"/>
              </a:rPr>
              <a:t>次の四半期に優先すべき改善を3つ挙げ、それぞれの根拠を示してください。</a:t>
            </a:r>
          </a:p>
          <a:p>
            <a:pPr>
              <a:lnSpc>
                <a:spcPct val="102000"/>
              </a:lnSpc>
              <a:spcBef>
                <a:spcPts val="300"/>
              </a:spcBef>
              <a:spcAft>
                <a:spcPts val="0"/>
              </a:spcAft>
            </a:pPr>
            <a:r>
              <a:rPr sz="800" b="1">
                <a:solidFill>
                  <a:srgbClr val="11567F"/>
                </a:solidFill>
                <a:latin typeface="Arial"/>
                <a:ea typeface="Yu Gothic"/>
                <a:cs typeface="Yu Gothic"/>
              </a:rPr>
              <a:t>● </a:t>
            </a:r>
            <a:r>
              <a:rPr sz="800" b="0">
                <a:solidFill>
                  <a:srgbClr val="262626"/>
                </a:solidFill>
                <a:latin typeface="Arial"/>
                <a:ea typeface="Yu Gothic"/>
                <a:cs typeface="Yu Gothic"/>
              </a:rPr>
              <a:t>この分析結果を、経営会議向けに1枚のPDFにまとめてください。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根拠を追えるかどうかは、この切り分けができるかで決まります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まとめ ｜ AIの回答は、4つに分けて読む</a:t>
            </a:r>
          </a:p>
        </p:txBody>
      </p:sp>
      <p:graphicFrame>
        <p:nvGraphicFramePr>
          <p:cNvPr id="4" name="Table 3"/>
          <p:cNvGraphicFramePr>
            <a:graphicFrameLocks noGrp="1"/>
          </p:cNvGraphicFramePr>
          <p:nvPr/>
        </p:nvGraphicFramePr>
        <p:xfrm>
          <a:off x="365760" y="1152144"/>
          <a:ext cx="8412480" cy="3255260"/>
        </p:xfrm>
        <a:graphic>
          <a:graphicData uri="http://schemas.openxmlformats.org/drawingml/2006/table">
            <a:tbl>
              <a:tblPr firstRow="1">
                <a:tableStyleId>{5C22544A-7EE6-4342-B048-85BDC9FD1C3A}</a:tableStyleId>
              </a:tblPr>
              <a:tblGrid>
                <a:gridCol w="1463040"/>
                <a:gridCol w="3291840"/>
                <a:gridCol w="3657600"/>
              </a:tblGrid>
              <a:tr h="651052">
                <a:tc>
                  <a:txBody>
                    <a:bodyPr wrap="square" lIns="54864" rIns="54864" tIns="18288" bIns="18288"/>
                    <a:lstStyle/>
                    <a:p>
                      <a:pPr algn="l">
                        <a:lnSpc>
                          <a:spcPct val="100000"/>
                        </a:lnSpc>
                      </a:pPr>
                      <a:r>
                        <a:rPr sz="950" b="1">
                          <a:solidFill>
                            <a:srgbClr val="FFFFFF"/>
                          </a:solidFill>
                          <a:latin typeface="Arial"/>
                          <a:ea typeface="Yu Gothic"/>
                          <a:cs typeface="Yu Gothic"/>
                        </a:rPr>
                        <a:t>区分</a:t>
                      </a:r>
                    </a:p>
                  </a:txBody>
                  <a:tcPr anchor="ctr">
                    <a:solidFill>
                      <a:srgbClr val="11567F"/>
                    </a:solidFill>
                  </a:tcPr>
                </a:tc>
                <a:tc>
                  <a:txBody>
                    <a:bodyPr wrap="square" lIns="54864" rIns="54864" tIns="18288" bIns="18288"/>
                    <a:lstStyle/>
                    <a:p>
                      <a:pPr algn="ctr">
                        <a:lnSpc>
                          <a:spcPct val="100000"/>
                        </a:lnSpc>
                      </a:pPr>
                      <a:r>
                        <a:rPr sz="950" b="1">
                          <a:solidFill>
                            <a:srgbClr val="FFFFFF"/>
                          </a:solidFill>
                          <a:latin typeface="Arial"/>
                          <a:ea typeface="Yu Gothic"/>
                          <a:cs typeface="Yu Gothic"/>
                        </a:rPr>
                        <a:t>意味</a:t>
                      </a:r>
                    </a:p>
                  </a:txBody>
                  <a:tcPr anchor="ctr">
                    <a:solidFill>
                      <a:srgbClr val="11567F"/>
                    </a:solidFill>
                  </a:tcPr>
                </a:tc>
                <a:tc>
                  <a:txBody>
                    <a:bodyPr wrap="square" lIns="54864" rIns="54864" tIns="18288" bIns="18288"/>
                    <a:lstStyle/>
                    <a:p>
                      <a:pPr algn="ctr">
                        <a:lnSpc>
                          <a:spcPct val="100000"/>
                        </a:lnSpc>
                      </a:pPr>
                      <a:r>
                        <a:rPr sz="950" b="1">
                          <a:solidFill>
                            <a:srgbClr val="FFFFFF"/>
                          </a:solidFill>
                          <a:latin typeface="Arial"/>
                          <a:ea typeface="Yu Gothic"/>
                          <a:cs typeface="Yu Gothic"/>
                        </a:rPr>
                        <a:t>本日どこで見たか</a:t>
                      </a:r>
                    </a:p>
                  </a:txBody>
                  <a:tcPr anchor="ctr">
                    <a:solidFill>
                      <a:srgbClr val="11567F"/>
                    </a:solidFill>
                  </a:tcPr>
                </a:tc>
              </a:tr>
              <a:tr h="651052">
                <a:tc>
                  <a:txBody>
                    <a:bodyPr wrap="square" lIns="54864" rIns="54864" tIns="18288" bIns="18288"/>
                    <a:lstStyle/>
                    <a:p>
                      <a:pPr algn="l">
                        <a:lnSpc>
                          <a:spcPct val="100000"/>
                        </a:lnSpc>
                      </a:pPr>
                      <a:r>
                        <a:rPr sz="850" b="1">
                          <a:solidFill>
                            <a:srgbClr val="11567F"/>
                          </a:solidFill>
                          <a:latin typeface="Arial"/>
                          <a:ea typeface="Yu Gothic"/>
                          <a:cs typeface="Yu Gothic"/>
                        </a:rPr>
                        <a:t>事実</a:t>
                      </a:r>
                    </a:p>
                  </a:txBody>
                  <a:tcPr anchor="ctr">
                    <a:solidFill>
                      <a:srgbClr val="FFFFFF"/>
                    </a:solidFill>
                  </a:tcPr>
                </a:tc>
                <a:tc>
                  <a:txBody>
                    <a:bodyPr wrap="square" lIns="54864" rIns="54864" tIns="18288" bIns="18288"/>
                    <a:lstStyle/>
                    <a:p>
                      <a:pPr algn="ctr">
                        <a:lnSpc>
                          <a:spcPct val="100000"/>
                        </a:lnSpc>
                      </a:pPr>
                      <a:r>
                        <a:rPr sz="850" b="0">
                          <a:solidFill>
                            <a:srgbClr val="262626"/>
                          </a:solidFill>
                          <a:latin typeface="Arial"/>
                          <a:ea typeface="Yu Gothic"/>
                          <a:cs typeface="Yu Gothic"/>
                        </a:rPr>
                        <a:t>数値で確認できたこと</a:t>
                      </a:r>
                    </a:p>
                  </a:txBody>
                  <a:tcPr anchor="ctr">
                    <a:solidFill>
                      <a:srgbClr val="FFFFFF"/>
                    </a:solidFill>
                  </a:tcPr>
                </a:tc>
                <a:tc>
                  <a:txBody>
                    <a:bodyPr wrap="square" lIns="54864" rIns="54864" tIns="18288" bIns="18288"/>
                    <a:lstStyle/>
                    <a:p>
                      <a:pPr algn="ctr">
                        <a:lnSpc>
                          <a:spcPct val="100000"/>
                        </a:lnSpc>
                      </a:pPr>
                      <a:r>
                        <a:rPr sz="850" b="0">
                          <a:solidFill>
                            <a:srgbClr val="262626"/>
                          </a:solidFill>
                          <a:latin typeface="Arial"/>
                          <a:ea typeface="Yu Gothic"/>
                          <a:cs typeface="Yu Gothic"/>
                        </a:rPr>
                        <a:t>実習1-2 の達成率98% / 返品率4.3%</a:t>
                      </a:r>
                    </a:p>
                  </a:txBody>
                  <a:tcPr anchor="ctr">
                    <a:solidFill>
                      <a:srgbClr val="FFFFFF"/>
                    </a:solidFill>
                  </a:tcPr>
                </a:tc>
              </a:tr>
              <a:tr h="651052">
                <a:tc>
                  <a:txBody>
                    <a:bodyPr wrap="square" lIns="54864" rIns="54864" tIns="18288" bIns="18288"/>
                    <a:lstStyle/>
                    <a:p>
                      <a:pPr algn="l">
                        <a:lnSpc>
                          <a:spcPct val="100000"/>
                        </a:lnSpc>
                      </a:pPr>
                      <a:r>
                        <a:rPr sz="850" b="1">
                          <a:solidFill>
                            <a:srgbClr val="11567F"/>
                          </a:solidFill>
                          <a:latin typeface="Arial"/>
                          <a:ea typeface="Yu Gothic"/>
                          <a:cs typeface="Yu Gothic"/>
                        </a:rPr>
                        <a:t>文書</a:t>
                      </a:r>
                    </a:p>
                  </a:txBody>
                  <a:tcPr anchor="ctr">
                    <a:solidFill>
                      <a:srgbClr val="DDE6EC"/>
                    </a:solidFill>
                  </a:tcPr>
                </a:tc>
                <a:tc>
                  <a:txBody>
                    <a:bodyPr wrap="square" lIns="54864" rIns="54864" tIns="18288" bIns="18288"/>
                    <a:lstStyle/>
                    <a:p>
                      <a:pPr algn="ctr">
                        <a:lnSpc>
                          <a:spcPct val="100000"/>
                        </a:lnSpc>
                      </a:pPr>
                      <a:r>
                        <a:rPr sz="850" b="0">
                          <a:solidFill>
                            <a:srgbClr val="262626"/>
                          </a:solidFill>
                          <a:latin typeface="Arial"/>
                          <a:ea typeface="Yu Gothic"/>
                          <a:cs typeface="Yu Gothic"/>
                        </a:rPr>
                        <a:t>報告書・レビューに書かれていたこと</a:t>
                      </a:r>
                    </a:p>
                  </a:txBody>
                  <a:tcPr anchor="ctr">
                    <a:solidFill>
                      <a:srgbClr val="DDE6EC"/>
                    </a:solidFill>
                  </a:tcPr>
                </a:tc>
                <a:tc>
                  <a:txBody>
                    <a:bodyPr wrap="square" lIns="54864" rIns="54864" tIns="18288" bIns="18288"/>
                    <a:lstStyle/>
                    <a:p>
                      <a:pPr algn="ctr">
                        <a:lnSpc>
                          <a:spcPct val="100000"/>
                        </a:lnSpc>
                      </a:pPr>
                      <a:r>
                        <a:rPr sz="850" b="0">
                          <a:solidFill>
                            <a:srgbClr val="262626"/>
                          </a:solidFill>
                          <a:latin typeface="Arial"/>
                          <a:ea typeface="Yu Gothic"/>
                          <a:cs typeface="Yu Gothic"/>
                        </a:rPr>
                        <a:t>実習1-1 の月次報告、実習2 の顧客レビュー</a:t>
                      </a:r>
                    </a:p>
                  </a:txBody>
                  <a:tcPr anchor="ctr">
                    <a:solidFill>
                      <a:srgbClr val="DDE6EC"/>
                    </a:solidFill>
                  </a:tcPr>
                </a:tc>
              </a:tr>
              <a:tr h="651052">
                <a:tc>
                  <a:txBody>
                    <a:bodyPr wrap="square" lIns="54864" rIns="54864" tIns="18288" bIns="18288"/>
                    <a:lstStyle/>
                    <a:p>
                      <a:pPr algn="l">
                        <a:lnSpc>
                          <a:spcPct val="100000"/>
                        </a:lnSpc>
                      </a:pPr>
                      <a:r>
                        <a:rPr sz="850" b="1">
                          <a:solidFill>
                            <a:srgbClr val="11567F"/>
                          </a:solidFill>
                          <a:latin typeface="Arial"/>
                          <a:ea typeface="Yu Gothic"/>
                          <a:cs typeface="Yu Gothic"/>
                        </a:rPr>
                        <a:t>仮説</a:t>
                      </a:r>
                    </a:p>
                  </a:txBody>
                  <a:tcPr anchor="ctr">
                    <a:solidFill>
                      <a:srgbClr val="FFFFFF"/>
                    </a:solidFill>
                  </a:tcPr>
                </a:tc>
                <a:tc>
                  <a:txBody>
                    <a:bodyPr wrap="square" lIns="54864" rIns="54864" tIns="18288" bIns="18288"/>
                    <a:lstStyle/>
                    <a:p>
                      <a:pPr algn="ctr">
                        <a:lnSpc>
                          <a:spcPct val="100000"/>
                        </a:lnSpc>
                      </a:pPr>
                      <a:r>
                        <a:rPr sz="850" b="0">
                          <a:solidFill>
                            <a:srgbClr val="262626"/>
                          </a:solidFill>
                          <a:latin typeface="Arial"/>
                          <a:ea typeface="Yu Gothic"/>
                          <a:cs typeface="Yu Gothic"/>
                        </a:rPr>
                        <a:t>AIが推測したこと</a:t>
                      </a:r>
                    </a:p>
                  </a:txBody>
                  <a:tcPr anchor="ctr">
                    <a:solidFill>
                      <a:srgbClr val="FFFFFF"/>
                    </a:solidFill>
                  </a:tcPr>
                </a:tc>
                <a:tc>
                  <a:txBody>
                    <a:bodyPr wrap="square" lIns="54864" rIns="54864" tIns="18288" bIns="18288"/>
                    <a:lstStyle/>
                    <a:p>
                      <a:pPr algn="ctr">
                        <a:lnSpc>
                          <a:spcPct val="100000"/>
                        </a:lnSpc>
                      </a:pPr>
                      <a:r>
                        <a:rPr sz="850" b="0">
                          <a:solidFill>
                            <a:srgbClr val="262626"/>
                          </a:solidFill>
                          <a:latin typeface="Arial"/>
                          <a:ea typeface="Yu Gothic"/>
                          <a:cs typeface="Yu Gothic"/>
                        </a:rPr>
                        <a:t>実習2 の「供給不足が起点」という筋立て</a:t>
                      </a:r>
                    </a:p>
                  </a:txBody>
                  <a:tcPr anchor="ctr">
                    <a:solidFill>
                      <a:srgbClr val="FFFFFF"/>
                    </a:solidFill>
                  </a:tcPr>
                </a:tc>
              </a:tr>
              <a:tr h="651052">
                <a:tc>
                  <a:txBody>
                    <a:bodyPr wrap="square" lIns="54864" rIns="54864" tIns="18288" bIns="18288"/>
                    <a:lstStyle/>
                    <a:p>
                      <a:pPr algn="l">
                        <a:lnSpc>
                          <a:spcPct val="100000"/>
                        </a:lnSpc>
                      </a:pPr>
                      <a:r>
                        <a:rPr sz="850" b="1">
                          <a:solidFill>
                            <a:srgbClr val="11567F"/>
                          </a:solidFill>
                          <a:latin typeface="Arial"/>
                          <a:ea typeface="Yu Gothic"/>
                          <a:cs typeface="Yu Gothic"/>
                        </a:rPr>
                        <a:t>反証</a:t>
                      </a:r>
                    </a:p>
                  </a:txBody>
                  <a:tcPr anchor="ctr">
                    <a:solidFill>
                      <a:srgbClr val="F2F9FD"/>
                    </a:solidFill>
                  </a:tcPr>
                </a:tc>
                <a:tc>
                  <a:txBody>
                    <a:bodyPr wrap="square" lIns="54864" rIns="54864" tIns="18288" bIns="18288"/>
                    <a:lstStyle/>
                    <a:p>
                      <a:pPr algn="ctr">
                        <a:lnSpc>
                          <a:spcPct val="100000"/>
                        </a:lnSpc>
                      </a:pPr>
                      <a:r>
                        <a:rPr sz="850" b="0">
                          <a:solidFill>
                            <a:srgbClr val="262626"/>
                          </a:solidFill>
                          <a:latin typeface="Arial"/>
                          <a:ea typeface="Yu Gothic"/>
                          <a:cs typeface="Yu Gothic"/>
                        </a:rPr>
                        <a:t>その仮説を否定する材料</a:t>
                      </a:r>
                    </a:p>
                  </a:txBody>
                  <a:tcPr anchor="ctr">
                    <a:solidFill>
                      <a:srgbClr val="F2F9FD"/>
                    </a:solidFill>
                  </a:tcPr>
                </a:tc>
                <a:tc>
                  <a:txBody>
                    <a:bodyPr wrap="square" lIns="54864" rIns="54864" tIns="18288" bIns="18288"/>
                    <a:lstStyle/>
                    <a:p>
                      <a:pPr algn="ctr">
                        <a:lnSpc>
                          <a:spcPct val="100000"/>
                        </a:lnSpc>
                      </a:pPr>
                      <a:r>
                        <a:rPr sz="850" b="0">
                          <a:solidFill>
                            <a:srgbClr val="262626"/>
                          </a:solidFill>
                          <a:latin typeface="Arial"/>
                          <a:ea typeface="Yu Gothic"/>
                          <a:cs typeface="Yu Gothic"/>
                        </a:rPr>
                        <a:t>実習2 の人手不足・価格の否定、実習4 の競合比較</a:t>
                      </a:r>
                    </a:p>
                  </a:txBody>
                  <a:tcPr anchor="ctr">
                    <a:solidFill>
                      <a:srgbClr val="F2F9FD"/>
                    </a:solidFill>
                  </a:tcPr>
                </a:tc>
              </a:tr>
            </a:tbl>
          </a:graphicData>
        </a:graphic>
      </p:graphicFrame>
      <p:sp>
        <p:nvSpPr>
          <p:cNvPr id="5" name="TextBox 4"/>
          <p:cNvSpPr txBox="1"/>
          <p:nvPr/>
        </p:nvSpPr>
        <p:spPr>
          <a:xfrm>
            <a:off x="365760" y="4453128"/>
            <a:ext cx="8412480" cy="292608"/>
          </a:xfrm>
          <a:prstGeom prst="rect">
            <a:avLst/>
          </a:prstGeom>
          <a:noFill/>
        </p:spPr>
        <p:txBody>
          <a:bodyPr wrap="square" anchor="t" lIns="0" rIns="0" tIns="0" bIns="0">
            <a:spAutoFit/>
          </a:bodyPr>
          <a:lstStyle/>
          <a:p>
            <a:pPr>
              <a:lnSpc>
                <a:spcPct val="105000"/>
              </a:lnSpc>
              <a:spcBef>
                <a:spcPts val="0"/>
              </a:spcBef>
              <a:spcAft>
                <a:spcPts val="0"/>
              </a:spcAft>
            </a:pPr>
            <a:r>
              <a:rPr sz="700" b="0">
                <a:solidFill>
                  <a:srgbClr val="5B5B5B"/>
                </a:solidFill>
                <a:latin typeface="Arial"/>
                <a:ea typeface="Yu Gothic"/>
                <a:cs typeface="Yu Gothic"/>
              </a:rPr>
              <a:t>※ AI × 自社データだから、根拠を追える。そして資料まで一気につながる</a:t>
            </a:r>
          </a:p>
          <a:p>
            <a:pPr>
              <a:lnSpc>
                <a:spcPct val="105000"/>
              </a:lnSpc>
              <a:spcBef>
                <a:spcPts val="0"/>
              </a:spcBef>
              <a:spcAft>
                <a:spcPts val="0"/>
              </a:spcAft>
            </a:pPr>
            <a:r>
              <a:rPr sz="700" b="0">
                <a:solidFill>
                  <a:srgbClr val="5B5B5B"/>
                </a:solidFill>
                <a:latin typeface="Arial"/>
                <a:ea typeface="Yu Gothic"/>
                <a:cs typeface="Yu Gothic"/>
              </a:rPr>
              <a:t>※ 出典が付いていない回答は、そのまま上には上げないこと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050" b="0">
                <a:solidFill>
                  <a:srgbClr val="5B5B5B"/>
                </a:solidFill>
                <a:latin typeface="Arial"/>
                <a:ea typeface="Yu Gothic"/>
                <a:cs typeface="Yu Gothic"/>
              </a:rPr>
              <a:t>本日の構成は、たった4点でできています</a:t>
            </a:r>
          </a:p>
        </p:txBody>
      </p:sp>
      <p:sp>
        <p:nvSpPr>
          <p:cNvPr id="3" name="Title 2"/>
          <p:cNvSpPr>
            <a:spLocks noGrp="1"/>
          </p:cNvSpPr>
          <p:nvPr>
            <p:ph type="title"/>
          </p:nvPr>
        </p:nvSpPr>
        <p:spPr>
          <a:xfrm>
            <a:off x="365750" y="274323"/>
            <a:ext cx="8344800" cy="475488"/>
          </a:xfrm>
        </p:spPr>
        <p:txBody>
          <a:bodyPr tIns="0" bIns="0"/>
          <a:lstStyle/>
          <a:p>
            <a:r>
              <a:rPr sz="2200">
                <a:ea typeface="Yu Gothic"/>
                <a:cs typeface="Yu Gothic"/>
              </a:rPr>
              <a:t>自社で始めるには</a:t>
            </a:r>
          </a:p>
        </p:txBody>
      </p:sp>
      <p:sp>
        <p:nvSpPr>
          <p:cNvPr id="4" name="Rounded Rectangle 3"/>
          <p:cNvSpPr/>
          <p:nvPr/>
        </p:nvSpPr>
        <p:spPr>
          <a:xfrm>
            <a:off x="365760" y="1170432"/>
            <a:ext cx="4114800" cy="1655063"/>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5" name="Rectangle 4"/>
          <p:cNvSpPr/>
          <p:nvPr/>
        </p:nvSpPr>
        <p:spPr>
          <a:xfrm>
            <a:off x="365760" y="1170432"/>
            <a:ext cx="54864" cy="1655063"/>
          </a:xfrm>
          <a:prstGeom prst="rect">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6" name="Rounded Rectangle 5"/>
          <p:cNvSpPr/>
          <p:nvPr/>
        </p:nvSpPr>
        <p:spPr>
          <a:xfrm>
            <a:off x="512064" y="1271016"/>
            <a:ext cx="1005840" cy="182880"/>
          </a:xfrm>
          <a:prstGeom prst="roundRect">
            <a:avLst>
              <a:gd name="adj" fmla="val 50000"/>
            </a:avLst>
          </a:prstGeom>
          <a:solidFill>
            <a:srgbClr val="71D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00" b="1">
                <a:solidFill>
                  <a:srgbClr val="FFFFFF"/>
                </a:solidFill>
                <a:latin typeface="Arial"/>
                <a:ea typeface="Yu Gothic"/>
                <a:cs typeface="Yu Gothic"/>
              </a:rPr>
              <a:t>意味づけ</a:t>
            </a:r>
          </a:p>
        </p:txBody>
      </p:sp>
      <p:sp>
        <p:nvSpPr>
          <p:cNvPr id="7" name="TextBox 6"/>
          <p:cNvSpPr txBox="1"/>
          <p:nvPr/>
        </p:nvSpPr>
        <p:spPr>
          <a:xfrm>
            <a:off x="1591056" y="1261872"/>
            <a:ext cx="2761488" cy="237744"/>
          </a:xfrm>
          <a:prstGeom prst="rect">
            <a:avLst/>
          </a:prstGeom>
          <a:noFill/>
        </p:spPr>
        <p:txBody>
          <a:bodyPr wrap="square" anchor="t" lIns="0" rIns="0" tIns="0" bIns="0">
            <a:spAutoFit/>
          </a:bodyPr>
          <a:lstStyle/>
          <a:p>
            <a:pPr>
              <a:lnSpc>
                <a:spcPct val="102000"/>
              </a:lnSpc>
              <a:spcBef>
                <a:spcPts val="0"/>
              </a:spcBef>
              <a:spcAft>
                <a:spcPts val="0"/>
              </a:spcAft>
            </a:pPr>
            <a:r>
              <a:rPr sz="950" b="1">
                <a:solidFill>
                  <a:srgbClr val="11567F"/>
                </a:solidFill>
                <a:latin typeface="Arial"/>
                <a:ea typeface="Yu Gothic"/>
                <a:cs typeface="Yu Gothic"/>
              </a:rPr>
              <a:t>Semantic View</a:t>
            </a:r>
          </a:p>
        </p:txBody>
      </p:sp>
      <p:sp>
        <p:nvSpPr>
          <p:cNvPr id="8" name="TextBox 7"/>
          <p:cNvSpPr txBox="1"/>
          <p:nvPr/>
        </p:nvSpPr>
        <p:spPr>
          <a:xfrm>
            <a:off x="512064" y="1554480"/>
            <a:ext cx="3840480" cy="1207008"/>
          </a:xfrm>
          <a:prstGeom prst="rect">
            <a:avLst/>
          </a:prstGeom>
          <a:noFill/>
        </p:spPr>
        <p:txBody>
          <a:bodyPr wrap="square" anchor="t" lIns="0" rIns="0" tIns="0" bIns="0">
            <a:spAutoFit/>
          </a:bodyPr>
          <a:lstStyle/>
          <a:p>
            <a:pPr>
              <a:lnSpc>
                <a:spcPct val="105000"/>
              </a:lnSpc>
              <a:spcBef>
                <a:spcPts val="0"/>
              </a:spcBef>
              <a:spcAft>
                <a:spcPts val="0"/>
              </a:spcAft>
            </a:pPr>
            <a:r>
              <a:rPr sz="850" b="1">
                <a:solidFill>
                  <a:srgbClr val="71D3DC"/>
                </a:solidFill>
                <a:latin typeface="Arial"/>
                <a:ea typeface="Yu Gothic"/>
                <a:cs typeface="Yu Gothic"/>
              </a:rPr>
              <a:t>役割：</a:t>
            </a:r>
            <a:r>
              <a:rPr sz="850" b="0">
                <a:solidFill>
                  <a:srgbClr val="262626"/>
                </a:solidFill>
                <a:latin typeface="Arial"/>
                <a:ea typeface="Yu Gothic"/>
                <a:cs typeface="Yu Gothic"/>
              </a:rPr>
              <a:t>業務用語と計算方法を定義する</a:t>
            </a:r>
          </a:p>
          <a:p>
            <a:pPr>
              <a:lnSpc>
                <a:spcPct val="105000"/>
              </a:lnSpc>
              <a:spcBef>
                <a:spcPts val="200"/>
              </a:spcBef>
              <a:spcAft>
                <a:spcPts val="0"/>
              </a:spcAft>
            </a:pPr>
            <a:r>
              <a:rPr sz="850" b="1">
                <a:solidFill>
                  <a:srgbClr val="71D3DC"/>
                </a:solidFill>
                <a:latin typeface="Arial"/>
                <a:ea typeface="Yu Gothic"/>
                <a:cs typeface="Yu Gothic"/>
              </a:rPr>
              <a:t>本日の例：</a:t>
            </a:r>
            <a:r>
              <a:rPr sz="850" b="0">
                <a:solidFill>
                  <a:srgbClr val="262626"/>
                </a:solidFill>
                <a:latin typeface="Arial"/>
                <a:ea typeface="Yu Gothic"/>
                <a:cs typeface="Yu Gothic"/>
              </a:rPr>
              <a:t>達成率・粗利率・需要充足率</a:t>
            </a:r>
          </a:p>
          <a:p>
            <a:pPr>
              <a:lnSpc>
                <a:spcPct val="108000"/>
              </a:lnSpc>
              <a:spcBef>
                <a:spcPts val="500"/>
              </a:spcBef>
              <a:spcAft>
                <a:spcPts val="0"/>
              </a:spcAft>
            </a:pPr>
            <a:r>
              <a:rPr sz="800" b="0">
                <a:solidFill>
                  <a:srgbClr val="5B5B5B"/>
                </a:solidFill>
                <a:latin typeface="Arial"/>
                <a:ea typeface="Yu Gothic"/>
                <a:cs typeface="Yu Gothic"/>
              </a:rPr>
              <a:t>誰が質問しても同じ数値が返る状態をつくります</a:t>
            </a:r>
          </a:p>
        </p:txBody>
      </p:sp>
      <p:sp>
        <p:nvSpPr>
          <p:cNvPr id="9" name="Rounded Rectangle 8"/>
          <p:cNvSpPr/>
          <p:nvPr/>
        </p:nvSpPr>
        <p:spPr>
          <a:xfrm>
            <a:off x="4617720" y="1170432"/>
            <a:ext cx="4114800" cy="1655063"/>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0" name="Rectangle 9"/>
          <p:cNvSpPr/>
          <p:nvPr/>
        </p:nvSpPr>
        <p:spPr>
          <a:xfrm>
            <a:off x="4617720" y="1170432"/>
            <a:ext cx="54864" cy="1655063"/>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ounded Rectangle 10"/>
          <p:cNvSpPr/>
          <p:nvPr/>
        </p:nvSpPr>
        <p:spPr>
          <a:xfrm>
            <a:off x="4764024" y="1271016"/>
            <a:ext cx="1005840" cy="182880"/>
          </a:xfrm>
          <a:prstGeom prst="roundRect">
            <a:avLst>
              <a:gd name="adj" fmla="val 50000"/>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00" b="1">
                <a:solidFill>
                  <a:srgbClr val="FFFFFF"/>
                </a:solidFill>
                <a:latin typeface="Arial"/>
                <a:ea typeface="Yu Gothic"/>
                <a:cs typeface="Yu Gothic"/>
              </a:rPr>
              <a:t>文書検索</a:t>
            </a:r>
          </a:p>
        </p:txBody>
      </p:sp>
      <p:sp>
        <p:nvSpPr>
          <p:cNvPr id="12" name="TextBox 11"/>
          <p:cNvSpPr txBox="1"/>
          <p:nvPr/>
        </p:nvSpPr>
        <p:spPr>
          <a:xfrm>
            <a:off x="5843016" y="1261872"/>
            <a:ext cx="2761488" cy="237744"/>
          </a:xfrm>
          <a:prstGeom prst="rect">
            <a:avLst/>
          </a:prstGeom>
          <a:noFill/>
        </p:spPr>
        <p:txBody>
          <a:bodyPr wrap="square" anchor="t" lIns="0" rIns="0" tIns="0" bIns="0">
            <a:spAutoFit/>
          </a:bodyPr>
          <a:lstStyle/>
          <a:p>
            <a:pPr>
              <a:lnSpc>
                <a:spcPct val="102000"/>
              </a:lnSpc>
              <a:spcBef>
                <a:spcPts val="0"/>
              </a:spcBef>
              <a:spcAft>
                <a:spcPts val="0"/>
              </a:spcAft>
            </a:pPr>
            <a:r>
              <a:rPr sz="950" b="1">
                <a:solidFill>
                  <a:srgbClr val="11567F"/>
                </a:solidFill>
                <a:latin typeface="Arial"/>
                <a:ea typeface="Yu Gothic"/>
                <a:cs typeface="Yu Gothic"/>
              </a:rPr>
              <a:t>Cortex Search Service</a:t>
            </a:r>
          </a:p>
        </p:txBody>
      </p:sp>
      <p:sp>
        <p:nvSpPr>
          <p:cNvPr id="13" name="TextBox 12"/>
          <p:cNvSpPr txBox="1"/>
          <p:nvPr/>
        </p:nvSpPr>
        <p:spPr>
          <a:xfrm>
            <a:off x="4764024" y="1554480"/>
            <a:ext cx="3840480" cy="1207008"/>
          </a:xfrm>
          <a:prstGeom prst="rect">
            <a:avLst/>
          </a:prstGeom>
          <a:noFill/>
        </p:spPr>
        <p:txBody>
          <a:bodyPr wrap="square" anchor="t" lIns="0" rIns="0" tIns="0" bIns="0">
            <a:spAutoFit/>
          </a:bodyPr>
          <a:lstStyle/>
          <a:p>
            <a:pPr>
              <a:lnSpc>
                <a:spcPct val="105000"/>
              </a:lnSpc>
              <a:spcBef>
                <a:spcPts val="0"/>
              </a:spcBef>
              <a:spcAft>
                <a:spcPts val="0"/>
              </a:spcAft>
            </a:pPr>
            <a:r>
              <a:rPr sz="850" b="1">
                <a:solidFill>
                  <a:srgbClr val="29B5E8"/>
                </a:solidFill>
                <a:latin typeface="Arial"/>
                <a:ea typeface="Yu Gothic"/>
                <a:cs typeface="Yu Gothic"/>
              </a:rPr>
              <a:t>役割：</a:t>
            </a:r>
            <a:r>
              <a:rPr sz="850" b="0">
                <a:solidFill>
                  <a:srgbClr val="262626"/>
                </a:solidFill>
                <a:latin typeface="Arial"/>
                <a:ea typeface="Yu Gothic"/>
                <a:cs typeface="Yu Gothic"/>
              </a:rPr>
              <a:t>文書を検索できるようにする</a:t>
            </a:r>
          </a:p>
          <a:p>
            <a:pPr>
              <a:lnSpc>
                <a:spcPct val="105000"/>
              </a:lnSpc>
              <a:spcBef>
                <a:spcPts val="200"/>
              </a:spcBef>
              <a:spcAft>
                <a:spcPts val="0"/>
              </a:spcAft>
            </a:pPr>
            <a:r>
              <a:rPr sz="850" b="1">
                <a:solidFill>
                  <a:srgbClr val="29B5E8"/>
                </a:solidFill>
                <a:latin typeface="Arial"/>
                <a:ea typeface="Yu Gothic"/>
                <a:cs typeface="Yu Gothic"/>
              </a:rPr>
              <a:t>本日の例：</a:t>
            </a:r>
            <a:r>
              <a:rPr sz="850" b="0">
                <a:solidFill>
                  <a:srgbClr val="262626"/>
                </a:solidFill>
                <a:latin typeface="Arial"/>
                <a:ea typeface="Yu Gothic"/>
                <a:cs typeface="Yu Gothic"/>
              </a:rPr>
              <a:t>月次報告・顧客レビュー・社内文書</a:t>
            </a:r>
          </a:p>
          <a:p>
            <a:pPr>
              <a:lnSpc>
                <a:spcPct val="108000"/>
              </a:lnSpc>
              <a:spcBef>
                <a:spcPts val="500"/>
              </a:spcBef>
              <a:spcAft>
                <a:spcPts val="0"/>
              </a:spcAft>
            </a:pPr>
            <a:r>
              <a:rPr sz="800" b="0">
                <a:solidFill>
                  <a:srgbClr val="5B5B5B"/>
                </a:solidFill>
                <a:latin typeface="Arial"/>
                <a:ea typeface="Yu Gothic"/>
                <a:cs typeface="Yu Gothic"/>
              </a:rPr>
              <a:t>PDFや自由記述テキストが根拠として使えるようになります</a:t>
            </a:r>
          </a:p>
        </p:txBody>
      </p:sp>
      <p:sp>
        <p:nvSpPr>
          <p:cNvPr id="14" name="Rounded Rectangle 13"/>
          <p:cNvSpPr/>
          <p:nvPr/>
        </p:nvSpPr>
        <p:spPr>
          <a:xfrm>
            <a:off x="365760" y="2962656"/>
            <a:ext cx="4114800" cy="1655063"/>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5" name="Rectangle 14"/>
          <p:cNvSpPr/>
          <p:nvPr/>
        </p:nvSpPr>
        <p:spPr>
          <a:xfrm>
            <a:off x="365760" y="2962656"/>
            <a:ext cx="54864" cy="1655063"/>
          </a:xfrm>
          <a:prstGeom prst="rect">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Rounded Rectangle 15"/>
          <p:cNvSpPr/>
          <p:nvPr/>
        </p:nvSpPr>
        <p:spPr>
          <a:xfrm>
            <a:off x="512064" y="3063239"/>
            <a:ext cx="1005840" cy="182880"/>
          </a:xfrm>
          <a:prstGeom prst="roundRect">
            <a:avLst>
              <a:gd name="adj" fmla="val 50000"/>
            </a:avLst>
          </a:prstGeom>
          <a:solidFill>
            <a:srgbClr val="7D4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00" b="1">
                <a:solidFill>
                  <a:srgbClr val="FFFFFF"/>
                </a:solidFill>
                <a:latin typeface="Arial"/>
                <a:ea typeface="Yu Gothic"/>
                <a:cs typeface="Yu Gothic"/>
              </a:rPr>
              <a:t>判断</a:t>
            </a:r>
          </a:p>
        </p:txBody>
      </p:sp>
      <p:sp>
        <p:nvSpPr>
          <p:cNvPr id="17" name="TextBox 16"/>
          <p:cNvSpPr txBox="1"/>
          <p:nvPr/>
        </p:nvSpPr>
        <p:spPr>
          <a:xfrm>
            <a:off x="1591056" y="3054096"/>
            <a:ext cx="2761488" cy="237744"/>
          </a:xfrm>
          <a:prstGeom prst="rect">
            <a:avLst/>
          </a:prstGeom>
          <a:noFill/>
        </p:spPr>
        <p:txBody>
          <a:bodyPr wrap="square" anchor="t" lIns="0" rIns="0" tIns="0" bIns="0">
            <a:spAutoFit/>
          </a:bodyPr>
          <a:lstStyle/>
          <a:p>
            <a:pPr>
              <a:lnSpc>
                <a:spcPct val="102000"/>
              </a:lnSpc>
              <a:spcBef>
                <a:spcPts val="0"/>
              </a:spcBef>
              <a:spcAft>
                <a:spcPts val="0"/>
              </a:spcAft>
            </a:pPr>
            <a:r>
              <a:rPr sz="950" b="1">
                <a:solidFill>
                  <a:srgbClr val="11567F"/>
                </a:solidFill>
                <a:latin typeface="Arial"/>
                <a:ea typeface="Yu Gothic"/>
                <a:cs typeface="Yu Gothic"/>
              </a:rPr>
              <a:t>Cortex Agent</a:t>
            </a:r>
          </a:p>
        </p:txBody>
      </p:sp>
      <p:sp>
        <p:nvSpPr>
          <p:cNvPr id="18" name="TextBox 17"/>
          <p:cNvSpPr txBox="1"/>
          <p:nvPr/>
        </p:nvSpPr>
        <p:spPr>
          <a:xfrm>
            <a:off x="512064" y="3346703"/>
            <a:ext cx="3840480" cy="1207007"/>
          </a:xfrm>
          <a:prstGeom prst="rect">
            <a:avLst/>
          </a:prstGeom>
          <a:noFill/>
        </p:spPr>
        <p:txBody>
          <a:bodyPr wrap="square" anchor="t" lIns="0" rIns="0" tIns="0" bIns="0">
            <a:spAutoFit/>
          </a:bodyPr>
          <a:lstStyle/>
          <a:p>
            <a:pPr>
              <a:lnSpc>
                <a:spcPct val="105000"/>
              </a:lnSpc>
              <a:spcBef>
                <a:spcPts val="0"/>
              </a:spcBef>
              <a:spcAft>
                <a:spcPts val="0"/>
              </a:spcAft>
            </a:pPr>
            <a:r>
              <a:rPr sz="850" b="1">
                <a:solidFill>
                  <a:srgbClr val="7D44CF"/>
                </a:solidFill>
                <a:latin typeface="Arial"/>
                <a:ea typeface="Yu Gothic"/>
                <a:cs typeface="Yu Gothic"/>
              </a:rPr>
              <a:t>役割：</a:t>
            </a:r>
            <a:r>
              <a:rPr sz="850" b="0">
                <a:solidFill>
                  <a:srgbClr val="262626"/>
                </a:solidFill>
                <a:latin typeface="Arial"/>
                <a:ea typeface="Yu Gothic"/>
                <a:cs typeface="Yu Gothic"/>
              </a:rPr>
              <a:t>状況に応じてツールを使い分ける</a:t>
            </a:r>
          </a:p>
          <a:p>
            <a:pPr>
              <a:lnSpc>
                <a:spcPct val="105000"/>
              </a:lnSpc>
              <a:spcBef>
                <a:spcPts val="200"/>
              </a:spcBef>
              <a:spcAft>
                <a:spcPts val="0"/>
              </a:spcAft>
            </a:pPr>
            <a:r>
              <a:rPr sz="850" b="1">
                <a:solidFill>
                  <a:srgbClr val="7D44CF"/>
                </a:solidFill>
                <a:latin typeface="Arial"/>
                <a:ea typeface="Yu Gothic"/>
                <a:cs typeface="Yu Gothic"/>
              </a:rPr>
              <a:t>本日の例：</a:t>
            </a:r>
            <a:r>
              <a:rPr sz="850" b="0">
                <a:solidFill>
                  <a:srgbClr val="262626"/>
                </a:solidFill>
                <a:latin typeface="Arial"/>
                <a:ea typeface="Yu Gothic"/>
                <a:cs typeface="Yu Gothic"/>
              </a:rPr>
              <a:t>3種類のAgentを用途別に用意</a:t>
            </a:r>
          </a:p>
          <a:p>
            <a:pPr>
              <a:lnSpc>
                <a:spcPct val="108000"/>
              </a:lnSpc>
              <a:spcBef>
                <a:spcPts val="500"/>
              </a:spcBef>
              <a:spcAft>
                <a:spcPts val="0"/>
              </a:spcAft>
            </a:pPr>
            <a:r>
              <a:rPr sz="800" b="0">
                <a:solidFill>
                  <a:srgbClr val="5B5B5B"/>
                </a:solidFill>
                <a:latin typeface="Arial"/>
                <a:ea typeface="Yu Gothic"/>
                <a:cs typeface="Yu Gothic"/>
              </a:rPr>
              <a:t>利用者はツールを選ぶ必要がありません</a:t>
            </a:r>
          </a:p>
        </p:txBody>
      </p:sp>
      <p:sp>
        <p:nvSpPr>
          <p:cNvPr id="19" name="Rounded Rectangle 18"/>
          <p:cNvSpPr/>
          <p:nvPr/>
        </p:nvSpPr>
        <p:spPr>
          <a:xfrm>
            <a:off x="4617720" y="2962656"/>
            <a:ext cx="4114800" cy="1655063"/>
          </a:xfrm>
          <a:prstGeom prst="roundRect">
            <a:avLst>
              <a:gd name="adj" fmla="val 6000"/>
            </a:avLst>
          </a:prstGeom>
          <a:solidFill>
            <a:srgbClr val="F2F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Rectangle 19"/>
          <p:cNvSpPr/>
          <p:nvPr/>
        </p:nvSpPr>
        <p:spPr>
          <a:xfrm>
            <a:off x="4617720" y="2962656"/>
            <a:ext cx="54864" cy="1655063"/>
          </a:xfrm>
          <a:prstGeom prst="rect">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Rounded Rectangle 20"/>
          <p:cNvSpPr/>
          <p:nvPr/>
        </p:nvSpPr>
        <p:spPr>
          <a:xfrm>
            <a:off x="4764024" y="3063239"/>
            <a:ext cx="1005840" cy="182880"/>
          </a:xfrm>
          <a:prstGeom prst="roundRect">
            <a:avLst>
              <a:gd name="adj" fmla="val 50000"/>
            </a:avLst>
          </a:prstGeom>
          <a:solidFill>
            <a:srgbClr val="FF9F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700" b="1">
                <a:solidFill>
                  <a:srgbClr val="FFFFFF"/>
                </a:solidFill>
                <a:latin typeface="Arial"/>
                <a:ea typeface="Yu Gothic"/>
                <a:cs typeface="Yu Gothic"/>
              </a:rPr>
              <a:t>その場で</a:t>
            </a:r>
          </a:p>
        </p:txBody>
      </p:sp>
      <p:sp>
        <p:nvSpPr>
          <p:cNvPr id="22" name="TextBox 21"/>
          <p:cNvSpPr txBox="1"/>
          <p:nvPr/>
        </p:nvSpPr>
        <p:spPr>
          <a:xfrm>
            <a:off x="5843016" y="3054096"/>
            <a:ext cx="2761488" cy="237744"/>
          </a:xfrm>
          <a:prstGeom prst="rect">
            <a:avLst/>
          </a:prstGeom>
          <a:noFill/>
        </p:spPr>
        <p:txBody>
          <a:bodyPr wrap="square" anchor="t" lIns="0" rIns="0" tIns="0" bIns="0">
            <a:spAutoFit/>
          </a:bodyPr>
          <a:lstStyle/>
          <a:p>
            <a:pPr>
              <a:lnSpc>
                <a:spcPct val="102000"/>
              </a:lnSpc>
              <a:spcBef>
                <a:spcPts val="0"/>
              </a:spcBef>
              <a:spcAft>
                <a:spcPts val="0"/>
              </a:spcAft>
            </a:pPr>
            <a:r>
              <a:rPr sz="950" b="1">
                <a:solidFill>
                  <a:srgbClr val="11567F"/>
                </a:solidFill>
                <a:latin typeface="Arial"/>
                <a:ea typeface="Yu Gothic"/>
                <a:cs typeface="Yu Gothic"/>
              </a:rPr>
              <a:t>手元のファイルは添付する</a:t>
            </a:r>
          </a:p>
        </p:txBody>
      </p:sp>
      <p:sp>
        <p:nvSpPr>
          <p:cNvPr id="23" name="TextBox 22"/>
          <p:cNvSpPr txBox="1"/>
          <p:nvPr/>
        </p:nvSpPr>
        <p:spPr>
          <a:xfrm>
            <a:off x="4764024" y="3346703"/>
            <a:ext cx="3840480" cy="1207007"/>
          </a:xfrm>
          <a:prstGeom prst="rect">
            <a:avLst/>
          </a:prstGeom>
          <a:noFill/>
        </p:spPr>
        <p:txBody>
          <a:bodyPr wrap="square" anchor="t" lIns="0" rIns="0" tIns="0" bIns="0">
            <a:spAutoFit/>
          </a:bodyPr>
          <a:lstStyle/>
          <a:p>
            <a:pPr>
              <a:lnSpc>
                <a:spcPct val="105000"/>
              </a:lnSpc>
              <a:spcBef>
                <a:spcPts val="0"/>
              </a:spcBef>
              <a:spcAft>
                <a:spcPts val="0"/>
              </a:spcAft>
            </a:pPr>
            <a:r>
              <a:rPr sz="850" b="1">
                <a:solidFill>
                  <a:srgbClr val="FF9F36"/>
                </a:solidFill>
                <a:latin typeface="Arial"/>
                <a:ea typeface="Yu Gothic"/>
                <a:cs typeface="Yu Gothic"/>
              </a:rPr>
              <a:t>役割：</a:t>
            </a:r>
            <a:r>
              <a:rPr sz="850" b="0">
                <a:solidFill>
                  <a:srgbClr val="262626"/>
                </a:solidFill>
                <a:latin typeface="Arial"/>
                <a:ea typeface="Yu Gothic"/>
                <a:cs typeface="Yu Gothic"/>
              </a:rPr>
              <a:t>社内データに無い情報を補う</a:t>
            </a:r>
          </a:p>
          <a:p>
            <a:pPr>
              <a:lnSpc>
                <a:spcPct val="105000"/>
              </a:lnSpc>
              <a:spcBef>
                <a:spcPts val="200"/>
              </a:spcBef>
              <a:spcAft>
                <a:spcPts val="0"/>
              </a:spcAft>
            </a:pPr>
            <a:r>
              <a:rPr sz="850" b="1">
                <a:solidFill>
                  <a:srgbClr val="FF9F36"/>
                </a:solidFill>
                <a:latin typeface="Arial"/>
                <a:ea typeface="Yu Gothic"/>
                <a:cs typeface="Yu Gothic"/>
              </a:rPr>
              <a:t>本日の例：</a:t>
            </a:r>
            <a:r>
              <a:rPr sz="850" b="0">
                <a:solidFill>
                  <a:srgbClr val="262626"/>
                </a:solidFill>
                <a:latin typeface="Arial"/>
                <a:ea typeface="Yu Gothic"/>
                <a:cs typeface="Yu Gothic"/>
              </a:rPr>
              <a:t>店舗速報Excel・競合IR・テンプレート</a:t>
            </a:r>
          </a:p>
          <a:p>
            <a:pPr>
              <a:lnSpc>
                <a:spcPct val="108000"/>
              </a:lnSpc>
              <a:spcBef>
                <a:spcPts val="500"/>
              </a:spcBef>
              <a:spcAft>
                <a:spcPts val="0"/>
              </a:spcAft>
            </a:pPr>
            <a:r>
              <a:rPr sz="800" b="0">
                <a:solidFill>
                  <a:srgbClr val="5B5B5B"/>
                </a:solidFill>
                <a:latin typeface="Arial"/>
                <a:ea typeface="Yu Gothic"/>
                <a:cs typeface="Yu Gothic"/>
              </a:rPr>
              <a:t>事前のデータ連携を待たずに始められます</a:t>
            </a:r>
          </a:p>
        </p:txBody>
      </p:sp>
      <p:sp>
        <p:nvSpPr>
          <p:cNvPr id="24" name="TextBox 23"/>
          <p:cNvSpPr txBox="1"/>
          <p:nvPr/>
        </p:nvSpPr>
        <p:spPr>
          <a:xfrm>
            <a:off x="365760" y="4700016"/>
            <a:ext cx="8412480" cy="201168"/>
          </a:xfrm>
          <a:prstGeom prst="rect">
            <a:avLst/>
          </a:prstGeom>
          <a:noFill/>
        </p:spPr>
        <p:txBody>
          <a:bodyPr wrap="square" anchor="t" lIns="0" rIns="0" tIns="0" bIns="0">
            <a:spAutoFit/>
          </a:bodyPr>
          <a:lstStyle/>
          <a:p>
            <a:pPr>
              <a:lnSpc>
                <a:spcPct val="102000"/>
              </a:lnSpc>
              <a:spcBef>
                <a:spcPts val="0"/>
              </a:spcBef>
              <a:spcAft>
                <a:spcPts val="0"/>
              </a:spcAft>
            </a:pPr>
            <a:r>
              <a:rPr sz="900" b="1">
                <a:solidFill>
                  <a:srgbClr val="11567F"/>
                </a:solidFill>
                <a:latin typeface="Arial"/>
                <a:ea typeface="Yu Gothic"/>
                <a:cs typeface="Yu Gothic"/>
              </a:rPr>
              <a:t>ご相談は担当営業、または Snowflake までお気軽にお声がけください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pPr>
              <a:lnSpc>
                <a:spcPct val="95000"/>
              </a:lnSpc>
              <a:spcBef>
                <a:spcPts val="0"/>
              </a:spcBef>
              <a:spcAft>
                <a:spcPts val="0"/>
              </a:spcAft>
            </a:pPr>
            <a:r>
              <a:rPr sz="4000" b="1">
                <a:solidFill>
                  <a:srgbClr val="11567F"/>
                </a:solidFill>
                <a:latin typeface="Arial"/>
                <a:ea typeface="Yu Gothic"/>
                <a:cs typeface="Yu Gothic"/>
              </a:rPr>
              <a:t>THANK</a:t>
            </a:r>
          </a:p>
          <a:p>
            <a:pPr>
              <a:lnSpc>
                <a:spcPct val="95000"/>
              </a:lnSpc>
              <a:spcBef>
                <a:spcPts val="0"/>
              </a:spcBef>
              <a:spcAft>
                <a:spcPts val="0"/>
              </a:spcAft>
            </a:pPr>
            <a:r>
              <a:rPr sz="4000" b="1">
                <a:solidFill>
                  <a:srgbClr val="29B5E8"/>
                </a:solidFill>
                <a:latin typeface="Arial"/>
                <a:ea typeface="Yu Gothic"/>
                <a:cs typeface="Yu Gothic"/>
              </a:rPr>
              <a:t>YOU</a:t>
            </a:r>
          </a:p>
        </p:txBody>
      </p:sp>
    </p:spTree>
  </p:cSld>
  <p:clrMapOvr>
    <a:masterClrMapping/>
  </p:clrMapOvr>
</p:sld>
</file>

<file path=ppt/theme/theme1.xml><?xml version="1.0" encoding="utf-8"?>
<a:theme xmlns:a="http://schemas.openxmlformats.org/drawingml/2006/main" xmlns:r="http://schemas.openxmlformats.org/officeDocument/2006/relationships"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