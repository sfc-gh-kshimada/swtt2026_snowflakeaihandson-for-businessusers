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計画数量（千個）</c:v>
                </c:pt>
              </c:strCache>
            </c:strRef>
          </c:tx>
          <c:spPr>
            <a:solidFill>
              <a:srgbClr val="8FA8BC"/>
            </a:solidFill>
          </c:spPr>
          <c:cat>
            <c:strRef>
              <c:f>Sheet1!$A$2:$A$7</c:f>
              <c:strCache>
                <c:ptCount val="6"/>
                <c:pt idx="0">
                  <c:v>10月</c:v>
                </c:pt>
                <c:pt idx="1">
                  <c:v>11月</c:v>
                </c:pt>
                <c:pt idx="2">
                  <c:v>12月</c:v>
                </c:pt>
                <c:pt idx="3">
                  <c:v>1月</c:v>
                </c:pt>
                <c:pt idx="4">
                  <c:v>2月</c:v>
                </c:pt>
                <c:pt idx="5">
                  <c:v>3月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135</c:v>
                </c:pt>
                <c:pt idx="2">
                  <c:v>180</c:v>
                </c:pt>
                <c:pt idx="3">
                  <c:v>110</c:v>
                </c:pt>
                <c:pt idx="4">
                  <c:v>105</c:v>
                </c:pt>
                <c:pt idx="5">
                  <c:v>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入荷確保見込（千個）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Sheet1!$A$2:$A$7</c:f>
              <c:strCache>
                <c:ptCount val="6"/>
                <c:pt idx="0">
                  <c:v>10月</c:v>
                </c:pt>
                <c:pt idx="1">
                  <c:v>11月</c:v>
                </c:pt>
                <c:pt idx="2">
                  <c:v>12月</c:v>
                </c:pt>
                <c:pt idx="3">
                  <c:v>1月</c:v>
                </c:pt>
                <c:pt idx="4">
                  <c:v>2月</c:v>
                </c:pt>
                <c:pt idx="5">
                  <c:v>3月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88</c:v>
                </c:pt>
                <c:pt idx="1">
                  <c:v>84</c:v>
                </c:pt>
                <c:pt idx="2">
                  <c:v>96</c:v>
                </c:pt>
                <c:pt idx="3">
                  <c:v>70</c:v>
                </c:pt>
                <c:pt idx="4">
                  <c:v>66</c:v>
                </c:pt>
                <c:pt idx="5">
                  <c:v>74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6B778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9D4D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78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表紙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926080"/>
            <a:ext cx="9692640" cy="1417320"/>
          </a:xfrm>
        </p:spPr>
        <p:txBody>
          <a:bodyPr anchor="b" lIns="0" rIns="0" tIns="0" bIns="0">
            <a:normAutofit/>
          </a:bodyPr>
          <a:lstStyle>
            <a:lvl1pPr marL="0" indent="0" algn="l">
              <a:lnSpc>
                <a:spcPct val="105000"/>
              </a:lnSpc>
              <a:buNone/>
              <a:defRPr lang="ja-JP" sz="4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4480560"/>
            <a:ext cx="9692640" cy="914400"/>
          </a:xfrm>
        </p:spPr>
        <p:txBody>
          <a:bodyPr anchor="t" lIns="0" rIns="0" t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lang="ja-JP" sz="1600">
                <a:solidFill>
                  <a:srgbClr val="8FA8BC"/>
                </a:solidFill>
              </a:defRPr>
            </a:lvl1pPr>
            <a:lvl2pPr marL="0" indent="0" algn="l">
              <a:spcBef>
                <a:spcPts val="400"/>
              </a:spcBef>
              <a:buNone/>
              <a:defRPr lang="ja-JP" sz="1400">
                <a:solidFill>
                  <a:srgbClr val="8FA8BC"/>
                </a:solidFill>
              </a:defRPr>
            </a:lvl2pPr>
          </a:lstStyle>
          <a:p>
            <a:r>
              <a:rPr lang="en-US" smtClean="0"/>
              <a:t>サブタイトルを入力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onogram"/>
          <p:cNvSpPr txBox="1"/>
          <p:nvPr/>
        </p:nvSpPr>
        <p:spPr>
          <a:xfrm>
            <a:off x="7223760" y="-82296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00" b="0" lang="ja-JP">
                <a:solidFill>
                  <a:srgbClr val="FFFFFF">
                    <a:alpha val="5000"/>
                  </a:srgbClr>
                </a:solidFill>
                <a:latin typeface="Segoe UI Light"/>
                <a:ea typeface="Yu Gothic"/>
              </a:rPr>
              <a:t>C</a:t>
            </a:r>
          </a:p>
        </p:txBody>
      </p:sp>
      <p:sp>
        <p:nvSpPr>
          <p:cNvPr id="8" name="Kicker"/>
          <p:cNvSpPr txBox="1"/>
          <p:nvPr/>
        </p:nvSpPr>
        <p:spPr>
          <a:xfrm>
            <a:off x="658368" y="5669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lang="ja-JP" spc="400">
                <a:solidFill>
                  <a:srgbClr val="B08D57"/>
                </a:solidFill>
                <a:latin typeface="Segoe UI"/>
                <a:ea typeface="Yu Gothic"/>
              </a:rPr>
              <a:t>CRESTRIVERTA  CO., LTD.</a:t>
            </a:r>
          </a:p>
        </p:txBody>
      </p:sp>
      <p:sp>
        <p:nvSpPr>
          <p:cNvPr id="9" name="GoldMark"/>
          <p:cNvSpPr/>
          <p:nvPr/>
        </p:nvSpPr>
        <p:spPr>
          <a:xfrm>
            <a:off x="658368" y="2761488"/>
            <a:ext cx="658368" cy="457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oterRule"/>
          <p:cNvSpPr/>
          <p:nvPr/>
        </p:nvSpPr>
        <p:spPr>
          <a:xfrm>
            <a:off x="658368" y="6291072"/>
            <a:ext cx="10874959" cy="9509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sclaimer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lang="ja-JP">
                <a:solidFill>
                  <a:srgbClr val="8FA8BC"/>
                </a:solidFill>
                <a:latin typeface="Segoe UI"/>
                <a:ea typeface="Yu Gothic"/>
              </a:rPr>
              <a:t>本資料はハンズオン用に作成された架空の企業・架空のデータです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本文（タイトルと箇条書き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600200"/>
            <a:ext cx="10874959" cy="44805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本文を入力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区切り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2926080"/>
            <a:ext cx="9692640" cy="1188720"/>
          </a:xfrm>
        </p:spPr>
        <p:txBody>
          <a:bodyPr anchor="b" lIns="0" rIns="0" tIns="0" bIns="0">
            <a:normAutofit/>
          </a:bodyPr>
          <a:lstStyle>
            <a:lvl1pPr marL="0" indent="0" algn="l">
              <a:buNone/>
              <a:defRPr lang="ja-JP" sz="34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章タイトルを入力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4251960"/>
            <a:ext cx="9692640" cy="1280160"/>
          </a:xfrm>
        </p:spPr>
        <p:txBody>
          <a:bodyPr anchor="t" lIns="0" rIns="0" tIns="0" bIns="0">
            <a:normAutofit/>
          </a:bodyPr>
          <a:lstStyle>
            <a:lvl1pPr marL="0" indent="0" algn="l">
              <a:spcBef>
                <a:spcPts val="0"/>
              </a:spcBef>
              <a:lnSpc>
                <a:spcPct val="115000"/>
              </a:lnSpc>
              <a:buNone/>
              <a:defRPr lang="ja-JP" sz="1500">
                <a:solidFill>
                  <a:srgbClr val="8FA8BC"/>
                </a:solidFill>
              </a:defRPr>
            </a:lvl1pPr>
          </a:lstStyle>
          <a:p>
            <a:pPr lvl="0"/>
            <a:r>
              <a:rPr lang="en-US" smtClean="0"/>
              <a:t>章の要点を入力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onogram"/>
          <p:cNvSpPr txBox="1"/>
          <p:nvPr/>
        </p:nvSpPr>
        <p:spPr>
          <a:xfrm>
            <a:off x="7223760" y="-82296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00" b="0" lang="ja-JP">
                <a:solidFill>
                  <a:srgbClr val="FFFFFF">
                    <a:alpha val="5000"/>
                  </a:srgbClr>
                </a:solidFill>
                <a:latin typeface="Segoe UI Light"/>
                <a:ea typeface="Yu Gothic"/>
              </a:rPr>
              <a:t>C</a:t>
            </a:r>
          </a:p>
        </p:txBody>
      </p:sp>
      <p:sp>
        <p:nvSpPr>
          <p:cNvPr id="8" name="Kicker"/>
          <p:cNvSpPr txBox="1"/>
          <p:nvPr/>
        </p:nvSpPr>
        <p:spPr>
          <a:xfrm>
            <a:off x="658368" y="5669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lang="ja-JP" spc="400">
                <a:solidFill>
                  <a:srgbClr val="B08D57"/>
                </a:solidFill>
                <a:latin typeface="Segoe UI"/>
                <a:ea typeface="Yu Gothic"/>
              </a:rPr>
              <a:t>SECTION</a:t>
            </a:r>
          </a:p>
        </p:txBody>
      </p:sp>
      <p:sp>
        <p:nvSpPr>
          <p:cNvPr id="9" name="GoldMark"/>
          <p:cNvSpPr/>
          <p:nvPr/>
        </p:nvSpPr>
        <p:spPr>
          <a:xfrm>
            <a:off x="658368" y="2761488"/>
            <a:ext cx="658368" cy="457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oterRule"/>
          <p:cNvSpPr/>
          <p:nvPr/>
        </p:nvSpPr>
        <p:spPr>
          <a:xfrm>
            <a:off x="658368" y="6291072"/>
            <a:ext cx="10874959" cy="9509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sclaimer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lang="ja-JP">
                <a:solidFill>
                  <a:srgbClr val="8FA8BC"/>
                </a:solidFill>
                <a:latin typeface="Segoe UI"/>
                <a:ea typeface="Yu Gothic"/>
              </a:rPr>
              <a:t>本資料はハンズオン用に作成された架空の企業・架空のデータです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368" y="1600200"/>
            <a:ext cx="5231739" cy="44805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左カラムを入力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1587" y="1600200"/>
            <a:ext cx="5231739" cy="44805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右カラムを入力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1600200"/>
            <a:ext cx="5231739" cy="512064"/>
          </a:xfrm>
          <a:solidFill>
            <a:srgbClr val="EEF2F6"/>
          </a:solidFill>
        </p:spPr>
        <p:txBody>
          <a:bodyPr anchor="ctr" lIns="146304" rIns="146304" t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lang="ja-JP" sz="1500" b="1">
                <a:solidFill>
                  <a:srgbClr val="1B3A5C"/>
                </a:solidFill>
              </a:defRPr>
            </a:lvl1pPr>
          </a:lstStyle>
          <a:p>
            <a:pPr lvl="0"/>
            <a:r>
              <a:rPr lang="en-US" smtClean="0"/>
              <a:t>見出しを入力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" y="2286000"/>
            <a:ext cx="5231739" cy="37947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内容を入力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587" y="1600200"/>
            <a:ext cx="5231739" cy="512064"/>
          </a:xfrm>
          <a:solidFill>
            <a:srgbClr val="EEF2F6"/>
          </a:solidFill>
        </p:spPr>
        <p:txBody>
          <a:bodyPr anchor="ctr" lIns="146304" rIns="146304" t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lang="ja-JP" sz="1500" b="1">
                <a:solidFill>
                  <a:srgbClr val="1B3A5C"/>
                </a:solidFill>
              </a:defRPr>
            </a:lvl1pPr>
          </a:lstStyle>
          <a:p>
            <a:pPr lvl="0"/>
            <a:r>
              <a:rPr lang="en-US" smtClean="0"/>
              <a:t>見出しを入力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1587" y="2286000"/>
            <a:ext cx="5231739" cy="37947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内容を入力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（自由配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図表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3657600" cy="1417320"/>
          </a:xfrm>
        </p:spPr>
        <p:txBody>
          <a:bodyPr anchor="b" lIns="0" rIns="0" tIns="0" bIns="0">
            <a:normAutofit/>
          </a:bodyPr>
          <a:lstStyle>
            <a:lvl1pPr marL="0" indent="0" algn="l">
              <a:buNone/>
              <a:defRPr lang="ja-JP" sz="2400" b="1">
                <a:solidFill>
                  <a:srgbClr val="1B3A5C"/>
                </a:solidFill>
              </a:defRPr>
            </a:lvl1pPr>
          </a:lstStyle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3168" y="457200"/>
            <a:ext cx="6760159" cy="56235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図表を挿入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057400"/>
            <a:ext cx="3657600" cy="4023360"/>
          </a:xfrm>
        </p:spPr>
        <p:txBody>
          <a:bodyPr anchor="t" lIns="0" rIns="0" tIns="0" bIns="0">
            <a:normAutofit/>
          </a:bodyPr>
          <a:lstStyle>
            <a:lvl1pPr marL="0" indent="0" algn="l">
              <a:spcBef>
                <a:spcPts val="600"/>
              </a:spcBef>
              <a:lnSpc>
                <a:spcPct val="118000"/>
              </a:lnSpc>
              <a:buNone/>
              <a:defRPr lang="ja-JP" sz="1300">
                <a:solidFill>
                  <a:srgbClr val="1A1A1A"/>
                </a:solidFill>
              </a:defRPr>
            </a:lvl1pPr>
            <a:lvl2pPr marL="0" indent="0" algn="l">
              <a:spcBef>
                <a:spcPts val="400"/>
              </a:spcBef>
              <a:buNone/>
              <a:defRPr lang="ja-JP" sz="1200">
                <a:solidFill>
                  <a:srgbClr val="6B7783"/>
                </a:solidFill>
              </a:defRPr>
            </a:lvl2pPr>
          </a:lstStyle>
          <a:p>
            <a:pPr lvl="0"/>
            <a:r>
              <a:rPr lang="en-US" smtClean="0"/>
              <a:t>図表の説明を入力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2128" y="457200"/>
            <a:ext cx="3651199" cy="1417320"/>
          </a:xfrm>
        </p:spPr>
        <p:txBody>
          <a:bodyPr anchor="b" lIns="0" rIns="0" tIns="0" bIns="0">
            <a:normAutofit/>
          </a:bodyPr>
          <a:lstStyle>
            <a:lvl1pPr marL="0" indent="0" algn="l">
              <a:buNone/>
              <a:defRPr lang="ja-JP" sz="2400" b="1">
                <a:solidFill>
                  <a:srgbClr val="1B3A5C"/>
                </a:solidFill>
              </a:defRPr>
            </a:lvl1pPr>
          </a:lstStyle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58368" y="457200"/>
            <a:ext cx="6766560" cy="56235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画像を挿入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82128" y="2057400"/>
            <a:ext cx="3651199" cy="4023360"/>
          </a:xfrm>
        </p:spPr>
        <p:txBody>
          <a:bodyPr anchor="t" lIns="0" rIns="0" tIns="0" bIns="0">
            <a:normAutofit/>
          </a:bodyPr>
          <a:lstStyle>
            <a:lvl1pPr marL="0" indent="0" algn="l">
              <a:spcBef>
                <a:spcPts val="600"/>
              </a:spcBef>
              <a:lnSpc>
                <a:spcPct val="118000"/>
              </a:lnSpc>
              <a:buNone/>
              <a:defRPr lang="ja-JP" sz="1300">
                <a:solidFill>
                  <a:srgbClr val="1A1A1A"/>
                </a:solidFill>
              </a:defRPr>
            </a:lvl1pPr>
            <a:lvl2pPr marL="0" indent="0" algn="l">
              <a:spcBef>
                <a:spcPts val="400"/>
              </a:spcBef>
              <a:buNone/>
              <a:defRPr lang="ja-JP" sz="1200">
                <a:solidFill>
                  <a:srgbClr val="6B7783"/>
                </a:solidFill>
              </a:defRPr>
            </a:lvl2pPr>
          </a:lstStyle>
          <a:p>
            <a:pPr lvl="0"/>
            <a:r>
              <a:rPr lang="en-US" smtClean="0"/>
              <a:t>画像の説明を入力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縦書き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8368" y="1600200"/>
            <a:ext cx="10874959" cy="4480560"/>
          </a:xfrm>
        </p:spPr>
        <p:txBody>
          <a:bodyPr anchor="t" vert="eaVert" lIns="0" rIns="0" tIns="36576" bIns="36576">
            <a:normAutofit/>
          </a:bodyPr>
          <a:lstStyle/>
          <a:p>
            <a:pPr lvl="0"/>
            <a:r>
              <a:rPr lang="en-US" smtClean="0"/>
              <a:t>本文を入力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44607" y="457200"/>
            <a:ext cx="1188720" cy="5623560"/>
          </a:xfrm>
        </p:spPr>
        <p:txBody>
          <a:bodyPr anchor="t" vert="eaVert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8368" y="457200"/>
            <a:ext cx="9320479" cy="5623560"/>
          </a:xfrm>
        </p:spPr>
        <p:txBody>
          <a:bodyPr anchor="t" vert="eaVert" lIns="0" rIns="0" tIns="36576" bIns="36576">
            <a:normAutofit/>
          </a:bodyPr>
          <a:lstStyle/>
          <a:p>
            <a:pPr lvl="0"/>
            <a:r>
              <a:rPr lang="en-US" smtClean="0"/>
              <a:t>本文を入力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  <a:prstGeom prst="rect">
            <a:avLst/>
          </a:prstGeom>
        </p:spPr>
        <p:txBody>
          <a:bodyPr rtlCol="0"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1600200"/>
            <a:ext cx="10874959" cy="4480560"/>
          </a:xfrm>
          <a:prstGeom prst="rect">
            <a:avLst/>
          </a:prstGeom>
        </p:spPr>
        <p:txBody>
          <a:bodyPr rtlCol="0" anchor="t" lIns="0" rIns="0" tIns="36576" bIns="36576">
            <a:normAutofit/>
          </a:bodyPr>
          <a:lstStyle/>
          <a:p>
            <a:pPr lvl="0"/>
            <a:r>
              <a:rPr lang="en-US" smtClean="0"/>
              <a:t>本文を入力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8368" y="6327648"/>
            <a:ext cx="2743200" cy="292608"/>
          </a:xfrm>
          <a:prstGeom prst="rect">
            <a:avLst/>
          </a:prstGeom>
        </p:spPr>
        <p:txBody>
          <a:bodyPr rtlCol="0" anchor="ctr" lIns="0" rIns="0">
            <a:normAutofit/>
          </a:bodyPr>
          <a:lstStyle>
            <a:lvl1pPr marL="0" indent="0" algn="l">
              <a:buNone/>
              <a:defRPr lang="ja-JP" sz="900">
                <a:solidFill>
                  <a:srgbClr val="6B7783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4448" y="6327648"/>
            <a:ext cx="5022799" cy="292608"/>
          </a:xfrm>
          <a:prstGeom prst="rect">
            <a:avLst/>
          </a:prstGeom>
        </p:spPr>
        <p:txBody>
          <a:bodyPr rtlCol="0" anchor="ctr" lIns="0" rIns="0">
            <a:normAutofit/>
          </a:bodyPr>
          <a:lstStyle>
            <a:lvl1pPr marL="0" indent="0" algn="ctr">
              <a:buNone/>
              <a:defRPr lang="ja-JP" sz="900">
                <a:solidFill>
                  <a:srgbClr val="6B778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0127" y="6327648"/>
            <a:ext cx="2743200" cy="292608"/>
          </a:xfrm>
          <a:prstGeom prst="rect">
            <a:avLst/>
          </a:prstGeom>
        </p:spPr>
        <p:txBody>
          <a:bodyPr rtlCol="0" anchor="ctr" lIns="0" rIns="0">
            <a:normAutofit/>
          </a:bodyPr>
          <a:lstStyle>
            <a:lvl1pPr marL="0" indent="0" algn="r">
              <a:buNone/>
              <a:defRPr lang="ja-JP" sz="900">
                <a:solidFill>
                  <a:srgbClr val="6B7783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rand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Rule"/>
          <p:cNvSpPr/>
          <p:nvPr/>
        </p:nvSpPr>
        <p:spPr>
          <a:xfrm>
            <a:off x="658368" y="6291072"/>
            <a:ext cx="10874959" cy="9509"/>
          </a:xfrm>
          <a:prstGeom prst="rect">
            <a:avLst/>
          </a:prstGeom>
          <a:solidFill>
            <a:srgbClr val="C9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sclaimer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lang="ja-JP">
                <a:solidFill>
                  <a:srgbClr val="6B7783"/>
                </a:solidFill>
                <a:latin typeface="Segoe UI"/>
                <a:ea typeface="Yu Gothic"/>
              </a:rPr>
              <a:t>本資料はハンズオン用に作成された架空の企業・架空のデータです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spcBef>
          <a:spcPts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9456" indent="-219456" algn="l">
        <a:lnSpc>
          <a:spcPct val="108000"/>
        </a:lnSpc>
        <a:spcBef>
          <a:spcPts val="600"/>
        </a:spcBef>
        <a:buClr>
          <a:srgbClr val="B08D57"/>
        </a:buClr>
        <a:buSzPct val="55000"/>
        <a:buFont typeface="Segoe UI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01168" algn="l">
        <a:lnSpc>
          <a:spcPct val="108000"/>
        </a:lnSpc>
        <a:spcBef>
          <a:spcPts val="300"/>
        </a:spcBef>
        <a:buClr>
          <a:srgbClr val="6B7783"/>
        </a:buClr>
        <a:buSzPct val="100000"/>
        <a:buFont typeface="Segoe UI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>
        <a:lnSpc>
          <a:spcPct val="108000"/>
        </a:lnSpc>
        <a:spcBef>
          <a:spcPts val="300"/>
        </a:spcBef>
        <a:buClr>
          <a:srgbClr val="8FA8BC"/>
        </a:buClr>
        <a:buSzPct val="80000"/>
        <a:buFont typeface="Segoe UI"/>
        <a:buChar char="▪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87552" indent="-182880" algn="l">
        <a:lnSpc>
          <a:spcPct val="108000"/>
        </a:lnSpc>
        <a:spcBef>
          <a:spcPts val="300"/>
        </a:spcBef>
        <a:buClr>
          <a:srgbClr val="6B7783"/>
        </a:buClr>
        <a:buSzPct val="100000"/>
        <a:buFont typeface="Segoe UI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43584" indent="-182880" algn="l">
        <a:lnSpc>
          <a:spcPct val="108000"/>
        </a:lnSpc>
        <a:spcBef>
          <a:spcPts val="300"/>
        </a:spcBef>
        <a:buClr>
          <a:srgbClr val="8FA8BC"/>
        </a:buClr>
        <a:buSzPct val="80000"/>
        <a:buFont typeface="Segoe UI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次期 事業計画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関東エリア　冷凍食品カテゴリー</a:t>
            </a:r>
          </a:p>
          <a:p>
            <a:r>
              <a:t>2026年9月　事業責任者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</a:rPr>
              <a:t>結論と要請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783"/>
                </a:solidFill>
              </a:rPr>
              <a:t>販促を止め、供給確保に投資する。売上を守るための値引きと急ぎ入荷が粗利を削っている。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148840"/>
            <a:ext cx="2478709" cy="2103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331720"/>
            <a:ext cx="2021509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C8102E"/>
                </a:solidFill>
              </a:rPr>
              <a:t>-6.8pt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520440"/>
            <a:ext cx="20215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783"/>
                </a:solidFill>
              </a:rPr>
              <a:t>粗利率　前年同期比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7117" y="2148840"/>
            <a:ext cx="2478709" cy="2103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717" y="2331720"/>
            <a:ext cx="2021509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C8102E"/>
                </a:solidFill>
              </a:rPr>
              <a:t>3.2倍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717" y="3520440"/>
            <a:ext cx="20215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783"/>
                </a:solidFill>
              </a:rPr>
              <a:t>緊急入荷コスト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2148840"/>
            <a:ext cx="2478709" cy="2103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4467" y="2331720"/>
            <a:ext cx="2021509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1B3A5C"/>
                </a:solidFill>
              </a:rPr>
              <a:t>+12%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4467" y="3520440"/>
            <a:ext cx="20215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783"/>
                </a:solidFill>
              </a:rPr>
              <a:t>カテゴリー市場成長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4617" y="2148840"/>
            <a:ext cx="2478709" cy="2103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3217" y="2331720"/>
            <a:ext cx="2021509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B08D57"/>
                </a:solidFill>
              </a:rPr>
              <a:t>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3217" y="3520440"/>
            <a:ext cx="20215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783"/>
                </a:solidFill>
              </a:rPr>
              <a:t>次期 入荷確保率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572000"/>
            <a:ext cx="10874959" cy="109728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709160"/>
            <a:ext cx="1032631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要請：次期の販促予算 1.2億円を、商品供給管理部の入荷確保（前払い契約・二次サプライヤー開拓）へ振り替える。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9893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783"/>
                </a:solidFill>
              </a:rPr>
              <a:t>クレストリヴェルタ株式会社　社内限定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4527" y="59893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783"/>
                </a:solidFill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エリア実態 — 報告と数字のギャップ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店長報告書はいずれも虚偽ではない。ただし不都合が書かれていない。</a:t>
            </a:r>
          </a:p>
          <a:p>
            <a:r>
              <a:t>報告書・顧客レビュー・売上データ・競合決算を突き合わせて確認した。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真因 — 4つの事象は1本の連鎖である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販促で需要が増えたが、供給が追いつかなかった</a:t>
            </a:r>
          </a:p>
          <a:p>
            <a:pPr lvl="1"/>
            <a:r>
              <a:t>主力SKUの欠品率が販促週に 18% まで上昇</a:t>
            </a:r>
          </a:p>
          <a:p>
            <a:pPr/>
            <a:r>
              <a:t>売上を守るために値引きと急ぎ入荷に頼った</a:t>
            </a:r>
          </a:p>
          <a:p>
            <a:pPr lvl="1"/>
            <a:r>
              <a:t>値引き原資 +0.9億円、緊急入荷の物流費 3.2倍</a:t>
            </a:r>
          </a:p>
          <a:p>
            <a:pPr/>
            <a:r>
              <a:t>品質クレームが増え、レビュー評価が低下した</a:t>
            </a:r>
          </a:p>
          <a:p>
            <a:pPr lvl="1"/>
            <a:r>
              <a:t>顧客レビューの「解凍後の品質」言及が前期比 2.4倍</a:t>
            </a:r>
          </a:p>
          <a:p>
            <a:pPr/>
            <a:r>
              <a:t>結果として粗利率が 6.8pt 悪化した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9893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783"/>
                </a:solidFill>
              </a:rPr>
              <a:t>クレストリヴェルタ株式会社　社内限定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4527" y="59893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783"/>
                </a:solidFill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反証 — 市場要因ではない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自社（クレストリヴェルタ）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カテゴリー売上 +3%、粗利率 -6.8pt</a:t>
            </a:r>
          </a:p>
          <a:p>
            <a:pPr/>
            <a:r>
              <a:t>販促回数 前期比 1.6倍</a:t>
            </a:r>
          </a:p>
          <a:p>
            <a:pPr/>
            <a:r>
              <a:t>欠品率 最大 18%</a:t>
            </a:r>
          </a:p>
          <a:p>
            <a:pPr/>
            <a:r>
              <a:t>レビュー評価 4.1 → 3.6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競合（アオゾラマート）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/>
            <a:r>
              <a:t>カテゴリー売上 +14%、粗利率 +2.1pt</a:t>
            </a:r>
          </a:p>
          <a:p>
            <a:pPr/>
            <a:r>
              <a:t>販促回数 前期比 0.7倍（絞り込み）</a:t>
            </a:r>
          </a:p>
          <a:p>
            <a:pPr/>
            <a:r>
              <a:t>定番SKUの供給契約を長期化</a:t>
            </a:r>
          </a:p>
          <a:p>
            <a:pPr/>
            <a:r>
              <a:t>レビュー評価 3.9 → 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893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783"/>
                </a:solidFill>
              </a:rPr>
              <a:t>クレストリヴェルタ株式会社　社内限定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04527" y="59893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783"/>
                </a:solidFill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緊急度 — 次期も供給は確保できていない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商品供給管理部の入荷確保見込は、次期計画数量の 62% にとどまる</a:t>
            </a:r>
          </a:p>
          <a:p>
            <a:pPr/>
            <a:r>
              <a:t>この数字は基幹システムに未取り込みで、販促計画側は 100% を前提にしている</a:t>
            </a:r>
          </a:p>
          <a:p>
            <a:pPr/>
            <a:r>
              <a:t>確保率が 80% を下回る月は、販促を実施すべきではない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73168" y="457200"/>
          <a:ext cx="6760159" cy="5623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9893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783"/>
                </a:solidFill>
              </a:rPr>
              <a:t>クレストリヴェルタ株式会社　社内限定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59893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783"/>
                </a:solidFill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施策と次アクション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供給：主力10SKUの前払い契約を10月中に締結</a:t>
            </a:r>
          </a:p>
          <a:p>
            <a:pPr/>
            <a:r>
              <a:t>価格：販促を停止し、定番価格に回帰</a:t>
            </a:r>
          </a:p>
          <a:p>
            <a:pPr/>
            <a:r>
              <a:t>品質：解凍後品質の検品基準を店舗に展開</a:t>
            </a:r>
          </a:p>
          <a:p>
            <a:pPr lvl="1"/>
            <a:r>
              <a:t>3点を同時に動かす。1点だけでは連鎖は止まらない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10月第1週：経営会議で予算振替を決議</a:t>
            </a:r>
          </a:p>
          <a:p>
            <a:pPr/>
            <a:r>
              <a:t>10月第2週：商品供給管理部と契約条件を合意</a:t>
            </a:r>
          </a:p>
          <a:p>
            <a:pPr/>
            <a:r>
              <a:t>11月：確保率 80% 到達を確認して販促再開を判断</a:t>
            </a:r>
          </a:p>
          <a:p>
            <a:pPr lvl="1"/>
            <a:r>
              <a:t>確保率は基幹システムへ週次で取り込む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9893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783"/>
                </a:solidFill>
              </a:rPr>
              <a:t>クレストリヴェルタ株式会社　社内限定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04527" y="59893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783"/>
                </a:solidFill>
              </a:rPr>
              <a:t>- 7 -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estRiverta">
      <a:dk1>
        <a:srgbClr val="1A1A1A"/>
      </a:dk1>
      <a:lt1>
        <a:srgbClr val="FFFFFF"/>
      </a:lt1>
      <a:dk2>
        <a:srgbClr val="1B3A5C"/>
      </a:dk2>
      <a:lt2>
        <a:srgbClr val="EEF2F6"/>
      </a:lt2>
      <a:accent1>
        <a:srgbClr val="1B3A5C"/>
      </a:accent1>
      <a:accent2>
        <a:srgbClr val="C8102E"/>
      </a:accent2>
      <a:accent3>
        <a:srgbClr val="B08D57"/>
      </a:accent3>
      <a:accent4>
        <a:srgbClr val="4A6B85"/>
      </a:accent4>
      <a:accent5>
        <a:srgbClr val="8FA8BC"/>
      </a:accent5>
      <a:accent6>
        <a:srgbClr val="6B7783"/>
      </a:accent6>
      <a:hlink>
        <a:srgbClr val="1B3A5C"/>
      </a:hlink>
      <a:folHlink>
        <a:srgbClr val="6B7783"/>
      </a:folHlink>
    </a:clrScheme>
    <a:fontScheme name="CrestRiverta">
      <a:majorFont>
        <a:latin typeface="Segoe UI"/>
        <a:ea typeface="Yu Gothic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Yu Gothic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estRivert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クレストリヴェルタ ブランドテンプレート</dc:title>
  <dc:subject/>
  <dc:creator>クレストリヴェルタ株式会社</dc:creator>
  <cp:keywords/>
  <dc:description>ハンズオン用の架空企業ブランドテンプレート（v2）。python-pptx で開いて add_slide する土台。</dc:description>
  <cp:lastModifiedBy>クレストリヴェルタ株式会社</cp:lastModifiedBy>
  <cp:revision>1</cp:revision>
  <dcterms:created xsi:type="dcterms:W3CDTF">2013-01-27T09:14:16Z</dcterms:created>
  <dcterms:modified xsi:type="dcterms:W3CDTF">2013-01-27T09:15:58Z</dcterms:modified>
  <cp:category/>
</cp:coreProperties>
</file>